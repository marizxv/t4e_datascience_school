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57" r:id="rId3"/>
    <p:sldId id="258" r:id="rId4"/>
    <p:sldId id="259" r:id="rId5"/>
    <p:sldId id="260" r:id="rId6"/>
    <p:sldId id="261" r:id="rId7"/>
    <p:sldId id="263" r:id="rId8"/>
    <p:sldId id="267" r:id="rId9"/>
    <p:sldId id="264" r:id="rId10"/>
    <p:sldId id="266" r:id="rId11"/>
    <p:sldId id="268"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C1D24CE-5E78-44F4-8BC7-1EE0A8BD8200}">
          <p14:sldIdLst>
            <p14:sldId id="256"/>
            <p14:sldId id="257"/>
          </p14:sldIdLst>
        </p14:section>
        <p14:section name="Untitled Section" id="{CEAB7E9B-C61E-4A42-9FC3-ABFDCCD4059E}">
          <p14:sldIdLst>
            <p14:sldId id="258"/>
            <p14:sldId id="259"/>
            <p14:sldId id="260"/>
            <p14:sldId id="261"/>
            <p14:sldId id="263"/>
            <p14:sldId id="267"/>
            <p14:sldId id="264"/>
            <p14:sldId id="266"/>
            <p14:sldId id="268"/>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71649" autoAdjust="0"/>
  </p:normalViewPr>
  <p:slideViewPr>
    <p:cSldViewPr snapToGrid="0">
      <p:cViewPr varScale="1">
        <p:scale>
          <a:sx n="63" d="100"/>
          <a:sy n="63" d="100"/>
        </p:scale>
        <p:origin x="1170"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bija Benetaitė" userId="3b68c208bba4dd08" providerId="LiveId" clId="{DBB18AE0-44E4-4E37-B269-9D3F8B91BF34}"/>
    <pc:docChg chg="custSel modSld">
      <pc:chgData name="Gabija Benetaitė" userId="3b68c208bba4dd08" providerId="LiveId" clId="{DBB18AE0-44E4-4E37-B269-9D3F8B91BF34}" dt="2026-10-08T06:55:23.534" v="6" actId="14100"/>
      <pc:docMkLst>
        <pc:docMk/>
      </pc:docMkLst>
      <pc:sldChg chg="addSp delSp modSp mod">
        <pc:chgData name="Gabija Benetaitė" userId="3b68c208bba4dd08" providerId="LiveId" clId="{DBB18AE0-44E4-4E37-B269-9D3F8B91BF34}" dt="2026-10-08T06:55:23.534" v="6" actId="14100"/>
        <pc:sldMkLst>
          <pc:docMk/>
          <pc:sldMk cId="1322300730" sldId="263"/>
        </pc:sldMkLst>
        <pc:spChg chg="del">
          <ac:chgData name="Gabija Benetaitė" userId="3b68c208bba4dd08" providerId="LiveId" clId="{DBB18AE0-44E4-4E37-B269-9D3F8B91BF34}" dt="2026-10-08T06:54:34.320" v="0" actId="22"/>
          <ac:spMkLst>
            <pc:docMk/>
            <pc:sldMk cId="1322300730" sldId="263"/>
            <ac:spMk id="4" creationId="{638C669D-EA0E-674A-CC81-ACFB58502E23}"/>
          </ac:spMkLst>
        </pc:spChg>
        <pc:spChg chg="del mod">
          <ac:chgData name="Gabija Benetaitė" userId="3b68c208bba4dd08" providerId="LiveId" clId="{DBB18AE0-44E4-4E37-B269-9D3F8B91BF34}" dt="2026-10-08T06:54:49.982" v="4"/>
          <ac:spMkLst>
            <pc:docMk/>
            <pc:sldMk cId="1322300730" sldId="263"/>
            <ac:spMk id="8" creationId="{8AF402F0-B8E4-735D-AE71-1373EEEA23B6}"/>
          </ac:spMkLst>
        </pc:spChg>
        <pc:picChg chg="add mod ord modCrop">
          <ac:chgData name="Gabija Benetaitė" userId="3b68c208bba4dd08" providerId="LiveId" clId="{DBB18AE0-44E4-4E37-B269-9D3F8B91BF34}" dt="2026-10-08T06:55:23.534" v="6" actId="14100"/>
          <ac:picMkLst>
            <pc:docMk/>
            <pc:sldMk cId="1322300730" sldId="263"/>
            <ac:picMk id="6" creationId="{BD9DB901-13A5-8595-9DBB-964FC55611DA}"/>
          </ac:picMkLst>
        </pc:picChg>
        <pc:picChg chg="del">
          <ac:chgData name="Gabija Benetaitė" userId="3b68c208bba4dd08" providerId="LiveId" clId="{DBB18AE0-44E4-4E37-B269-9D3F8B91BF34}" dt="2026-10-08T06:54:39.512" v="1" actId="21"/>
          <ac:picMkLst>
            <pc:docMk/>
            <pc:sldMk cId="1322300730" sldId="263"/>
            <ac:picMk id="7" creationId="{09A33011-73F6-3EA2-4493-28A5AA044C2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4956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this project we analysed the Adult Income dataset from the 1994 US Census. Our main question: which characteristics of a person are connected with earning more than 50 thousand dollars a year, and can we predict it? I will go through the dataset, preprocessing, descriptive statistics, hypothesis testing, regression analysis and the decision tree classifier.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dataset is the Adult Income dataset from the 1994 US census. It comes as a training file with 32,561 people and a test file with 16,281, almost 49 thousand in total, with 15 variables. The target is whether a person earns more than 50 thousand dollars a year. We kept the original train/test split. In the training data 24.9 percent earn more than 50K, so the classes are imbalanced.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Train and test were cleaned separately, and everything that learns from the data, like the encoding and scaling, was learned on the training data only, so no information leaks from the test set. We removed the dot in the test labels, deleted rows with missing values and duplicates. Outliers were checked with z-score and IQR, but we kept all values because they are real. The boxplot shows why the methods flag so much: 91.6 percent of capital gains are zero, so every non-zero value becomes an outlier. Capital gain and loss were log-transformed. We added new features and encoded the categorical variables, giving 42 columns.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the left are the strongest correlations with income in the training data. Being married has the strongest positive correlation, then education, having capital gains and age. Never married and living with parents are negative. The chart shows the share earning more than 50K by marital status: 45.5 percent of married people earn more than 50K, only 6.8 percent of the others. The top bar, Married-AF-spouse, is only 21 people, so it is not reliable.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ran eight hypothesis tests at the 5 percent significance level. Only one null hypothesis was not rejected: the share of people earning more than 50K, 24.8 percent, is not significantly different from 25 percent. People work on average 40.9 hours, slightly but significantly more than 40. Age and hours are correlated, but very weakly. Men work about 6 hours more per week than women and are almost three times as likely to earn more than 50K. Two thirds of the sample are men. Income depends on education and differs between race groups. With this many people even small differences become significant, so we also look at the size of the effect.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First, the linear regression for working hours, with age, education and sex as predictors. The model is significant, F equals 899, but R squared on the test set is only 0.078, so it explains very little. Second, the logistic regression for income. On the test set the accuracy is 84.9 percent, compared with 75.4 percent for always predicting the low class, and ROC-AUC is 0.905. Recall is 0.61, so the model misses about 40 percent of high earners, as the confusion matrix shows. If asked: being married multiplies the odds of high income by about 9, being male by 2.4.</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tree settings were chosen with 5-fold cross-validation on the training data, using F1 for the high-income class. The chart shows why: training F1 keeps rising with depth, but cross-validation F1 stops improving after about depth 9 - deeper trees only memorise the training data. A tree with no limits has 97.7 percent training accuracy. The final tree needs at least 20 people per leaf. On the test set, used only once, it reaches 85.0 percent accuracy and ROC-AUC 0.896.</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compare our models with the results published together with the dataset in the adult.names file. Always predicting the low-income class gives 75.4 percent. The published Naive Bayes reached 83.9 percent, the C4.5 decision tree 84.5 and the best published model, NBTree, 85.9 percent. Our logistic regression reaches 84.9 and our decision tree 85.0 percent - better than Naive Bayes and C4.5, and only about one percentage point below the best published result.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To conclude: the same factors - being married, education, capital gains and age - are linked to income in every part of the analysis. There is a clear gender gap. Our classification models reach about 85 percent accuracy, close to the best published result, while working hours cannot be predicted well.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GB"/>
              <a:t>Click to edit Master title style</a:t>
            </a:r>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endParaRPr lang="en-US"/>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BB8B3EC2-53ED-4D1A-9192-770633E9F6D6}" type="datetimeFigureOut">
              <a:rPr lang="en-US" smtClean="0"/>
              <a:t>10/8/2026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9E8223D3-9AA3-4BD5-B1A1-35F69A862191}" type="slidenum">
              <a:rPr lang="en-US" smtClean="0"/>
              <a:t>‹#›</a:t>
            </a:fld>
            <a:endParaRPr lang="en-US"/>
          </a:p>
        </p:txBody>
      </p:sp>
    </p:spTree>
    <p:extLst>
      <p:ext uri="{BB962C8B-B14F-4D97-AF65-F5344CB8AC3E}">
        <p14:creationId xmlns:p14="http://schemas.microsoft.com/office/powerpoint/2010/main" val="219631919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spTree>
    <p:extLst>
      <p:ext uri="{BB962C8B-B14F-4D97-AF65-F5344CB8AC3E}">
        <p14:creationId xmlns:p14="http://schemas.microsoft.com/office/powerpoint/2010/main" val="1143549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GB"/>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endParaRPr lang="en-US"/>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BB8B3EC2-53ED-4D1A-9192-770633E9F6D6}" type="datetimeFigureOut">
              <a:rPr lang="en-US" smtClean="0"/>
              <a:t>10/8/2026</a:t>
            </a:fld>
            <a:endParaRPr lang="en-US"/>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9E8223D3-9AA3-4BD5-B1A1-35F69A862191}" type="slidenum">
              <a:rPr lang="en-US" smtClean="0"/>
              <a:t>‹#›</a:t>
            </a:fld>
            <a:endParaRPr lang="en-US"/>
          </a:p>
        </p:txBody>
      </p:sp>
    </p:spTree>
    <p:extLst>
      <p:ext uri="{BB962C8B-B14F-4D97-AF65-F5344CB8AC3E}">
        <p14:creationId xmlns:p14="http://schemas.microsoft.com/office/powerpoint/2010/main" val="4718630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GB"/>
              <a:t>Click to edit Master title style</a:t>
            </a:r>
            <a:endParaRPr lang="en-US"/>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endParaRPr lang="en-US"/>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GB"/>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BB8B3EC2-53ED-4D1A-9192-770633E9F6D6}" type="datetimeFigureOut">
              <a:rPr lang="en-US" smtClean="0"/>
              <a:t>10/8/2026</a:t>
            </a:fld>
            <a:endParaRPr lang="en-US"/>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9E8223D3-9AA3-4BD5-B1A1-35F69A862191}" type="slidenum">
              <a:rPr lang="en-US" smtClean="0"/>
              <a:t>‹#›</a:t>
            </a:fld>
            <a:endParaRPr lang="en-US"/>
          </a:p>
        </p:txBody>
      </p:sp>
    </p:spTree>
    <p:extLst>
      <p:ext uri="{BB962C8B-B14F-4D97-AF65-F5344CB8AC3E}">
        <p14:creationId xmlns:p14="http://schemas.microsoft.com/office/powerpoint/2010/main" val="41063433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GB"/>
              <a:t>Click to edit Master title style</a:t>
            </a:r>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3982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GB"/>
              <a:t>Click to edit Master title style</a:t>
            </a:r>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spTree>
    <p:extLst>
      <p:ext uri="{BB962C8B-B14F-4D97-AF65-F5344CB8AC3E}">
        <p14:creationId xmlns:p14="http://schemas.microsoft.com/office/powerpoint/2010/main" val="2751508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GB"/>
              <a:t>Click to edit Master title style</a:t>
            </a:r>
            <a:endParaRPr lang="en-US"/>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775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GB"/>
              <a:t>Click to edit Master title style</a:t>
            </a:r>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9770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GB"/>
              <a:t>Click to edit Master title style</a:t>
            </a:r>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6944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GB"/>
              <a:t>Click to edit Master title style</a:t>
            </a:r>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endParaRPr lang="en-US"/>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9E8223D3-9AA3-4BD5-B1A1-35F69A862191}" type="slidenum">
              <a:rPr lang="en-US" smtClean="0"/>
              <a:t>‹#›</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3858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GB"/>
              <a:t>Click to edit Master title style</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BB8B3EC2-53ED-4D1A-9192-770633E9F6D6}" type="datetimeFigureOut">
              <a:rPr lang="en-US" smtClean="0"/>
              <a:t>10/8/2026</a:t>
            </a:fld>
            <a:endParaRPr lang="en-US"/>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endParaRPr lang="en-US"/>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9E8223D3-9AA3-4BD5-B1A1-35F69A862191}" type="slidenum">
              <a:rPr lang="en-US" smtClean="0"/>
              <a:t>‹#›</a:t>
            </a:fld>
            <a:endParaRPr lang="en-US"/>
          </a:p>
        </p:txBody>
      </p:sp>
    </p:spTree>
    <p:extLst>
      <p:ext uri="{BB962C8B-B14F-4D97-AF65-F5344CB8AC3E}">
        <p14:creationId xmlns:p14="http://schemas.microsoft.com/office/powerpoint/2010/main" val="4199817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GB"/>
              <a:t>Click to edit Master title style</a:t>
            </a:r>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BB8B3EC2-53ED-4D1A-9192-770633E9F6D6}" type="datetimeFigureOut">
              <a:rPr lang="en-US" smtClean="0"/>
              <a:t>10/8/2026</a:t>
            </a:fld>
            <a:endParaRPr lang="en-US"/>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endParaRPr lang="en-US"/>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9E8223D3-9AA3-4BD5-B1A1-35F69A862191}" type="slidenum">
              <a:rPr lang="en-US" smtClean="0"/>
              <a:t>‹#›</a:t>
            </a:fld>
            <a:endParaRPr lang="en-US"/>
          </a:p>
        </p:txBody>
      </p:sp>
    </p:spTree>
    <p:extLst>
      <p:ext uri="{BB962C8B-B14F-4D97-AF65-F5344CB8AC3E}">
        <p14:creationId xmlns:p14="http://schemas.microsoft.com/office/powerpoint/2010/main" val="25422704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GB"/>
              <a:t>Click to edit Master title style</a:t>
            </a:r>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BB8B3EC2-53ED-4D1A-9192-770633E9F6D6}" type="datetimeFigureOut">
              <a:rPr lang="en-US" smtClean="0"/>
              <a:t>10/8/2026</a:t>
            </a:fld>
            <a:endParaRPr lang="en-US"/>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endParaRPr lang="en-US"/>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9E8223D3-9AA3-4BD5-B1A1-35F69A862191}" type="slidenum">
              <a:rPr lang="en-US" smtClean="0"/>
              <a:t>‹#›</a:t>
            </a:fld>
            <a:endParaRPr lang="en-US"/>
          </a:p>
        </p:txBody>
      </p:sp>
    </p:spTree>
    <p:extLst>
      <p:ext uri="{BB962C8B-B14F-4D97-AF65-F5344CB8AC3E}">
        <p14:creationId xmlns:p14="http://schemas.microsoft.com/office/powerpoint/2010/main" val="26974935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GB"/>
              <a:t>Click to edit Master title style</a:t>
            </a:r>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BB8B3EC2-53ED-4D1A-9192-770633E9F6D6}" type="datetimeFigureOut">
              <a:rPr lang="en-US" smtClean="0"/>
              <a:t>10/8/2026</a:t>
            </a:fld>
            <a:endParaRPr lang="en-US"/>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endParaRPr lang="en-US"/>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9E8223D3-9AA3-4BD5-B1A1-35F69A862191}" type="slidenum">
              <a:rPr lang="en-US" smtClean="0"/>
              <a:t>‹#›</a:t>
            </a:fld>
            <a:endParaRPr lang="en-US"/>
          </a:p>
        </p:txBody>
      </p:sp>
    </p:spTree>
    <p:extLst>
      <p:ext uri="{BB962C8B-B14F-4D97-AF65-F5344CB8AC3E}">
        <p14:creationId xmlns:p14="http://schemas.microsoft.com/office/powerpoint/2010/main" val="3917632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GB"/>
              <a:t>Click to edit Master title style</a:t>
            </a:r>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BB8B3EC2-53ED-4D1A-9192-770633E9F6D6}" type="datetimeFigureOut">
              <a:rPr lang="en-US" smtClean="0"/>
              <a:t>10/8/2026</a:t>
            </a:fld>
            <a:endParaRPr lang="en-US"/>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endParaRPr lang="en-US"/>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9E8223D3-9AA3-4BD5-B1A1-35F69A862191}" type="slidenum">
              <a:rPr lang="en-US" smtClean="0"/>
              <a:t>‹#›</a:t>
            </a:fld>
            <a:endParaRPr lang="en-US"/>
          </a:p>
        </p:txBody>
      </p:sp>
    </p:spTree>
    <p:extLst>
      <p:ext uri="{BB962C8B-B14F-4D97-AF65-F5344CB8AC3E}">
        <p14:creationId xmlns:p14="http://schemas.microsoft.com/office/powerpoint/2010/main" val="19412131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GB"/>
              <a:t>Click to edit Master title style</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83949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GB"/>
              <a:t>Click to edit Master title style</a:t>
            </a:r>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42181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GB"/>
              <a:t>Click to edit Master title style</a:t>
            </a:r>
            <a:endParaRPr lang="en-US"/>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endParaRPr lang="en-US"/>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BB8B3EC2-53ED-4D1A-9192-770633E9F6D6}" type="datetimeFigureOut">
              <a:rPr lang="en-US" smtClean="0"/>
              <a:t>10/8/2026</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9E8223D3-9AA3-4BD5-B1A1-35F69A862191}"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8253781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GB"/>
              <a:t>Click to edit Master title style</a:t>
            </a:r>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59929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32171955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spTree>
    <p:extLst>
      <p:ext uri="{BB962C8B-B14F-4D97-AF65-F5344CB8AC3E}">
        <p14:creationId xmlns:p14="http://schemas.microsoft.com/office/powerpoint/2010/main" val="123799129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GB"/>
              <a:t>Click to edit Master title style</a:t>
            </a:r>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spTree>
    <p:extLst>
      <p:ext uri="{BB962C8B-B14F-4D97-AF65-F5344CB8AC3E}">
        <p14:creationId xmlns:p14="http://schemas.microsoft.com/office/powerpoint/2010/main" val="906038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GB"/>
              <a:t>Click to edit Master title style</a:t>
            </a:r>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spTree>
    <p:extLst>
      <p:ext uri="{BB962C8B-B14F-4D97-AF65-F5344CB8AC3E}">
        <p14:creationId xmlns:p14="http://schemas.microsoft.com/office/powerpoint/2010/main" val="4998003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GB"/>
              <a:t>Click to edit Master title style</a:t>
            </a:r>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spTree>
    <p:extLst>
      <p:ext uri="{BB962C8B-B14F-4D97-AF65-F5344CB8AC3E}">
        <p14:creationId xmlns:p14="http://schemas.microsoft.com/office/powerpoint/2010/main" val="16022387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spTree>
    <p:extLst>
      <p:ext uri="{BB962C8B-B14F-4D97-AF65-F5344CB8AC3E}">
        <p14:creationId xmlns:p14="http://schemas.microsoft.com/office/powerpoint/2010/main" val="996494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GB"/>
              <a:t>Click to edit Master title style</a:t>
            </a:r>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9E8223D3-9AA3-4BD5-B1A1-35F69A862191}" type="slidenum">
              <a:rPr lang="en-US" smtClean="0"/>
              <a:t>‹#›</a:t>
            </a:fld>
            <a:endParaRPr lang="en-US"/>
          </a:p>
        </p:txBody>
      </p:sp>
    </p:spTree>
    <p:extLst>
      <p:ext uri="{BB962C8B-B14F-4D97-AF65-F5344CB8AC3E}">
        <p14:creationId xmlns:p14="http://schemas.microsoft.com/office/powerpoint/2010/main" val="4372367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GB"/>
              <a:t>Click to edit Master title style</a:t>
            </a:r>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BB8B3EC2-53ED-4D1A-9192-770633E9F6D6}" type="datetimeFigureOut">
              <a:rPr lang="en-US" smtClean="0"/>
              <a:t>10/8/2026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9E8223D3-9AA3-4BD5-B1A1-35F69A862191}" type="slidenum">
              <a:rPr lang="en-US" smtClean="0"/>
              <a:t>‹#›</a:t>
            </a:fld>
            <a:endParaRPr lang="en-US"/>
          </a:p>
        </p:txBody>
      </p:sp>
    </p:spTree>
    <p:extLst>
      <p:ext uri="{BB962C8B-B14F-4D97-AF65-F5344CB8AC3E}">
        <p14:creationId xmlns:p14="http://schemas.microsoft.com/office/powerpoint/2010/main" val="145928188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B7BF5-F017-4782-8A51-3E2AE522AEE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0C741E2F-B000-F18E-8DD4-9D67BA8119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C26DF1C-322E-2C46-DB71-D728015A1363}"/>
              </a:ext>
            </a:extLst>
          </p:cNvPr>
          <p:cNvSpPr>
            <a:spLocks noGrp="1"/>
          </p:cNvSpPr>
          <p:nvPr>
            <p:ph type="dt" sz="half" idx="10"/>
          </p:nvPr>
        </p:nvSpPr>
        <p:spPr/>
        <p:txBody>
          <a:bodyPr/>
          <a:lstStyle/>
          <a:p>
            <a:fld id="{BB8B3EC2-53ED-4D1A-9192-770633E9F6D6}" type="datetimeFigureOut">
              <a:rPr lang="en-US" smtClean="0"/>
              <a:t>10/8/2026</a:t>
            </a:fld>
            <a:endParaRPr lang="en-US"/>
          </a:p>
        </p:txBody>
      </p:sp>
      <p:sp>
        <p:nvSpPr>
          <p:cNvPr id="5" name="Footer Placeholder 4">
            <a:extLst>
              <a:ext uri="{FF2B5EF4-FFF2-40B4-BE49-F238E27FC236}">
                <a16:creationId xmlns:a16="http://schemas.microsoft.com/office/drawing/2014/main" id="{8460EE85-A4DB-21CE-7551-81F69F535C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2FF7CA-7EB6-665F-2A84-6CEBBA819749}"/>
              </a:ext>
            </a:extLst>
          </p:cNvPr>
          <p:cNvSpPr>
            <a:spLocks noGrp="1"/>
          </p:cNvSpPr>
          <p:nvPr>
            <p:ph type="sldNum" sz="quarter" idx="12"/>
          </p:nvPr>
        </p:nvSpPr>
        <p:spPr/>
        <p:txBody>
          <a:bodyPr/>
          <a:lstStyle/>
          <a:p>
            <a:fld id="{9E8223D3-9AA3-4BD5-B1A1-35F69A862191}" type="slidenum">
              <a:rPr lang="en-US" smtClean="0"/>
              <a:t>‹#›</a:t>
            </a:fld>
            <a:endParaRPr lang="en-US"/>
          </a:p>
        </p:txBody>
      </p:sp>
    </p:spTree>
    <p:extLst>
      <p:ext uri="{BB962C8B-B14F-4D97-AF65-F5344CB8AC3E}">
        <p14:creationId xmlns:p14="http://schemas.microsoft.com/office/powerpoint/2010/main" val="584015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GB"/>
              <a:t>Click to edit Master title style</a:t>
            </a:r>
            <a:endParaRPr lang="en-US"/>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endParaRPr lang="en-US"/>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BB8B3EC2-53ED-4D1A-9192-770633E9F6D6}" type="datetimeFigureOut">
              <a:rPr lang="en-US" smtClean="0"/>
              <a:t>10/8/2026</a:t>
            </a:fld>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9E8223D3-9AA3-4BD5-B1A1-35F69A862191}" type="slidenum">
              <a:rPr lang="en-US" smtClean="0"/>
              <a:t>‹#›</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25189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Lst>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C7A5E-107C-298B-6FDB-C15F8B818274}"/>
              </a:ext>
            </a:extLst>
          </p:cNvPr>
          <p:cNvSpPr>
            <a:spLocks noGrp="1"/>
          </p:cNvSpPr>
          <p:nvPr>
            <p:ph type="ctrTitle"/>
          </p:nvPr>
        </p:nvSpPr>
        <p:spPr>
          <a:xfrm>
            <a:off x="1600200" y="2539683"/>
            <a:ext cx="9144000" cy="2387600"/>
          </a:xfrm>
        </p:spPr>
        <p:txBody>
          <a:bodyPr>
            <a:normAutofit fontScale="90000"/>
          </a:bodyPr>
          <a:lstStyle/>
          <a:p>
            <a:r>
              <a:rPr lang="en-US" dirty="0"/>
              <a:t>Statistical analysis and classification of the adult income dataset</a:t>
            </a:r>
          </a:p>
        </p:txBody>
      </p:sp>
      <p:sp>
        <p:nvSpPr>
          <p:cNvPr id="3" name="Subtitle 2">
            <a:extLst>
              <a:ext uri="{FF2B5EF4-FFF2-40B4-BE49-F238E27FC236}">
                <a16:creationId xmlns:a16="http://schemas.microsoft.com/office/drawing/2014/main" id="{CFB73119-FD5C-2C64-C356-2C5ECC902B00}"/>
              </a:ext>
            </a:extLst>
          </p:cNvPr>
          <p:cNvSpPr>
            <a:spLocks noGrp="1"/>
          </p:cNvSpPr>
          <p:nvPr>
            <p:ph type="subTitle" idx="1"/>
          </p:nvPr>
        </p:nvSpPr>
        <p:spPr>
          <a:xfrm>
            <a:off x="1699260" y="4927283"/>
            <a:ext cx="9144000" cy="1655762"/>
          </a:xfrm>
        </p:spPr>
        <p:txBody>
          <a:bodyPr/>
          <a:lstStyle/>
          <a:p>
            <a:r>
              <a:rPr dirty="0"/>
              <a:t>Adult Income dataset (1994 US Census)</a:t>
            </a:r>
          </a:p>
        </p:txBody>
      </p:sp>
      <p:sp>
        <p:nvSpPr>
          <p:cNvPr id="4" name="TextBox 3">
            <a:extLst>
              <a:ext uri="{FF2B5EF4-FFF2-40B4-BE49-F238E27FC236}">
                <a16:creationId xmlns:a16="http://schemas.microsoft.com/office/drawing/2014/main" id="{55EA5C20-A5FB-26F3-CF7E-3B509C640E20}"/>
              </a:ext>
            </a:extLst>
          </p:cNvPr>
          <p:cNvSpPr txBox="1"/>
          <p:nvPr/>
        </p:nvSpPr>
        <p:spPr>
          <a:xfrm>
            <a:off x="342900" y="6088380"/>
            <a:ext cx="5928360" cy="646331"/>
          </a:xfrm>
          <a:prstGeom prst="rect">
            <a:avLst/>
          </a:prstGeom>
          <a:noFill/>
        </p:spPr>
        <p:txBody>
          <a:bodyPr wrap="square" rtlCol="0">
            <a:spAutoFit/>
          </a:bodyPr>
          <a:lstStyle/>
          <a:p>
            <a:r>
              <a:rPr lang="en-US" dirty="0"/>
              <a:t>Prepared by: Mariia Zakharova &amp; Gabija </a:t>
            </a:r>
            <a:r>
              <a:rPr lang="en-US" dirty="0" err="1"/>
              <a:t>Benetait</a:t>
            </a:r>
            <a:r>
              <a:rPr lang="lt-LT" dirty="0"/>
              <a:t>ė</a:t>
            </a:r>
            <a:endParaRPr lang="en-US" dirty="0"/>
          </a:p>
          <a:p>
            <a:endParaRPr lang="en-US" dirty="0"/>
          </a:p>
        </p:txBody>
      </p:sp>
    </p:spTree>
    <p:extLst>
      <p:ext uri="{BB962C8B-B14F-4D97-AF65-F5344CB8AC3E}">
        <p14:creationId xmlns:p14="http://schemas.microsoft.com/office/powerpoint/2010/main" val="4196564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B748C-DB5B-FC42-A894-CC814D27880C}"/>
              </a:ext>
            </a:extLst>
          </p:cNvPr>
          <p:cNvSpPr>
            <a:spLocks noGrp="1"/>
          </p:cNvSpPr>
          <p:nvPr>
            <p:ph type="title"/>
          </p:nvPr>
        </p:nvSpPr>
        <p:spPr/>
        <p:txBody>
          <a:bodyPr/>
          <a:lstStyle/>
          <a:p>
            <a:r>
              <a:rPr lang="en-US" dirty="0"/>
              <a:t>Adult income: 1994 US census data</a:t>
            </a:r>
          </a:p>
        </p:txBody>
      </p:sp>
      <p:sp>
        <p:nvSpPr>
          <p:cNvPr id="3" name="Content Placeholder 2">
            <a:extLst>
              <a:ext uri="{FF2B5EF4-FFF2-40B4-BE49-F238E27FC236}">
                <a16:creationId xmlns:a16="http://schemas.microsoft.com/office/drawing/2014/main" id="{13583CA3-547A-6EDD-72B5-B64CD3446122}"/>
              </a:ext>
            </a:extLst>
          </p:cNvPr>
          <p:cNvSpPr>
            <a:spLocks noGrp="1"/>
          </p:cNvSpPr>
          <p:nvPr>
            <p:ph sz="quarter" idx="15"/>
          </p:nvPr>
        </p:nvSpPr>
        <p:spPr>
          <a:xfrm>
            <a:off x="276046" y="2155196"/>
            <a:ext cx="4526280" cy="0"/>
          </a:xfrm>
        </p:spPr>
        <p:txBody>
          <a:bodyPr>
            <a:noAutofit/>
          </a:bodyPr>
          <a:lstStyle/>
          <a:p>
            <a:r>
              <a:rPr lang="en-US" dirty="0"/>
              <a:t>Adult Income, 1994 US census: 48,842 people (adult.data 32,561 + adult.test 16,281).</a:t>
            </a:r>
          </a:p>
          <a:p>
            <a:r>
              <a:rPr lang="en-US" dirty="0"/>
              <a:t>15 variables (6 numerical, 9 categorical).</a:t>
            </a:r>
          </a:p>
          <a:p>
            <a:r>
              <a:rPr lang="en-US" dirty="0"/>
              <a:t>Target: income &gt;50K.</a:t>
            </a:r>
          </a:p>
          <a:p>
            <a:r>
              <a:rPr lang="en-US" dirty="0"/>
              <a:t>We kept the original train/test split.</a:t>
            </a:r>
          </a:p>
          <a:p>
            <a:r>
              <a:rPr lang="en-US" dirty="0"/>
              <a:t>24.9% of people in train earn more than $50K.</a:t>
            </a:r>
          </a:p>
        </p:txBody>
      </p:sp>
      <p:graphicFrame>
        <p:nvGraphicFramePr>
          <p:cNvPr id="5" name="Content Placeholder 4">
            <a:extLst>
              <a:ext uri="{FF2B5EF4-FFF2-40B4-BE49-F238E27FC236}">
                <a16:creationId xmlns:a16="http://schemas.microsoft.com/office/drawing/2014/main" id="{47880C2B-6CBD-0666-DA18-138AA50ACDE6}"/>
              </a:ext>
            </a:extLst>
          </p:cNvPr>
          <p:cNvGraphicFramePr>
            <a:graphicFrameLocks noGrp="1"/>
          </p:cNvGraphicFramePr>
          <p:nvPr>
            <p:ph sz="quarter" idx="16"/>
            <p:extLst>
              <p:ext uri="{D42A27DB-BD31-4B8C-83A1-F6EECF244321}">
                <p14:modId xmlns:p14="http://schemas.microsoft.com/office/powerpoint/2010/main" val="2889349966"/>
              </p:ext>
            </p:extLst>
          </p:nvPr>
        </p:nvGraphicFramePr>
        <p:xfrm>
          <a:off x="5433237" y="2103438"/>
          <a:ext cx="6033276" cy="3114040"/>
        </p:xfrm>
        <a:graphic>
          <a:graphicData uri="http://schemas.openxmlformats.org/drawingml/2006/table">
            <a:tbl>
              <a:tblPr firstRow="1" bandRow="1">
                <a:tableStyleId>{5C22544A-7EE6-4342-B048-85BDC9FD1C3A}</a:tableStyleId>
              </a:tblPr>
              <a:tblGrid>
                <a:gridCol w="3016638">
                  <a:extLst>
                    <a:ext uri="{9D8B030D-6E8A-4147-A177-3AD203B41FA5}">
                      <a16:colId xmlns:a16="http://schemas.microsoft.com/office/drawing/2014/main" val="2875147536"/>
                    </a:ext>
                  </a:extLst>
                </a:gridCol>
                <a:gridCol w="3016638">
                  <a:extLst>
                    <a:ext uri="{9D8B030D-6E8A-4147-A177-3AD203B41FA5}">
                      <a16:colId xmlns:a16="http://schemas.microsoft.com/office/drawing/2014/main" val="1975736995"/>
                    </a:ext>
                  </a:extLst>
                </a:gridCol>
              </a:tblGrid>
              <a:tr h="370840">
                <a:tc>
                  <a:txBody>
                    <a:bodyPr/>
                    <a:lstStyle/>
                    <a:p>
                      <a:r>
                        <a:rPr lang="en-US" dirty="0"/>
                        <a:t>Type</a:t>
                      </a:r>
                    </a:p>
                  </a:txBody>
                  <a:tcPr/>
                </a:tc>
                <a:tc>
                  <a:txBody>
                    <a:bodyPr/>
                    <a:lstStyle/>
                    <a:p>
                      <a:r>
                        <a:rPr lang="en-US" dirty="0"/>
                        <a:t>Variables</a:t>
                      </a:r>
                    </a:p>
                  </a:txBody>
                  <a:tcPr/>
                </a:tc>
                <a:extLst>
                  <a:ext uri="{0D108BD9-81ED-4DB2-BD59-A6C34878D82A}">
                    <a16:rowId xmlns:a16="http://schemas.microsoft.com/office/drawing/2014/main" val="546451937"/>
                  </a:ext>
                </a:extLst>
              </a:tr>
              <a:tr h="370840">
                <a:tc>
                  <a:txBody>
                    <a:bodyPr/>
                    <a:lstStyle/>
                    <a:p>
                      <a:r>
                        <a:rPr lang="en-US" dirty="0"/>
                        <a:t>Numerical</a:t>
                      </a:r>
                    </a:p>
                  </a:txBody>
                  <a:tcPr/>
                </a:tc>
                <a:tc>
                  <a:txBody>
                    <a:bodyPr/>
                    <a:lstStyle/>
                    <a:p>
                      <a:r>
                        <a:rPr lang="en-US" dirty="0"/>
                        <a:t>Age, education num, hours per week, capital gain, capital loss, </a:t>
                      </a:r>
                      <a:r>
                        <a:rPr lang="en-US" dirty="0" err="1"/>
                        <a:t>fnlwgt</a:t>
                      </a:r>
                      <a:r>
                        <a:rPr lang="en-US" dirty="0"/>
                        <a:t>.</a:t>
                      </a:r>
                    </a:p>
                  </a:txBody>
                  <a:tcPr/>
                </a:tc>
                <a:extLst>
                  <a:ext uri="{0D108BD9-81ED-4DB2-BD59-A6C34878D82A}">
                    <a16:rowId xmlns:a16="http://schemas.microsoft.com/office/drawing/2014/main" val="2398027414"/>
                  </a:ext>
                </a:extLst>
              </a:tr>
              <a:tr h="370840">
                <a:tc>
                  <a:txBody>
                    <a:bodyPr/>
                    <a:lstStyle/>
                    <a:p>
                      <a:r>
                        <a:rPr lang="en-US" dirty="0"/>
                        <a:t>Categorical</a:t>
                      </a:r>
                    </a:p>
                  </a:txBody>
                  <a:tcPr/>
                </a:tc>
                <a:tc>
                  <a:txBody>
                    <a:bodyPr/>
                    <a:lstStyle/>
                    <a:p>
                      <a:r>
                        <a:rPr lang="en-US" dirty="0" err="1"/>
                        <a:t>Workclass, education, marital status, occupation, relationship, race, sex, native country.</a:t>
                      </a:r>
                    </a:p>
                  </a:txBody>
                  <a:tcPr/>
                </a:tc>
                <a:extLst>
                  <a:ext uri="{0D108BD9-81ED-4DB2-BD59-A6C34878D82A}">
                    <a16:rowId xmlns:a16="http://schemas.microsoft.com/office/drawing/2014/main" val="2471576111"/>
                  </a:ext>
                </a:extLst>
              </a:tr>
              <a:tr h="370840">
                <a:tc>
                  <a:txBody>
                    <a:bodyPr/>
                    <a:lstStyle/>
                    <a:p>
                      <a:r>
                        <a:rPr lang="en-US" dirty="0"/>
                        <a:t>Target</a:t>
                      </a:r>
                    </a:p>
                  </a:txBody>
                  <a:tcPr/>
                </a:tc>
                <a:tc>
                  <a:txBody>
                    <a:bodyPr/>
                    <a:lstStyle/>
                    <a:p>
                      <a:r>
                        <a:rPr lang="en-US" dirty="0"/>
                        <a:t>Income: more or less than $50K per year.</a:t>
                      </a:r>
                    </a:p>
                  </a:txBody>
                  <a:tcPr/>
                </a:tc>
                <a:extLst>
                  <a:ext uri="{0D108BD9-81ED-4DB2-BD59-A6C34878D82A}">
                    <a16:rowId xmlns:a16="http://schemas.microsoft.com/office/drawing/2014/main" val="1787341657"/>
                  </a:ext>
                </a:extLst>
              </a:tr>
            </a:tbl>
          </a:graphicData>
        </a:graphic>
      </p:graphicFrame>
    </p:spTree>
    <p:extLst>
      <p:ext uri="{BB962C8B-B14F-4D97-AF65-F5344CB8AC3E}">
        <p14:creationId xmlns:p14="http://schemas.microsoft.com/office/powerpoint/2010/main" val="3905856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98C0E-5548-CA19-97EA-F128DC73C37B}"/>
              </a:ext>
            </a:extLst>
          </p:cNvPr>
          <p:cNvSpPr>
            <a:spLocks noGrp="1"/>
          </p:cNvSpPr>
          <p:nvPr>
            <p:ph type="title"/>
          </p:nvPr>
        </p:nvSpPr>
        <p:spPr/>
        <p:txBody>
          <a:bodyPr/>
          <a:lstStyle/>
          <a:p>
            <a:r>
              <a:rPr lang="en-US" dirty="0"/>
              <a:t>Data preprocessing</a:t>
            </a:r>
          </a:p>
        </p:txBody>
      </p:sp>
      <p:sp>
        <p:nvSpPr>
          <p:cNvPr id="3" name="Preprocessing list"/>
          <p:cNvSpPr txBox="1"/>
          <p:nvPr/>
        </p:nvSpPr>
        <p:spPr>
          <a:xfrm>
            <a:off x="731520" y="2057400"/>
            <a:ext cx="6309360" cy="4572000"/>
          </a:xfrm>
          <a:prstGeom prst="rect">
            <a:avLst/>
          </a:prstGeom>
          <a:noFill/>
        </p:spPr>
        <p:txBody>
          <a:bodyPr wrap="square">
            <a:spAutoFit/>
          </a:bodyPr>
          <a:lstStyle/>
          <a:p>
            <a:pPr marL="228600" indent="-228600">
              <a:spcAft>
                <a:spcPts val="600"/>
              </a:spcAft>
              <a:buChar char="•"/>
            </a:pPr>
            <a:r>
              <a:rPr sz="1500" b="0"/>
              <a:t>Train and test cleaned separately; encoding and scaling learned on train only (no data leak).</a:t>
            </a:r>
          </a:p>
          <a:p>
            <a:pPr marL="228600" indent="-228600">
              <a:spcAft>
                <a:spcPts val="600"/>
              </a:spcAft>
              <a:buChar char="•"/>
            </a:pPr>
            <a:r>
              <a:rPr sz="1500" b="0"/>
              <a:t>Removed the dot in the test labels (&gt;50K. → &gt;50K).</a:t>
            </a:r>
          </a:p>
          <a:p>
            <a:pPr marL="228600" indent="-228600">
              <a:spcAft>
                <a:spcPts val="600"/>
              </a:spcAft>
              <a:buChar char="•"/>
            </a:pPr>
            <a:r>
              <a:rPr sz="1500" b="0"/>
              <a:t>Deleted rows with missing values: 2,399 in train (7.37%), 1,221 in test (7.50%).</a:t>
            </a:r>
          </a:p>
          <a:p>
            <a:pPr marL="228600" indent="-228600">
              <a:spcAft>
                <a:spcPts val="600"/>
              </a:spcAft>
              <a:buChar char="•"/>
            </a:pPr>
            <a:r>
              <a:rPr sz="1500" b="0"/>
              <a:t>Deleted duplicate rows: 23 in train, 5 in test.</a:t>
            </a:r>
          </a:p>
          <a:p>
            <a:pPr marL="228600" indent="-228600">
              <a:spcAft>
                <a:spcPts val="600"/>
              </a:spcAft>
              <a:buChar char="•"/>
            </a:pPr>
            <a:r>
              <a:rPr sz="1500" b="0"/>
              <a:t>Outliers found with z-score and IQR; all values kept (real values, not errors).</a:t>
            </a:r>
          </a:p>
          <a:p>
            <a:pPr marL="228600" indent="-228600">
              <a:spcAft>
                <a:spcPts val="600"/>
              </a:spcAft>
              <a:buChar char="•"/>
            </a:pPr>
            <a:r>
              <a:rPr sz="1500" b="0"/>
              <a:t>capital-gain, capital-loss: log(1 + x); skewness of capital-gain 11.9 → 3.07.</a:t>
            </a:r>
          </a:p>
          <a:p>
            <a:pPr marL="228600" indent="-228600">
              <a:spcAft>
                <a:spcPts val="600"/>
              </a:spcAft>
              <a:buChar char="•"/>
            </a:pPr>
            <a:r>
              <a:rPr sz="1500" b="0"/>
              <a:t>New features: has-capital, is-married, is_us, capital-net, age-group, hours-category.</a:t>
            </a:r>
          </a:p>
          <a:p>
            <a:pPr marL="228600" indent="-228600">
              <a:spcAft>
                <a:spcPts val="600"/>
              </a:spcAft>
              <a:buChar char="•"/>
            </a:pPr>
            <a:r>
              <a:rPr sz="1500" b="0"/>
              <a:t>Encoding: sex 0/1, native-country → is_us, one-hot for 5 variables; dropped education and fnlwgt. 42 columns, numerical ones standardized.</a:t>
            </a:r>
          </a:p>
        </p:txBody>
      </p:sp>
      <p:pic>
        <p:nvPicPr>
          <p:cNvPr id="4" name="03i" descr="03i.png"/>
          <p:cNvPicPr>
            <a:picLocks noChangeAspect="1"/>
          </p:cNvPicPr>
          <p:nvPr/>
        </p:nvPicPr>
        <p:blipFill>
          <a:blip r:embed="rId3"/>
          <a:stretch>
            <a:fillRect/>
          </a:stretch>
        </p:blipFill>
        <p:spPr>
          <a:xfrm>
            <a:off x="7269480" y="2148840"/>
            <a:ext cx="4206240" cy="2286633"/>
          </a:xfrm>
          <a:prstGeom prst="rect">
            <a:avLst/>
          </a:prstGeom>
        </p:spPr>
      </p:pic>
      <p:sp>
        <p:nvSpPr>
          <p:cNvPr id="5" name="Caption 03i"/>
          <p:cNvSpPr txBox="1"/>
          <p:nvPr/>
        </p:nvSpPr>
        <p:spPr>
          <a:xfrm>
            <a:off x="7269480" y="4481193"/>
            <a:ext cx="4206240" cy="822960"/>
          </a:xfrm>
          <a:prstGeom prst="rect">
            <a:avLst/>
          </a:prstGeom>
          <a:noFill/>
        </p:spPr>
        <p:txBody>
          <a:bodyPr wrap="square">
            <a:spAutoFit/>
          </a:bodyPr>
          <a:lstStyle/>
          <a:p>
            <a:pPr>
              <a:spcAft>
                <a:spcPts val="600"/>
              </a:spcAft>
            </a:pPr>
            <a:r>
              <a:rPr sz="1400" b="0"/>
              <a:t>91.6% of capital-gain values are 0, so there is no box and every non-zero value is an outlier.</a:t>
            </a:r>
          </a:p>
        </p:txBody>
      </p:sp>
    </p:spTree>
    <p:extLst>
      <p:ext uri="{BB962C8B-B14F-4D97-AF65-F5344CB8AC3E}">
        <p14:creationId xmlns:p14="http://schemas.microsoft.com/office/powerpoint/2010/main" val="3534801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EA6B0-95C1-FDE9-034F-1D6C9A13B08F}"/>
              </a:ext>
            </a:extLst>
          </p:cNvPr>
          <p:cNvSpPr>
            <a:spLocks noGrp="1"/>
          </p:cNvSpPr>
          <p:nvPr>
            <p:ph type="title"/>
          </p:nvPr>
        </p:nvSpPr>
        <p:spPr/>
        <p:txBody>
          <a:bodyPr>
            <a:normAutofit/>
          </a:bodyPr>
          <a:lstStyle/>
          <a:p>
            <a:r>
              <a:rPr lang="en-US" dirty="0"/>
              <a:t>What is related to income</a:t>
            </a:r>
          </a:p>
        </p:txBody>
      </p:sp>
      <p:graphicFrame>
        <p:nvGraphicFramePr>
          <p:cNvPr id="3" name="Correlations"/>
          <p:cNvGraphicFramePr>
            <a:graphicFrameLocks noGrp="1"/>
          </p:cNvGraphicFramePr>
          <p:nvPr>
            <p:extLst>
              <p:ext uri="{D42A27DB-BD31-4B8C-83A1-F6EECF244321}">
                <p14:modId xmlns:p14="http://schemas.microsoft.com/office/powerpoint/2010/main" val="2350781052"/>
              </p:ext>
            </p:extLst>
          </p:nvPr>
        </p:nvGraphicFramePr>
        <p:xfrm>
          <a:off x="731520" y="1737360"/>
          <a:ext cx="4206240" cy="3291840"/>
        </p:xfrm>
        <a:graphic>
          <a:graphicData uri="http://schemas.openxmlformats.org/drawingml/2006/table">
            <a:tbl>
              <a:tblPr firstRow="1" bandRow="1">
                <a:tableStyleId>{5C22544A-7EE6-4342-B048-85BDC9FD1C3A}</a:tableStyleId>
              </a:tblPr>
              <a:tblGrid>
                <a:gridCol w="1889760">
                  <a:extLst>
                    <a:ext uri="{9D8B030D-6E8A-4147-A177-3AD203B41FA5}">
                      <a16:colId xmlns:a16="http://schemas.microsoft.com/office/drawing/2014/main" val="20000"/>
                    </a:ext>
                  </a:extLst>
                </a:gridCol>
                <a:gridCol w="2316480">
                  <a:extLst>
                    <a:ext uri="{9D8B030D-6E8A-4147-A177-3AD203B41FA5}">
                      <a16:colId xmlns:a16="http://schemas.microsoft.com/office/drawing/2014/main" val="20001"/>
                    </a:ext>
                  </a:extLst>
                </a:gridCol>
              </a:tblGrid>
              <a:tr h="365760">
                <a:tc>
                  <a:txBody>
                    <a:bodyPr/>
                    <a:lstStyle/>
                    <a:p>
                      <a:r>
                        <a:rPr sz="1600"/>
                        <a:t>Variable (train)</a:t>
                      </a:r>
                    </a:p>
                  </a:txBody>
                  <a:tcPr marT="27432" marB="27432"/>
                </a:tc>
                <a:tc>
                  <a:txBody>
                    <a:bodyPr/>
                    <a:lstStyle/>
                    <a:p>
                      <a:r>
                        <a:rPr lang="en-US" sz="1600" dirty="0"/>
                        <a:t>correlation</a:t>
                      </a:r>
                      <a:r>
                        <a:rPr sz="1600" dirty="0"/>
                        <a:t> with income</a:t>
                      </a:r>
                    </a:p>
                  </a:txBody>
                  <a:tcPr marT="27432" marB="27432"/>
                </a:tc>
                <a:extLst>
                  <a:ext uri="{0D108BD9-81ED-4DB2-BD59-A6C34878D82A}">
                    <a16:rowId xmlns:a16="http://schemas.microsoft.com/office/drawing/2014/main" val="10000"/>
                  </a:ext>
                </a:extLst>
              </a:tr>
              <a:tr h="365760">
                <a:tc>
                  <a:txBody>
                    <a:bodyPr/>
                    <a:lstStyle/>
                    <a:p>
                      <a:r>
                        <a:rPr sz="1600"/>
                        <a:t>Married-civ-spouse</a:t>
                      </a:r>
                    </a:p>
                  </a:txBody>
                  <a:tcPr marT="27432" marB="27432"/>
                </a:tc>
                <a:tc>
                  <a:txBody>
                    <a:bodyPr/>
                    <a:lstStyle/>
                    <a:p>
                      <a:r>
                        <a:rPr sz="1600"/>
                        <a:t>0.45</a:t>
                      </a:r>
                    </a:p>
                  </a:txBody>
                  <a:tcPr marT="27432" marB="27432"/>
                </a:tc>
                <a:extLst>
                  <a:ext uri="{0D108BD9-81ED-4DB2-BD59-A6C34878D82A}">
                    <a16:rowId xmlns:a16="http://schemas.microsoft.com/office/drawing/2014/main" val="10001"/>
                  </a:ext>
                </a:extLst>
              </a:tr>
              <a:tr h="365760">
                <a:tc>
                  <a:txBody>
                    <a:bodyPr/>
                    <a:lstStyle/>
                    <a:p>
                      <a:r>
                        <a:rPr sz="1600"/>
                        <a:t>education-num</a:t>
                      </a:r>
                    </a:p>
                  </a:txBody>
                  <a:tcPr marT="27432" marB="27432"/>
                </a:tc>
                <a:tc>
                  <a:txBody>
                    <a:bodyPr/>
                    <a:lstStyle/>
                    <a:p>
                      <a:r>
                        <a:rPr sz="1600"/>
                        <a:t>0.34</a:t>
                      </a:r>
                    </a:p>
                  </a:txBody>
                  <a:tcPr marT="27432" marB="27432"/>
                </a:tc>
                <a:extLst>
                  <a:ext uri="{0D108BD9-81ED-4DB2-BD59-A6C34878D82A}">
                    <a16:rowId xmlns:a16="http://schemas.microsoft.com/office/drawing/2014/main" val="10002"/>
                  </a:ext>
                </a:extLst>
              </a:tr>
              <a:tr h="365760">
                <a:tc>
                  <a:txBody>
                    <a:bodyPr/>
                    <a:lstStyle/>
                    <a:p>
                      <a:r>
                        <a:rPr sz="1600"/>
                        <a:t>has-capital</a:t>
                      </a:r>
                    </a:p>
                  </a:txBody>
                  <a:tcPr marT="27432" marB="27432"/>
                </a:tc>
                <a:tc>
                  <a:txBody>
                    <a:bodyPr/>
                    <a:lstStyle/>
                    <a:p>
                      <a:r>
                        <a:rPr sz="1600"/>
                        <a:t>0.31</a:t>
                      </a:r>
                    </a:p>
                  </a:txBody>
                  <a:tcPr marT="27432" marB="27432"/>
                </a:tc>
                <a:extLst>
                  <a:ext uri="{0D108BD9-81ED-4DB2-BD59-A6C34878D82A}">
                    <a16:rowId xmlns:a16="http://schemas.microsoft.com/office/drawing/2014/main" val="10003"/>
                  </a:ext>
                </a:extLst>
              </a:tr>
              <a:tr h="365760">
                <a:tc>
                  <a:txBody>
                    <a:bodyPr/>
                    <a:lstStyle/>
                    <a:p>
                      <a:r>
                        <a:rPr sz="1600"/>
                        <a:t>capital-gain-log</a:t>
                      </a:r>
                    </a:p>
                  </a:txBody>
                  <a:tcPr marT="27432" marB="27432"/>
                </a:tc>
                <a:tc>
                  <a:txBody>
                    <a:bodyPr/>
                    <a:lstStyle/>
                    <a:p>
                      <a:r>
                        <a:rPr sz="1600"/>
                        <a:t>0.29</a:t>
                      </a:r>
                    </a:p>
                  </a:txBody>
                  <a:tcPr marT="27432" marB="27432"/>
                </a:tc>
                <a:extLst>
                  <a:ext uri="{0D108BD9-81ED-4DB2-BD59-A6C34878D82A}">
                    <a16:rowId xmlns:a16="http://schemas.microsoft.com/office/drawing/2014/main" val="10004"/>
                  </a:ext>
                </a:extLst>
              </a:tr>
              <a:tr h="365760">
                <a:tc>
                  <a:txBody>
                    <a:bodyPr/>
                    <a:lstStyle/>
                    <a:p>
                      <a:r>
                        <a:rPr sz="1600"/>
                        <a:t>age</a:t>
                      </a:r>
                    </a:p>
                  </a:txBody>
                  <a:tcPr marT="27432" marB="27432"/>
                </a:tc>
                <a:tc>
                  <a:txBody>
                    <a:bodyPr/>
                    <a:lstStyle/>
                    <a:p>
                      <a:r>
                        <a:rPr sz="1600"/>
                        <a:t>0.24</a:t>
                      </a:r>
                    </a:p>
                  </a:txBody>
                  <a:tcPr marT="27432" marB="27432"/>
                </a:tc>
                <a:extLst>
                  <a:ext uri="{0D108BD9-81ED-4DB2-BD59-A6C34878D82A}">
                    <a16:rowId xmlns:a16="http://schemas.microsoft.com/office/drawing/2014/main" val="10005"/>
                  </a:ext>
                </a:extLst>
              </a:tr>
              <a:tr h="365760">
                <a:tc>
                  <a:txBody>
                    <a:bodyPr/>
                    <a:lstStyle/>
                    <a:p>
                      <a:r>
                        <a:rPr sz="1600"/>
                        <a:t>hours-per-week</a:t>
                      </a:r>
                    </a:p>
                  </a:txBody>
                  <a:tcPr marT="27432" marB="27432"/>
                </a:tc>
                <a:tc>
                  <a:txBody>
                    <a:bodyPr/>
                    <a:lstStyle/>
                    <a:p>
                      <a:r>
                        <a:rPr sz="1600"/>
                        <a:t>0.23</a:t>
                      </a:r>
                    </a:p>
                  </a:txBody>
                  <a:tcPr marT="27432" marB="27432"/>
                </a:tc>
                <a:extLst>
                  <a:ext uri="{0D108BD9-81ED-4DB2-BD59-A6C34878D82A}">
                    <a16:rowId xmlns:a16="http://schemas.microsoft.com/office/drawing/2014/main" val="10006"/>
                  </a:ext>
                </a:extLst>
              </a:tr>
              <a:tr h="365760">
                <a:tc>
                  <a:txBody>
                    <a:bodyPr/>
                    <a:lstStyle/>
                    <a:p>
                      <a:r>
                        <a:rPr sz="1600"/>
                        <a:t>Never-married</a:t>
                      </a:r>
                    </a:p>
                  </a:txBody>
                  <a:tcPr marT="27432" marB="27432"/>
                </a:tc>
                <a:tc>
                  <a:txBody>
                    <a:bodyPr/>
                    <a:lstStyle/>
                    <a:p>
                      <a:r>
                        <a:rPr sz="1600"/>
                        <a:t>-0.32</a:t>
                      </a:r>
                    </a:p>
                  </a:txBody>
                  <a:tcPr marT="27432" marB="27432"/>
                </a:tc>
                <a:extLst>
                  <a:ext uri="{0D108BD9-81ED-4DB2-BD59-A6C34878D82A}">
                    <a16:rowId xmlns:a16="http://schemas.microsoft.com/office/drawing/2014/main" val="10007"/>
                  </a:ext>
                </a:extLst>
              </a:tr>
              <a:tr h="365760">
                <a:tc>
                  <a:txBody>
                    <a:bodyPr/>
                    <a:lstStyle/>
                    <a:p>
                      <a:r>
                        <a:rPr sz="1600"/>
                        <a:t>Own-child</a:t>
                      </a:r>
                    </a:p>
                  </a:txBody>
                  <a:tcPr marT="27432" marB="27432"/>
                </a:tc>
                <a:tc>
                  <a:txBody>
                    <a:bodyPr/>
                    <a:lstStyle/>
                    <a:p>
                      <a:r>
                        <a:rPr sz="1600" dirty="0"/>
                        <a:t>-0.23</a:t>
                      </a:r>
                    </a:p>
                  </a:txBody>
                  <a:tcPr marT="27432" marB="27432"/>
                </a:tc>
                <a:extLst>
                  <a:ext uri="{0D108BD9-81ED-4DB2-BD59-A6C34878D82A}">
                    <a16:rowId xmlns:a16="http://schemas.microsoft.com/office/drawing/2014/main" val="10008"/>
                  </a:ext>
                </a:extLst>
              </a:tr>
            </a:tbl>
          </a:graphicData>
        </a:graphic>
      </p:graphicFrame>
      <p:pic>
        <p:nvPicPr>
          <p:cNvPr id="4" name="03a" descr="03a.png"/>
          <p:cNvPicPr>
            <a:picLocks noChangeAspect="1"/>
          </p:cNvPicPr>
          <p:nvPr/>
        </p:nvPicPr>
        <p:blipFill>
          <a:blip r:embed="rId3"/>
          <a:stretch>
            <a:fillRect/>
          </a:stretch>
        </p:blipFill>
        <p:spPr>
          <a:xfrm>
            <a:off x="5257800" y="1737360"/>
            <a:ext cx="6217920" cy="2668708"/>
          </a:xfrm>
          <a:prstGeom prst="rect">
            <a:avLst/>
          </a:prstGeom>
        </p:spPr>
      </p:pic>
      <p:sp>
        <p:nvSpPr>
          <p:cNvPr id="5" name="Marital caption"/>
          <p:cNvSpPr txBox="1"/>
          <p:nvPr/>
        </p:nvSpPr>
        <p:spPr>
          <a:xfrm>
            <a:off x="5257800" y="4543228"/>
            <a:ext cx="6217920" cy="1097280"/>
          </a:xfrm>
          <a:prstGeom prst="rect">
            <a:avLst/>
          </a:prstGeom>
          <a:noFill/>
        </p:spPr>
        <p:txBody>
          <a:bodyPr wrap="square">
            <a:spAutoFit/>
          </a:bodyPr>
          <a:lstStyle/>
          <a:p>
            <a:pPr>
              <a:spcAft>
                <a:spcPts val="600"/>
              </a:spcAft>
            </a:pPr>
            <a:r>
              <a:rPr sz="1600" b="1"/>
              <a:t>45.5% of married people earn &gt;50K, only 6.8% of the others.</a:t>
            </a:r>
          </a:p>
          <a:p>
            <a:pPr>
              <a:spcAft>
                <a:spcPts val="600"/>
              </a:spcAft>
            </a:pPr>
            <a:r>
              <a:rPr sz="1600" b="0"/>
              <a:t>The top bar (Married-AF-spouse) is only 21 people.</a:t>
            </a:r>
          </a:p>
        </p:txBody>
      </p:sp>
    </p:spTree>
    <p:extLst>
      <p:ext uri="{BB962C8B-B14F-4D97-AF65-F5344CB8AC3E}">
        <p14:creationId xmlns:p14="http://schemas.microsoft.com/office/powerpoint/2010/main" val="2100648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8DABE-81C6-5DC3-34E0-D5B54AC001DC}"/>
              </a:ext>
            </a:extLst>
          </p:cNvPr>
          <p:cNvSpPr>
            <a:spLocks noGrp="1"/>
          </p:cNvSpPr>
          <p:nvPr>
            <p:ph type="title"/>
          </p:nvPr>
        </p:nvSpPr>
        <p:spPr/>
        <p:txBody>
          <a:bodyPr/>
          <a:lstStyle/>
          <a:p>
            <a:r>
              <a:rPr lang="en-US" dirty="0"/>
              <a:t>Hypothesis testing</a:t>
            </a:r>
          </a:p>
        </p:txBody>
      </p:sp>
      <p:graphicFrame>
        <p:nvGraphicFramePr>
          <p:cNvPr id="4" name="Content Placeholder 3">
            <a:extLst>
              <a:ext uri="{FF2B5EF4-FFF2-40B4-BE49-F238E27FC236}">
                <a16:creationId xmlns:a16="http://schemas.microsoft.com/office/drawing/2014/main" id="{C9D140D9-C438-C4B9-C776-78F8070E63FB}"/>
              </a:ext>
            </a:extLst>
          </p:cNvPr>
          <p:cNvGraphicFramePr>
            <a:graphicFrameLocks noGrp="1"/>
          </p:cNvGraphicFramePr>
          <p:nvPr>
            <p:ph idx="1"/>
            <p:extLst>
              <p:ext uri="{D42A27DB-BD31-4B8C-83A1-F6EECF244321}">
                <p14:modId xmlns:p14="http://schemas.microsoft.com/office/powerpoint/2010/main" val="1180978073"/>
              </p:ext>
            </p:extLst>
          </p:nvPr>
        </p:nvGraphicFramePr>
        <p:xfrm>
          <a:off x="731838" y="1600200"/>
          <a:ext cx="10780776" cy="3017520"/>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525338634"/>
                    </a:ext>
                  </a:extLst>
                </a:gridCol>
                <a:gridCol w="4160520">
                  <a:extLst>
                    <a:ext uri="{9D8B030D-6E8A-4147-A177-3AD203B41FA5}">
                      <a16:colId xmlns:a16="http://schemas.microsoft.com/office/drawing/2014/main" val="2323829990"/>
                    </a:ext>
                  </a:extLst>
                </a:gridCol>
                <a:gridCol w="2743200">
                  <a:extLst>
                    <a:ext uri="{9D8B030D-6E8A-4147-A177-3AD203B41FA5}">
                      <a16:colId xmlns:a16="http://schemas.microsoft.com/office/drawing/2014/main" val="839008356"/>
                    </a:ext>
                  </a:extLst>
                </a:gridCol>
                <a:gridCol w="1636776">
                  <a:extLst>
                    <a:ext uri="{9D8B030D-6E8A-4147-A177-3AD203B41FA5}">
                      <a16:colId xmlns:a16="http://schemas.microsoft.com/office/drawing/2014/main" val="3437072196"/>
                    </a:ext>
                  </a:extLst>
                </a:gridCol>
              </a:tblGrid>
              <a:tr h="329184">
                <a:tc>
                  <a:txBody>
                    <a:bodyPr/>
                    <a:lstStyle/>
                    <a:p>
                      <a:pPr algn="ctr"/>
                      <a:r>
                        <a:rPr lang="en-US" sz="1600" b="1" dirty="0"/>
                        <a:t>Test</a:t>
                      </a:r>
                    </a:p>
                  </a:txBody>
                  <a:tcPr/>
                </a:tc>
                <a:tc>
                  <a:txBody>
                    <a:bodyPr/>
                    <a:lstStyle/>
                    <a:p>
                      <a:pPr algn="ctr"/>
                      <a:r>
                        <a:rPr lang="en-US" sz="1600" b="1" dirty="0"/>
                        <a:t>H0</a:t>
                      </a:r>
                    </a:p>
                  </a:txBody>
                  <a:tcPr/>
                </a:tc>
                <a:tc>
                  <a:txBody>
                    <a:bodyPr/>
                    <a:lstStyle/>
                    <a:p>
                      <a:pPr algn="ctr"/>
                      <a:r>
                        <a:rPr lang="en-US" sz="1600" b="1" dirty="0"/>
                        <a:t>Result</a:t>
                      </a:r>
                    </a:p>
                  </a:txBody>
                  <a:tcPr/>
                </a:tc>
                <a:tc>
                  <a:txBody>
                    <a:bodyPr/>
                    <a:lstStyle/>
                    <a:p>
                      <a:pPr algn="ctr"/>
                      <a:r>
                        <a:rPr lang="en-US" sz="1600" b="1" dirty="0"/>
                        <a:t>Decision</a:t>
                      </a:r>
                    </a:p>
                  </a:txBody>
                  <a:tcPr/>
                </a:tc>
                <a:extLst>
                  <a:ext uri="{0D108BD9-81ED-4DB2-BD59-A6C34878D82A}">
                    <a16:rowId xmlns:a16="http://schemas.microsoft.com/office/drawing/2014/main" val="718359333"/>
                  </a:ext>
                </a:extLst>
              </a:tr>
              <a:tr h="329184">
                <a:tc>
                  <a:txBody>
                    <a:bodyPr/>
                    <a:lstStyle/>
                    <a:p>
                      <a:r>
                        <a:rPr lang="en-US" sz="1600" dirty="0"/>
                        <a:t>One-sample t-test</a:t>
                      </a:r>
                    </a:p>
                  </a:txBody>
                  <a:tcPr/>
                </a:tc>
                <a:tc>
                  <a:txBody>
                    <a:bodyPr/>
                    <a:lstStyle/>
                    <a:p>
                      <a:r>
                        <a:rPr lang="en-US" sz="1600" dirty="0"/>
                        <a:t>Mean working hours = 40</a:t>
                      </a:r>
                    </a:p>
                  </a:txBody>
                  <a:tcPr/>
                </a:tc>
                <a:tc>
                  <a:txBody>
                    <a:bodyPr/>
                    <a:lstStyle/>
                    <a:p>
                      <a:r>
                        <a:rPr lang="en-US" sz="1600" dirty="0"/>
                        <a:t>40.94 h, p &lt; 0.001</a:t>
                      </a:r>
                    </a:p>
                  </a:txBody>
                  <a:tcPr/>
                </a:tc>
                <a:tc>
                  <a:txBody>
                    <a:bodyPr/>
                    <a:lstStyle/>
                    <a:p>
                      <a:r>
                        <a:rPr lang="en-US" sz="1600" dirty="0"/>
                        <a:t>Reject</a:t>
                      </a:r>
                    </a:p>
                  </a:txBody>
                  <a:tcPr/>
                </a:tc>
                <a:extLst>
                  <a:ext uri="{0D108BD9-81ED-4DB2-BD59-A6C34878D82A}">
                    <a16:rowId xmlns:a16="http://schemas.microsoft.com/office/drawing/2014/main" val="3596177145"/>
                  </a:ext>
                </a:extLst>
              </a:tr>
              <a:tr h="329184">
                <a:tc>
                  <a:txBody>
                    <a:bodyPr/>
                    <a:lstStyle/>
                    <a:p>
                      <a:r>
                        <a:rPr lang="en-US" sz="1600" dirty="0"/>
                        <a:t>One proportion z-test</a:t>
                      </a:r>
                    </a:p>
                  </a:txBody>
                  <a:tcPr/>
                </a:tc>
                <a:tc>
                  <a:txBody>
                    <a:bodyPr/>
                    <a:lstStyle/>
                    <a:p>
                      <a:r>
                        <a:rPr lang="en-US" sz="1600" dirty="0"/>
                        <a:t>Share earning &gt;50K = 25%</a:t>
                      </a:r>
                    </a:p>
                  </a:txBody>
                  <a:tcPr/>
                </a:tc>
                <a:tc>
                  <a:txBody>
                    <a:bodyPr/>
                    <a:lstStyle/>
                    <a:p>
                      <a:r>
                        <a:rPr lang="en-US" sz="1600" dirty="0"/>
                        <a:t>24.80%, p = 0.314</a:t>
                      </a:r>
                    </a:p>
                  </a:txBody>
                  <a:tcPr/>
                </a:tc>
                <a:tc>
                  <a:txBody>
                    <a:bodyPr/>
                    <a:lstStyle/>
                    <a:p>
                      <a:r>
                        <a:rPr lang="en-US" sz="1600" dirty="0"/>
                        <a:t>Do not reject</a:t>
                      </a:r>
                    </a:p>
                  </a:txBody>
                  <a:tcPr/>
                </a:tc>
                <a:extLst>
                  <a:ext uri="{0D108BD9-81ED-4DB2-BD59-A6C34878D82A}">
                    <a16:rowId xmlns:a16="http://schemas.microsoft.com/office/drawing/2014/main" val="813796326"/>
                  </a:ext>
                </a:extLst>
              </a:tr>
              <a:tr h="329184">
                <a:tc>
                  <a:txBody>
                    <a:bodyPr/>
                    <a:lstStyle/>
                    <a:p>
                      <a:r>
                        <a:rPr lang="en-US" sz="1600" dirty="0"/>
                        <a:t>Pearson correlation</a:t>
                      </a:r>
                    </a:p>
                  </a:txBody>
                  <a:tcPr/>
                </a:tc>
                <a:tc>
                  <a:txBody>
                    <a:bodyPr/>
                    <a:lstStyle/>
                    <a:p>
                      <a:r>
                        <a:rPr lang="en-US" sz="1600" dirty="0"/>
                        <a:t>Age and hours are not correlated</a:t>
                      </a:r>
                    </a:p>
                  </a:txBody>
                  <a:tcPr/>
                </a:tc>
                <a:tc>
                  <a:txBody>
                    <a:bodyPr/>
                    <a:lstStyle/>
                    <a:p>
                      <a:r>
                        <a:rPr lang="en-US" sz="1600" dirty="0"/>
                        <a:t>r = 0.10, p &lt; 0.001</a:t>
                      </a:r>
                    </a:p>
                  </a:txBody>
                  <a:tcPr/>
                </a:tc>
                <a:tc>
                  <a:txBody>
                    <a:bodyPr/>
                    <a:lstStyle/>
                    <a:p>
                      <a:r>
                        <a:rPr lang="en-US" sz="1600" dirty="0"/>
                        <a:t>Reject (very weak)</a:t>
                      </a:r>
                    </a:p>
                  </a:txBody>
                  <a:tcPr/>
                </a:tc>
                <a:extLst>
                  <a:ext uri="{0D108BD9-81ED-4DB2-BD59-A6C34878D82A}">
                    <a16:rowId xmlns:a16="http://schemas.microsoft.com/office/drawing/2014/main" val="2387954906"/>
                  </a:ext>
                </a:extLst>
              </a:tr>
              <a:tr h="329184">
                <a:tc>
                  <a:txBody>
                    <a:bodyPr/>
                    <a:lstStyle/>
                    <a:p>
                      <a:r>
                        <a:rPr lang="en-US" sz="1600" dirty="0"/>
                        <a:t>Two-sample t-test</a:t>
                      </a:r>
                    </a:p>
                  </a:txBody>
                  <a:tcPr/>
                </a:tc>
                <a:tc>
                  <a:txBody>
                    <a:bodyPr/>
                    <a:lstStyle/>
                    <a:p>
                      <a:r>
                        <a:rPr lang="en-US" sz="1600" dirty="0"/>
                        <a:t>Women and men work the same hours</a:t>
                      </a:r>
                    </a:p>
                  </a:txBody>
                  <a:tcPr/>
                </a:tc>
                <a:tc>
                  <a:txBody>
                    <a:bodyPr/>
                    <a:lstStyle/>
                    <a:p>
                      <a:r>
                        <a:rPr lang="en-US" sz="1600" dirty="0"/>
                        <a:t>36.9 h vs 42.9 h, p &lt; 0.001</a:t>
                      </a:r>
                    </a:p>
                  </a:txBody>
                  <a:tcPr/>
                </a:tc>
                <a:tc>
                  <a:txBody>
                    <a:bodyPr/>
                    <a:lstStyle/>
                    <a:p>
                      <a:r>
                        <a:rPr lang="en-US" sz="1600" dirty="0"/>
                        <a:t>Reject</a:t>
                      </a:r>
                    </a:p>
                  </a:txBody>
                  <a:tcPr/>
                </a:tc>
                <a:extLst>
                  <a:ext uri="{0D108BD9-81ED-4DB2-BD59-A6C34878D82A}">
                    <a16:rowId xmlns:a16="http://schemas.microsoft.com/office/drawing/2014/main" val="2366425238"/>
                  </a:ext>
                </a:extLst>
              </a:tr>
              <a:tr h="329184">
                <a:tc>
                  <a:txBody>
                    <a:bodyPr/>
                    <a:lstStyle/>
                    <a:p>
                      <a:r>
                        <a:rPr lang="en-US" sz="1600" dirty="0"/>
                        <a:t>Two proportions z-test</a:t>
                      </a:r>
                    </a:p>
                  </a:txBody>
                  <a:tcPr/>
                </a:tc>
                <a:tc>
                  <a:txBody>
                    <a:bodyPr/>
                    <a:lstStyle/>
                    <a:p>
                      <a:r>
                        <a:rPr lang="en-US" sz="1600" dirty="0"/>
                        <a:t>Same share of women and men earn &gt;50K</a:t>
                      </a:r>
                    </a:p>
                  </a:txBody>
                  <a:tcPr/>
                </a:tc>
                <a:tc>
                  <a:txBody>
                    <a:bodyPr/>
                    <a:lstStyle/>
                    <a:p>
                      <a:r>
                        <a:rPr lang="en-US" sz="1600" dirty="0"/>
                        <a:t>11.4% vs 31.3%, p &lt; 0.001</a:t>
                      </a:r>
                    </a:p>
                  </a:txBody>
                  <a:tcPr/>
                </a:tc>
                <a:tc>
                  <a:txBody>
                    <a:bodyPr/>
                    <a:lstStyle/>
                    <a:p>
                      <a:r>
                        <a:rPr lang="en-US" sz="1600" dirty="0"/>
                        <a:t>Reject</a:t>
                      </a:r>
                    </a:p>
                  </a:txBody>
                  <a:tcPr/>
                </a:tc>
                <a:extLst>
                  <a:ext uri="{0D108BD9-81ED-4DB2-BD59-A6C34878D82A}">
                    <a16:rowId xmlns:a16="http://schemas.microsoft.com/office/drawing/2014/main" val="1660286720"/>
                  </a:ext>
                </a:extLst>
              </a:tr>
              <a:tr h="329184">
                <a:tc>
                  <a:txBody>
                    <a:bodyPr/>
                    <a:lstStyle/>
                    <a:p>
                      <a:r>
                        <a:rPr lang="en-US" sz="1600" dirty="0"/>
                        <a:t>χ² goodness of fit</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Sex split is 50/50</a:t>
                      </a:r>
                    </a:p>
                  </a:txBody>
                  <a:tcPr/>
                </a:tc>
                <a:tc>
                  <a:txBody>
                    <a:bodyPr/>
                    <a:lstStyle/>
                    <a:p>
                      <a:r>
                        <a:rPr lang="en-US" sz="1600" dirty="0"/>
                        <a:t>32.5% women, 67.5% men</a:t>
                      </a:r>
                    </a:p>
                  </a:txBody>
                  <a:tcPr/>
                </a:tc>
                <a:tc>
                  <a:txBody>
                    <a:bodyPr/>
                    <a:lstStyle/>
                    <a:p>
                      <a:r>
                        <a:rPr lang="en-US" sz="1600" dirty="0"/>
                        <a:t>Reject</a:t>
                      </a:r>
                    </a:p>
                  </a:txBody>
                  <a:tcPr/>
                </a:tc>
                <a:extLst>
                  <a:ext uri="{0D108BD9-81ED-4DB2-BD59-A6C34878D82A}">
                    <a16:rowId xmlns:a16="http://schemas.microsoft.com/office/drawing/2014/main" val="1605179228"/>
                  </a:ext>
                </a:extLst>
              </a:tr>
              <a:tr h="3291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χ² independence</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Income does not depend on education</a:t>
                      </a:r>
                    </a:p>
                  </a:txBody>
                  <a:tcPr/>
                </a:tc>
                <a:tc>
                  <a:txBody>
                    <a:bodyPr/>
                    <a:lstStyle/>
                    <a:p>
                      <a:r>
                        <a:rPr lang="en-US" sz="1600" dirty="0"/>
                        <a:t>χ² = 5,996, p &lt; 0.001</a:t>
                      </a:r>
                      <a:endParaRPr lang="en-US" dirty="0"/>
                    </a:p>
                  </a:txBody>
                  <a:tcPr/>
                </a:tc>
                <a:tc>
                  <a:txBody>
                    <a:bodyPr/>
                    <a:lstStyle/>
                    <a:p>
                      <a:r>
                        <a:rPr lang="en-US" sz="1600" dirty="0"/>
                        <a:t>Reject</a:t>
                      </a:r>
                    </a:p>
                  </a:txBody>
                  <a:tcPr/>
                </a:tc>
                <a:extLst>
                  <a:ext uri="{0D108BD9-81ED-4DB2-BD59-A6C34878D82A}">
                    <a16:rowId xmlns:a16="http://schemas.microsoft.com/office/drawing/2014/main" val="3185729100"/>
                  </a:ext>
                </a:extLst>
              </a:tr>
              <a:tr h="3291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χ² homogeneity</a:t>
                      </a:r>
                      <a:endParaRPr lang="en-US" dirty="0"/>
                    </a:p>
                  </a:txBody>
                  <a:tcPr/>
                </a:tc>
                <a:tc>
                  <a:txBody>
                    <a:bodyPr/>
                    <a:lstStyle/>
                    <a:p>
                      <a:r>
                        <a:rPr lang="en-US" sz="1600" dirty="0"/>
                        <a:t>Income distribution is the same in all race groups</a:t>
                      </a:r>
                    </a:p>
                  </a:txBody>
                  <a:tcPr/>
                </a:tc>
                <a:tc>
                  <a:txBody>
                    <a:bodyPr/>
                    <a:lstStyle/>
                    <a:p>
                      <a:r>
                        <a:rPr lang="en-US" sz="1600" dirty="0"/>
                        <a:t>χ² = 453, p &lt; 0.001</a:t>
                      </a:r>
                      <a:endParaRPr lang="en-US" dirty="0"/>
                    </a:p>
                  </a:txBody>
                  <a:tcPr/>
                </a:tc>
                <a:tc>
                  <a:txBody>
                    <a:bodyPr/>
                    <a:lstStyle/>
                    <a:p>
                      <a:r>
                        <a:rPr lang="en-US" sz="1600" dirty="0"/>
                        <a:t>Reject</a:t>
                      </a:r>
                    </a:p>
                  </a:txBody>
                  <a:tcPr/>
                </a:tc>
                <a:extLst>
                  <a:ext uri="{0D108BD9-81ED-4DB2-BD59-A6C34878D82A}">
                    <a16:rowId xmlns:a16="http://schemas.microsoft.com/office/drawing/2014/main" val="3890059114"/>
                  </a:ext>
                </a:extLst>
              </a:tr>
            </a:tbl>
          </a:graphicData>
        </a:graphic>
      </p:graphicFrame>
      <p:sp>
        <p:nvSpPr>
          <p:cNvPr id="5" name="Test note"/>
          <p:cNvSpPr txBox="1"/>
          <p:nvPr/>
        </p:nvSpPr>
        <p:spPr>
          <a:xfrm>
            <a:off x="731520" y="6035040"/>
            <a:ext cx="10780776" cy="685800"/>
          </a:xfrm>
          <a:prstGeom prst="rect">
            <a:avLst/>
          </a:prstGeom>
          <a:noFill/>
        </p:spPr>
        <p:txBody>
          <a:bodyPr wrap="square">
            <a:spAutoFit/>
          </a:bodyPr>
          <a:lstStyle/>
          <a:p>
            <a:pPr>
              <a:spcAft>
                <a:spcPts val="600"/>
              </a:spcAft>
            </a:pPr>
            <a:r>
              <a:rPr sz="1400" b="0"/>
              <a:t>Train and test together, 45,194 people, α = 0.05.</a:t>
            </a:r>
          </a:p>
        </p:txBody>
      </p:sp>
    </p:spTree>
    <p:extLst>
      <p:ext uri="{BB962C8B-B14F-4D97-AF65-F5344CB8AC3E}">
        <p14:creationId xmlns:p14="http://schemas.microsoft.com/office/powerpoint/2010/main" val="1840895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00EFB-44BC-27F7-C702-5C67FD799433}"/>
              </a:ext>
            </a:extLst>
          </p:cNvPr>
          <p:cNvSpPr>
            <a:spLocks noGrp="1"/>
          </p:cNvSpPr>
          <p:nvPr>
            <p:ph type="title"/>
          </p:nvPr>
        </p:nvSpPr>
        <p:spPr/>
        <p:txBody>
          <a:bodyPr/>
          <a:lstStyle/>
          <a:p>
            <a:r>
              <a:rPr lang="en-US" dirty="0"/>
              <a:t>Regression</a:t>
            </a:r>
          </a:p>
        </p:txBody>
      </p:sp>
      <p:sp>
        <p:nvSpPr>
          <p:cNvPr id="3" name="Linear text"/>
          <p:cNvSpPr txBox="1"/>
          <p:nvPr/>
        </p:nvSpPr>
        <p:spPr>
          <a:xfrm>
            <a:off x="731520" y="2057400"/>
            <a:ext cx="5852160" cy="1828800"/>
          </a:xfrm>
          <a:prstGeom prst="rect">
            <a:avLst/>
          </a:prstGeom>
          <a:noFill/>
        </p:spPr>
        <p:txBody>
          <a:bodyPr wrap="square">
            <a:spAutoFit/>
          </a:bodyPr>
          <a:lstStyle/>
          <a:p>
            <a:pPr>
              <a:spcAft>
                <a:spcPts val="400"/>
              </a:spcAft>
            </a:pPr>
            <a:r>
              <a:rPr sz="1600" b="1"/>
              <a:t>Linear regression (hours-per-week)</a:t>
            </a:r>
          </a:p>
          <a:p>
            <a:pPr>
              <a:spcAft>
                <a:spcPts val="400"/>
              </a:spcAft>
            </a:pPr>
            <a:r>
              <a:rPr sz="1600" b="0"/>
              <a:t>hours = 27.33 + 0.070 × age + 0.696 × education-num + 5.73 × male. F = 899 is significant, but R² = 0.078 on test, so it explains very little.</a:t>
            </a:r>
          </a:p>
        </p:txBody>
      </p:sp>
      <p:sp>
        <p:nvSpPr>
          <p:cNvPr id="4" name="Logistic header"/>
          <p:cNvSpPr txBox="1"/>
          <p:nvPr/>
        </p:nvSpPr>
        <p:spPr>
          <a:xfrm>
            <a:off x="731520" y="3886200"/>
            <a:ext cx="5852160" cy="411480"/>
          </a:xfrm>
          <a:prstGeom prst="rect">
            <a:avLst/>
          </a:prstGeom>
          <a:noFill/>
        </p:spPr>
        <p:txBody>
          <a:bodyPr wrap="square">
            <a:spAutoFit/>
          </a:bodyPr>
          <a:lstStyle/>
          <a:p>
            <a:pPr>
              <a:spcAft>
                <a:spcPts val="600"/>
              </a:spcAft>
            </a:pPr>
            <a:r>
              <a:rPr sz="1600" b="1"/>
              <a:t>Logistic regression (income &gt;50K), test set</a:t>
            </a:r>
          </a:p>
        </p:txBody>
      </p:sp>
      <p:graphicFrame>
        <p:nvGraphicFramePr>
          <p:cNvPr id="5" name="Logistic metrics"/>
          <p:cNvGraphicFramePr>
            <a:graphicFrameLocks noGrp="1"/>
          </p:cNvGraphicFramePr>
          <p:nvPr/>
        </p:nvGraphicFramePr>
        <p:xfrm>
          <a:off x="731520" y="4343400"/>
          <a:ext cx="5852160" cy="731520"/>
        </p:xfrm>
        <a:graphic>
          <a:graphicData uri="http://schemas.openxmlformats.org/drawingml/2006/table">
            <a:tbl>
              <a:tblPr firstRow="1" bandRow="1">
                <a:tableStyleId>{5C22544A-7EE6-4342-B048-85BDC9FD1C3A}</a:tableStyleId>
              </a:tblPr>
              <a:tblGrid>
                <a:gridCol w="1170432">
                  <a:extLst>
                    <a:ext uri="{9D8B030D-6E8A-4147-A177-3AD203B41FA5}">
                      <a16:colId xmlns:a16="http://schemas.microsoft.com/office/drawing/2014/main" val="20000"/>
                    </a:ext>
                  </a:extLst>
                </a:gridCol>
                <a:gridCol w="1170432">
                  <a:extLst>
                    <a:ext uri="{9D8B030D-6E8A-4147-A177-3AD203B41FA5}">
                      <a16:colId xmlns:a16="http://schemas.microsoft.com/office/drawing/2014/main" val="20001"/>
                    </a:ext>
                  </a:extLst>
                </a:gridCol>
                <a:gridCol w="1170432">
                  <a:extLst>
                    <a:ext uri="{9D8B030D-6E8A-4147-A177-3AD203B41FA5}">
                      <a16:colId xmlns:a16="http://schemas.microsoft.com/office/drawing/2014/main" val="20002"/>
                    </a:ext>
                  </a:extLst>
                </a:gridCol>
                <a:gridCol w="1170432">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365760">
                <a:tc>
                  <a:txBody>
                    <a:bodyPr/>
                    <a:lstStyle/>
                    <a:p>
                      <a:r>
                        <a:rPr sz="1600"/>
                        <a:t>Accuracy</a:t>
                      </a:r>
                    </a:p>
                  </a:txBody>
                  <a:tcPr marT="27432" marB="27432"/>
                </a:tc>
                <a:tc>
                  <a:txBody>
                    <a:bodyPr/>
                    <a:lstStyle/>
                    <a:p>
                      <a:r>
                        <a:rPr sz="1600"/>
                        <a:t>Precision</a:t>
                      </a:r>
                    </a:p>
                  </a:txBody>
                  <a:tcPr marT="27432" marB="27432"/>
                </a:tc>
                <a:tc>
                  <a:txBody>
                    <a:bodyPr/>
                    <a:lstStyle/>
                    <a:p>
                      <a:r>
                        <a:rPr sz="1600"/>
                        <a:t>Recall</a:t>
                      </a:r>
                    </a:p>
                  </a:txBody>
                  <a:tcPr marT="27432" marB="27432"/>
                </a:tc>
                <a:tc>
                  <a:txBody>
                    <a:bodyPr/>
                    <a:lstStyle/>
                    <a:p>
                      <a:r>
                        <a:rPr sz="1600"/>
                        <a:t>F1</a:t>
                      </a:r>
                    </a:p>
                  </a:txBody>
                  <a:tcPr marT="27432" marB="27432"/>
                </a:tc>
                <a:tc>
                  <a:txBody>
                    <a:bodyPr/>
                    <a:lstStyle/>
                    <a:p>
                      <a:r>
                        <a:rPr sz="1600"/>
                        <a:t>ROC-AUC</a:t>
                      </a:r>
                    </a:p>
                  </a:txBody>
                  <a:tcPr marT="27432" marB="27432"/>
                </a:tc>
                <a:extLst>
                  <a:ext uri="{0D108BD9-81ED-4DB2-BD59-A6C34878D82A}">
                    <a16:rowId xmlns:a16="http://schemas.microsoft.com/office/drawing/2014/main" val="10000"/>
                  </a:ext>
                </a:extLst>
              </a:tr>
              <a:tr h="365760">
                <a:tc>
                  <a:txBody>
                    <a:bodyPr/>
                    <a:lstStyle/>
                    <a:p>
                      <a:r>
                        <a:rPr sz="1600"/>
                        <a:t>0.849</a:t>
                      </a:r>
                    </a:p>
                  </a:txBody>
                  <a:tcPr marT="27432" marB="27432"/>
                </a:tc>
                <a:tc>
                  <a:txBody>
                    <a:bodyPr/>
                    <a:lstStyle/>
                    <a:p>
                      <a:r>
                        <a:rPr sz="1600"/>
                        <a:t>0.734</a:t>
                      </a:r>
                    </a:p>
                  </a:txBody>
                  <a:tcPr marT="27432" marB="27432"/>
                </a:tc>
                <a:tc>
                  <a:txBody>
                    <a:bodyPr/>
                    <a:lstStyle/>
                    <a:p>
                      <a:r>
                        <a:rPr sz="1600"/>
                        <a:t>0.606</a:t>
                      </a:r>
                    </a:p>
                  </a:txBody>
                  <a:tcPr marT="27432" marB="27432"/>
                </a:tc>
                <a:tc>
                  <a:txBody>
                    <a:bodyPr/>
                    <a:lstStyle/>
                    <a:p>
                      <a:r>
                        <a:rPr sz="1600"/>
                        <a:t>0.664</a:t>
                      </a:r>
                    </a:p>
                  </a:txBody>
                  <a:tcPr marT="27432" marB="27432"/>
                </a:tc>
                <a:tc>
                  <a:txBody>
                    <a:bodyPr/>
                    <a:lstStyle/>
                    <a:p>
                      <a:r>
                        <a:rPr sz="1600"/>
                        <a:t>0.905</a:t>
                      </a:r>
                    </a:p>
                  </a:txBody>
                  <a:tcPr marT="27432" marB="27432"/>
                </a:tc>
                <a:extLst>
                  <a:ext uri="{0D108BD9-81ED-4DB2-BD59-A6C34878D82A}">
                    <a16:rowId xmlns:a16="http://schemas.microsoft.com/office/drawing/2014/main" val="10001"/>
                  </a:ext>
                </a:extLst>
              </a:tr>
            </a:tbl>
          </a:graphicData>
        </a:graphic>
      </p:graphicFrame>
      <p:sp>
        <p:nvSpPr>
          <p:cNvPr id="6" name="Logistic baseline"/>
          <p:cNvSpPr txBox="1"/>
          <p:nvPr/>
        </p:nvSpPr>
        <p:spPr>
          <a:xfrm>
            <a:off x="731520" y="5212080"/>
            <a:ext cx="5852160" cy="457200"/>
          </a:xfrm>
          <a:prstGeom prst="rect">
            <a:avLst/>
          </a:prstGeom>
          <a:noFill/>
        </p:spPr>
        <p:txBody>
          <a:bodyPr wrap="square">
            <a:spAutoFit/>
          </a:bodyPr>
          <a:lstStyle/>
          <a:p>
            <a:pPr>
              <a:spcAft>
                <a:spcPts val="600"/>
              </a:spcAft>
            </a:pPr>
            <a:r>
              <a:rPr sz="1600" b="0"/>
              <a:t>Always predicting ≤50K: accuracy 0.754.</a:t>
            </a:r>
          </a:p>
        </p:txBody>
      </p:sp>
      <p:pic>
        <p:nvPicPr>
          <p:cNvPr id="7" name="05b" descr="05b.png"/>
          <p:cNvPicPr>
            <a:picLocks noChangeAspect="1"/>
          </p:cNvPicPr>
          <p:nvPr/>
        </p:nvPicPr>
        <p:blipFill>
          <a:blip r:embed="rId3"/>
          <a:stretch>
            <a:fillRect/>
          </a:stretch>
        </p:blipFill>
        <p:spPr>
          <a:xfrm>
            <a:off x="6812280" y="2148840"/>
            <a:ext cx="4654773" cy="3657600"/>
          </a:xfrm>
          <a:prstGeom prst="rect">
            <a:avLst/>
          </a:prstGeom>
        </p:spPr>
      </p:pic>
    </p:spTree>
    <p:extLst>
      <p:ext uri="{BB962C8B-B14F-4D97-AF65-F5344CB8AC3E}">
        <p14:creationId xmlns:p14="http://schemas.microsoft.com/office/powerpoint/2010/main" val="3154753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33BD5-9F61-9090-4298-F81FE00388A8}"/>
              </a:ext>
            </a:extLst>
          </p:cNvPr>
          <p:cNvSpPr>
            <a:spLocks noGrp="1"/>
          </p:cNvSpPr>
          <p:nvPr>
            <p:ph type="title"/>
          </p:nvPr>
        </p:nvSpPr>
        <p:spPr/>
        <p:txBody>
          <a:bodyPr/>
          <a:lstStyle/>
          <a:p>
            <a:r>
              <a:rPr lang="en-US" dirty="0"/>
              <a:t>Decision tree</a:t>
            </a:r>
          </a:p>
        </p:txBody>
      </p:sp>
      <p:graphicFrame>
        <p:nvGraphicFramePr>
          <p:cNvPr id="3" name="Tree tuning"/>
          <p:cNvGraphicFramePr>
            <a:graphicFrameLocks noGrp="1"/>
          </p:cNvGraphicFramePr>
          <p:nvPr>
            <p:extLst>
              <p:ext uri="{D42A27DB-BD31-4B8C-83A1-F6EECF244321}">
                <p14:modId xmlns:p14="http://schemas.microsoft.com/office/powerpoint/2010/main" val="1059991547"/>
              </p:ext>
            </p:extLst>
          </p:nvPr>
        </p:nvGraphicFramePr>
        <p:xfrm>
          <a:off x="731520" y="2103120"/>
          <a:ext cx="6035040" cy="146304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65760">
                <a:tc>
                  <a:txBody>
                    <a:bodyPr/>
                    <a:lstStyle/>
                    <a:p>
                      <a:r>
                        <a:rPr sz="1600"/>
                        <a:t>Tree</a:t>
                      </a:r>
                    </a:p>
                  </a:txBody>
                  <a:tcPr marT="27432" marB="27432"/>
                </a:tc>
                <a:tc>
                  <a:txBody>
                    <a:bodyPr/>
                    <a:lstStyle/>
                    <a:p>
                      <a:r>
                        <a:rPr sz="1600"/>
                        <a:t>Train accuracy</a:t>
                      </a:r>
                    </a:p>
                  </a:txBody>
                  <a:tcPr marT="27432" marB="27432"/>
                </a:tc>
                <a:tc>
                  <a:txBody>
                    <a:bodyPr/>
                    <a:lstStyle/>
                    <a:p>
                      <a:r>
                        <a:rPr sz="1600"/>
                        <a:t>CV F1</a:t>
                      </a:r>
                    </a:p>
                  </a:txBody>
                  <a:tcPr marT="27432" marB="27432"/>
                </a:tc>
                <a:extLst>
                  <a:ext uri="{0D108BD9-81ED-4DB2-BD59-A6C34878D82A}">
                    <a16:rowId xmlns:a16="http://schemas.microsoft.com/office/drawing/2014/main" val="10000"/>
                  </a:ext>
                </a:extLst>
              </a:tr>
              <a:tr h="365760">
                <a:tc>
                  <a:txBody>
                    <a:bodyPr/>
                    <a:lstStyle/>
                    <a:p>
                      <a:r>
                        <a:rPr sz="1600"/>
                        <a:t>No limits</a:t>
                      </a:r>
                    </a:p>
                  </a:txBody>
                  <a:tcPr marT="27432" marB="27432"/>
                </a:tc>
                <a:tc>
                  <a:txBody>
                    <a:bodyPr/>
                    <a:lstStyle/>
                    <a:p>
                      <a:r>
                        <a:rPr sz="1600"/>
                        <a:t>97.7%</a:t>
                      </a:r>
                    </a:p>
                  </a:txBody>
                  <a:tcPr marT="27432" marB="27432"/>
                </a:tc>
                <a:tc>
                  <a:txBody>
                    <a:bodyPr/>
                    <a:lstStyle/>
                    <a:p>
                      <a:r>
                        <a:rPr sz="1600"/>
                        <a:t>0.624</a:t>
                      </a:r>
                    </a:p>
                  </a:txBody>
                  <a:tcPr marT="27432" marB="27432"/>
                </a:tc>
                <a:extLst>
                  <a:ext uri="{0D108BD9-81ED-4DB2-BD59-A6C34878D82A}">
                    <a16:rowId xmlns:a16="http://schemas.microsoft.com/office/drawing/2014/main" val="10001"/>
                  </a:ext>
                </a:extLst>
              </a:tr>
              <a:tr h="365760">
                <a:tc>
                  <a:txBody>
                    <a:bodyPr/>
                    <a:lstStyle/>
                    <a:p>
                      <a:r>
                        <a:rPr sz="1600"/>
                        <a:t>max_depth = 9</a:t>
                      </a:r>
                    </a:p>
                  </a:txBody>
                  <a:tcPr marT="27432" marB="27432"/>
                </a:tc>
                <a:tc>
                  <a:txBody>
                    <a:bodyPr/>
                    <a:lstStyle/>
                    <a:p>
                      <a:r>
                        <a:rPr sz="1600"/>
                        <a:t>86.4%</a:t>
                      </a:r>
                    </a:p>
                  </a:txBody>
                  <a:tcPr marT="27432" marB="27432"/>
                </a:tc>
                <a:tc>
                  <a:txBody>
                    <a:bodyPr/>
                    <a:lstStyle/>
                    <a:p>
                      <a:r>
                        <a:rPr sz="1600"/>
                        <a:t>0.667</a:t>
                      </a:r>
                    </a:p>
                  </a:txBody>
                  <a:tcPr marT="27432" marB="27432"/>
                </a:tc>
                <a:extLst>
                  <a:ext uri="{0D108BD9-81ED-4DB2-BD59-A6C34878D82A}">
                    <a16:rowId xmlns:a16="http://schemas.microsoft.com/office/drawing/2014/main" val="10002"/>
                  </a:ext>
                </a:extLst>
              </a:tr>
              <a:tr h="365760">
                <a:tc>
                  <a:txBody>
                    <a:bodyPr/>
                    <a:lstStyle/>
                    <a:p>
                      <a:r>
                        <a:rPr sz="1600" b="1"/>
                        <a:t>min_samples_leaf = 20 (final)</a:t>
                      </a:r>
                    </a:p>
                  </a:txBody>
                  <a:tcPr marT="27432" marB="27432"/>
                </a:tc>
                <a:tc>
                  <a:txBody>
                    <a:bodyPr/>
                    <a:lstStyle/>
                    <a:p>
                      <a:r>
                        <a:rPr sz="1600" b="1" dirty="0"/>
                        <a:t>87.2%</a:t>
                      </a:r>
                    </a:p>
                  </a:txBody>
                  <a:tcPr marT="27432" marB="27432"/>
                </a:tc>
                <a:tc>
                  <a:txBody>
                    <a:bodyPr/>
                    <a:lstStyle/>
                    <a:p>
                      <a:r>
                        <a:rPr sz="1600" b="1" dirty="0"/>
                        <a:t>0.678</a:t>
                      </a:r>
                    </a:p>
                  </a:txBody>
                  <a:tcPr marT="27432" marB="27432"/>
                </a:tc>
                <a:extLst>
                  <a:ext uri="{0D108BD9-81ED-4DB2-BD59-A6C34878D82A}">
                    <a16:rowId xmlns:a16="http://schemas.microsoft.com/office/drawing/2014/main" val="10003"/>
                  </a:ext>
                </a:extLst>
              </a:tr>
            </a:tbl>
          </a:graphicData>
        </a:graphic>
      </p:graphicFrame>
      <p:sp>
        <p:nvSpPr>
          <p:cNvPr id="4" name="Tree CV note"/>
          <p:cNvSpPr txBox="1"/>
          <p:nvPr/>
        </p:nvSpPr>
        <p:spPr>
          <a:xfrm>
            <a:off x="731520" y="3931920"/>
            <a:ext cx="6035040" cy="731520"/>
          </a:xfrm>
          <a:prstGeom prst="rect">
            <a:avLst/>
          </a:prstGeom>
          <a:noFill/>
        </p:spPr>
        <p:txBody>
          <a:bodyPr wrap="square">
            <a:spAutoFit/>
          </a:bodyPr>
          <a:lstStyle/>
          <a:p>
            <a:pPr>
              <a:spcAft>
                <a:spcPts val="600"/>
              </a:spcAft>
            </a:pPr>
            <a:r>
              <a:rPr sz="1600" b="0" dirty="0"/>
              <a:t>Settings chosen with 5-fold cross-validation on train. The test set is used only once, for the final tree.</a:t>
            </a:r>
          </a:p>
        </p:txBody>
      </p:sp>
      <p:sp>
        <p:nvSpPr>
          <p:cNvPr id="5" name="Tree test header"/>
          <p:cNvSpPr txBox="1"/>
          <p:nvPr/>
        </p:nvSpPr>
        <p:spPr>
          <a:xfrm>
            <a:off x="731520" y="4800600"/>
            <a:ext cx="6035040" cy="411480"/>
          </a:xfrm>
          <a:prstGeom prst="rect">
            <a:avLst/>
          </a:prstGeom>
          <a:noFill/>
        </p:spPr>
        <p:txBody>
          <a:bodyPr wrap="square">
            <a:spAutoFit/>
          </a:bodyPr>
          <a:lstStyle/>
          <a:p>
            <a:pPr>
              <a:spcAft>
                <a:spcPts val="600"/>
              </a:spcAft>
            </a:pPr>
            <a:r>
              <a:rPr sz="1600" b="1"/>
              <a:t>Final tree, test set</a:t>
            </a:r>
          </a:p>
        </p:txBody>
      </p:sp>
      <p:graphicFrame>
        <p:nvGraphicFramePr>
          <p:cNvPr id="6" name="Tree metrics"/>
          <p:cNvGraphicFramePr>
            <a:graphicFrameLocks noGrp="1"/>
          </p:cNvGraphicFramePr>
          <p:nvPr/>
        </p:nvGraphicFramePr>
        <p:xfrm>
          <a:off x="731520" y="5257800"/>
          <a:ext cx="6035040" cy="731520"/>
        </p:xfrm>
        <a:graphic>
          <a:graphicData uri="http://schemas.openxmlformats.org/drawingml/2006/table">
            <a:tbl>
              <a:tblPr firstRow="1" bandRow="1">
                <a:tableStyleId>{5C22544A-7EE6-4342-B048-85BDC9FD1C3A}</a:tableStyleId>
              </a:tblPr>
              <a:tblGrid>
                <a:gridCol w="1207008">
                  <a:extLst>
                    <a:ext uri="{9D8B030D-6E8A-4147-A177-3AD203B41FA5}">
                      <a16:colId xmlns:a16="http://schemas.microsoft.com/office/drawing/2014/main" val="20000"/>
                    </a:ext>
                  </a:extLst>
                </a:gridCol>
                <a:gridCol w="1207008">
                  <a:extLst>
                    <a:ext uri="{9D8B030D-6E8A-4147-A177-3AD203B41FA5}">
                      <a16:colId xmlns:a16="http://schemas.microsoft.com/office/drawing/2014/main" val="20001"/>
                    </a:ext>
                  </a:extLst>
                </a:gridCol>
                <a:gridCol w="1207008">
                  <a:extLst>
                    <a:ext uri="{9D8B030D-6E8A-4147-A177-3AD203B41FA5}">
                      <a16:colId xmlns:a16="http://schemas.microsoft.com/office/drawing/2014/main" val="20002"/>
                    </a:ext>
                  </a:extLst>
                </a:gridCol>
                <a:gridCol w="1207008">
                  <a:extLst>
                    <a:ext uri="{9D8B030D-6E8A-4147-A177-3AD203B41FA5}">
                      <a16:colId xmlns:a16="http://schemas.microsoft.com/office/drawing/2014/main" val="20003"/>
                    </a:ext>
                  </a:extLst>
                </a:gridCol>
                <a:gridCol w="1207008">
                  <a:extLst>
                    <a:ext uri="{9D8B030D-6E8A-4147-A177-3AD203B41FA5}">
                      <a16:colId xmlns:a16="http://schemas.microsoft.com/office/drawing/2014/main" val="20004"/>
                    </a:ext>
                  </a:extLst>
                </a:gridCol>
              </a:tblGrid>
              <a:tr h="365760">
                <a:tc>
                  <a:txBody>
                    <a:bodyPr/>
                    <a:lstStyle/>
                    <a:p>
                      <a:r>
                        <a:rPr sz="1600"/>
                        <a:t>Accuracy</a:t>
                      </a:r>
                    </a:p>
                  </a:txBody>
                  <a:tcPr marT="27432" marB="27432"/>
                </a:tc>
                <a:tc>
                  <a:txBody>
                    <a:bodyPr/>
                    <a:lstStyle/>
                    <a:p>
                      <a:r>
                        <a:rPr sz="1600"/>
                        <a:t>Precision</a:t>
                      </a:r>
                    </a:p>
                  </a:txBody>
                  <a:tcPr marT="27432" marB="27432"/>
                </a:tc>
                <a:tc>
                  <a:txBody>
                    <a:bodyPr/>
                    <a:lstStyle/>
                    <a:p>
                      <a:r>
                        <a:rPr sz="1600"/>
                        <a:t>Recall</a:t>
                      </a:r>
                    </a:p>
                  </a:txBody>
                  <a:tcPr marT="27432" marB="27432"/>
                </a:tc>
                <a:tc>
                  <a:txBody>
                    <a:bodyPr/>
                    <a:lstStyle/>
                    <a:p>
                      <a:r>
                        <a:rPr sz="1600"/>
                        <a:t>F1</a:t>
                      </a:r>
                    </a:p>
                  </a:txBody>
                  <a:tcPr marT="27432" marB="27432"/>
                </a:tc>
                <a:tc>
                  <a:txBody>
                    <a:bodyPr/>
                    <a:lstStyle/>
                    <a:p>
                      <a:r>
                        <a:rPr sz="1600"/>
                        <a:t>ROC-AUC</a:t>
                      </a:r>
                    </a:p>
                  </a:txBody>
                  <a:tcPr marT="27432" marB="27432"/>
                </a:tc>
                <a:extLst>
                  <a:ext uri="{0D108BD9-81ED-4DB2-BD59-A6C34878D82A}">
                    <a16:rowId xmlns:a16="http://schemas.microsoft.com/office/drawing/2014/main" val="10000"/>
                  </a:ext>
                </a:extLst>
              </a:tr>
              <a:tr h="365760">
                <a:tc>
                  <a:txBody>
                    <a:bodyPr/>
                    <a:lstStyle/>
                    <a:p>
                      <a:r>
                        <a:rPr sz="1600"/>
                        <a:t>0.850</a:t>
                      </a:r>
                    </a:p>
                  </a:txBody>
                  <a:tcPr marT="27432" marB="27432"/>
                </a:tc>
                <a:tc>
                  <a:txBody>
                    <a:bodyPr/>
                    <a:lstStyle/>
                    <a:p>
                      <a:r>
                        <a:rPr sz="1600"/>
                        <a:t>0.742</a:t>
                      </a:r>
                    </a:p>
                  </a:txBody>
                  <a:tcPr marT="27432" marB="27432"/>
                </a:tc>
                <a:tc>
                  <a:txBody>
                    <a:bodyPr/>
                    <a:lstStyle/>
                    <a:p>
                      <a:r>
                        <a:rPr sz="1600"/>
                        <a:t>0.600</a:t>
                      </a:r>
                    </a:p>
                  </a:txBody>
                  <a:tcPr marT="27432" marB="27432"/>
                </a:tc>
                <a:tc>
                  <a:txBody>
                    <a:bodyPr/>
                    <a:lstStyle/>
                    <a:p>
                      <a:r>
                        <a:rPr sz="1600"/>
                        <a:t>0.663</a:t>
                      </a:r>
                    </a:p>
                  </a:txBody>
                  <a:tcPr marT="27432" marB="27432"/>
                </a:tc>
                <a:tc>
                  <a:txBody>
                    <a:bodyPr/>
                    <a:lstStyle/>
                    <a:p>
                      <a:r>
                        <a:rPr sz="1600"/>
                        <a:t>0.896</a:t>
                      </a:r>
                    </a:p>
                  </a:txBody>
                  <a:tcPr marT="27432" marB="27432"/>
                </a:tc>
                <a:extLst>
                  <a:ext uri="{0D108BD9-81ED-4DB2-BD59-A6C34878D82A}">
                    <a16:rowId xmlns:a16="http://schemas.microsoft.com/office/drawing/2014/main" val="10001"/>
                  </a:ext>
                </a:extLst>
              </a:tr>
            </a:tbl>
          </a:graphicData>
        </a:graphic>
      </p:graphicFrame>
      <p:pic>
        <p:nvPicPr>
          <p:cNvPr id="11" name="Picture 10">
            <a:extLst>
              <a:ext uri="{FF2B5EF4-FFF2-40B4-BE49-F238E27FC236}">
                <a16:creationId xmlns:a16="http://schemas.microsoft.com/office/drawing/2014/main" id="{C1017EF6-4174-FE5F-4DE3-CD79A6BFD0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9432" y="2103120"/>
            <a:ext cx="4997248" cy="3868656"/>
          </a:xfrm>
          <a:prstGeom prst="rect">
            <a:avLst/>
          </a:prstGeom>
        </p:spPr>
      </p:pic>
    </p:spTree>
    <p:extLst>
      <p:ext uri="{BB962C8B-B14F-4D97-AF65-F5344CB8AC3E}">
        <p14:creationId xmlns:p14="http://schemas.microsoft.com/office/powerpoint/2010/main" val="1322300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3A0EB-7DD7-3525-FCFB-A30ABA308B44}"/>
              </a:ext>
            </a:extLst>
          </p:cNvPr>
          <p:cNvSpPr>
            <a:spLocks noGrp="1"/>
          </p:cNvSpPr>
          <p:nvPr>
            <p:ph type="title"/>
          </p:nvPr>
        </p:nvSpPr>
        <p:spPr>
          <a:xfrm>
            <a:off x="731520" y="365760"/>
            <a:ext cx="10741152" cy="1132258"/>
          </a:xfrm>
        </p:spPr>
        <p:txBody>
          <a:bodyPr anchor="b">
            <a:normAutofit/>
          </a:bodyPr>
          <a:lstStyle/>
          <a:p>
            <a:r>
              <a:rPr lang="en-US" dirty="0"/>
              <a:t>Decision tree</a:t>
            </a:r>
          </a:p>
        </p:txBody>
      </p:sp>
      <p:pic>
        <p:nvPicPr>
          <p:cNvPr id="5" name="Content Placeholder 4">
            <a:extLst>
              <a:ext uri="{FF2B5EF4-FFF2-40B4-BE49-F238E27FC236}">
                <a16:creationId xmlns:a16="http://schemas.microsoft.com/office/drawing/2014/main" id="{4E94D454-9B5C-1AC7-6D1A-409285B2C621}"/>
              </a:ext>
            </a:extLst>
          </p:cNvPr>
          <p:cNvPicPr>
            <a:picLocks noGrp="1" noChangeAspect="1"/>
          </p:cNvPicPr>
          <p:nvPr>
            <p:ph idx="1"/>
          </p:nvPr>
        </p:nvPicPr>
        <p:blipFill>
          <a:blip r:embed="rId2"/>
          <a:stretch>
            <a:fillRect/>
          </a:stretch>
        </p:blipFill>
        <p:spPr>
          <a:xfrm>
            <a:off x="731520" y="2355827"/>
            <a:ext cx="10780776" cy="3530703"/>
          </a:xfrm>
          <a:prstGeom prst="rect">
            <a:avLst/>
          </a:prstGeom>
          <a:noFill/>
        </p:spPr>
      </p:pic>
    </p:spTree>
    <p:extLst>
      <p:ext uri="{BB962C8B-B14F-4D97-AF65-F5344CB8AC3E}">
        <p14:creationId xmlns:p14="http://schemas.microsoft.com/office/powerpoint/2010/main" val="743138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comparison</a:t>
            </a:r>
          </a:p>
        </p:txBody>
      </p:sp>
      <p:graphicFrame>
        <p:nvGraphicFramePr>
          <p:cNvPr id="3" name="Model comparison"/>
          <p:cNvGraphicFramePr>
            <a:graphicFrameLocks noGrp="1"/>
          </p:cNvGraphicFramePr>
          <p:nvPr/>
        </p:nvGraphicFramePr>
        <p:xfrm>
          <a:off x="2194560" y="2194560"/>
          <a:ext cx="7772400" cy="352044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502920">
                <a:tc>
                  <a:txBody>
                    <a:bodyPr/>
                    <a:lstStyle/>
                    <a:p>
                      <a:r>
                        <a:rPr sz="2000"/>
                        <a:t>Model</a:t>
                      </a:r>
                    </a:p>
                  </a:txBody>
                  <a:tcPr marT="27432" marB="27432"/>
                </a:tc>
                <a:tc>
                  <a:txBody>
                    <a:bodyPr/>
                    <a:lstStyle/>
                    <a:p>
                      <a:r>
                        <a:rPr sz="2000"/>
                        <a:t>Test accuracy</a:t>
                      </a:r>
                    </a:p>
                  </a:txBody>
                  <a:tcPr marT="27432" marB="27432"/>
                </a:tc>
                <a:extLst>
                  <a:ext uri="{0D108BD9-81ED-4DB2-BD59-A6C34878D82A}">
                    <a16:rowId xmlns:a16="http://schemas.microsoft.com/office/drawing/2014/main" val="10000"/>
                  </a:ext>
                </a:extLst>
              </a:tr>
              <a:tr h="502920">
                <a:tc>
                  <a:txBody>
                    <a:bodyPr/>
                    <a:lstStyle/>
                    <a:p>
                      <a:r>
                        <a:rPr sz="2000"/>
                        <a:t>Always predicting ≤50K</a:t>
                      </a:r>
                    </a:p>
                  </a:txBody>
                  <a:tcPr marT="27432" marB="27432"/>
                </a:tc>
                <a:tc>
                  <a:txBody>
                    <a:bodyPr/>
                    <a:lstStyle/>
                    <a:p>
                      <a:r>
                        <a:rPr sz="2000"/>
                        <a:t>75.4%</a:t>
                      </a:r>
                    </a:p>
                  </a:txBody>
                  <a:tcPr marT="27432" marB="27432"/>
                </a:tc>
                <a:extLst>
                  <a:ext uri="{0D108BD9-81ED-4DB2-BD59-A6C34878D82A}">
                    <a16:rowId xmlns:a16="http://schemas.microsoft.com/office/drawing/2014/main" val="10001"/>
                  </a:ext>
                </a:extLst>
              </a:tr>
              <a:tr h="502920">
                <a:tc>
                  <a:txBody>
                    <a:bodyPr/>
                    <a:lstStyle/>
                    <a:p>
                      <a:r>
                        <a:rPr sz="2000"/>
                        <a:t>Naive Bayes (published in adult.names)</a:t>
                      </a:r>
                    </a:p>
                  </a:txBody>
                  <a:tcPr marT="27432" marB="27432"/>
                </a:tc>
                <a:tc>
                  <a:txBody>
                    <a:bodyPr/>
                    <a:lstStyle/>
                    <a:p>
                      <a:r>
                        <a:rPr sz="2000"/>
                        <a:t>83.9%</a:t>
                      </a:r>
                    </a:p>
                  </a:txBody>
                  <a:tcPr marT="27432" marB="27432"/>
                </a:tc>
                <a:extLst>
                  <a:ext uri="{0D108BD9-81ED-4DB2-BD59-A6C34878D82A}">
                    <a16:rowId xmlns:a16="http://schemas.microsoft.com/office/drawing/2014/main" val="10002"/>
                  </a:ext>
                </a:extLst>
              </a:tr>
              <a:tr h="502920">
                <a:tc>
                  <a:txBody>
                    <a:bodyPr/>
                    <a:lstStyle/>
                    <a:p>
                      <a:r>
                        <a:rPr sz="2000"/>
                        <a:t>C4.5 decision tree (published)</a:t>
                      </a:r>
                    </a:p>
                  </a:txBody>
                  <a:tcPr marT="27432" marB="27432"/>
                </a:tc>
                <a:tc>
                  <a:txBody>
                    <a:bodyPr/>
                    <a:lstStyle/>
                    <a:p>
                      <a:r>
                        <a:rPr sz="2000"/>
                        <a:t>84.5%</a:t>
                      </a:r>
                    </a:p>
                  </a:txBody>
                  <a:tcPr marT="27432" marB="27432"/>
                </a:tc>
                <a:extLst>
                  <a:ext uri="{0D108BD9-81ED-4DB2-BD59-A6C34878D82A}">
                    <a16:rowId xmlns:a16="http://schemas.microsoft.com/office/drawing/2014/main" val="10003"/>
                  </a:ext>
                </a:extLst>
              </a:tr>
              <a:tr h="502920">
                <a:tc>
                  <a:txBody>
                    <a:bodyPr/>
                    <a:lstStyle/>
                    <a:p>
                      <a:r>
                        <a:rPr sz="2000"/>
                        <a:t>NBTree (best published)</a:t>
                      </a:r>
                    </a:p>
                  </a:txBody>
                  <a:tcPr marT="27432" marB="27432"/>
                </a:tc>
                <a:tc>
                  <a:txBody>
                    <a:bodyPr/>
                    <a:lstStyle/>
                    <a:p>
                      <a:r>
                        <a:rPr sz="2000"/>
                        <a:t>85.9%</a:t>
                      </a:r>
                    </a:p>
                  </a:txBody>
                  <a:tcPr marT="27432" marB="27432"/>
                </a:tc>
                <a:extLst>
                  <a:ext uri="{0D108BD9-81ED-4DB2-BD59-A6C34878D82A}">
                    <a16:rowId xmlns:a16="http://schemas.microsoft.com/office/drawing/2014/main" val="10004"/>
                  </a:ext>
                </a:extLst>
              </a:tr>
              <a:tr h="502920">
                <a:tc>
                  <a:txBody>
                    <a:bodyPr/>
                    <a:lstStyle/>
                    <a:p>
                      <a:r>
                        <a:rPr sz="2000" b="1"/>
                        <a:t>Our logistic regression</a:t>
                      </a:r>
                    </a:p>
                  </a:txBody>
                  <a:tcPr marT="27432" marB="27432"/>
                </a:tc>
                <a:tc>
                  <a:txBody>
                    <a:bodyPr/>
                    <a:lstStyle/>
                    <a:p>
                      <a:r>
                        <a:rPr sz="2000" b="1"/>
                        <a:t>84.9%</a:t>
                      </a:r>
                    </a:p>
                  </a:txBody>
                  <a:tcPr marT="27432" marB="27432"/>
                </a:tc>
                <a:extLst>
                  <a:ext uri="{0D108BD9-81ED-4DB2-BD59-A6C34878D82A}">
                    <a16:rowId xmlns:a16="http://schemas.microsoft.com/office/drawing/2014/main" val="10005"/>
                  </a:ext>
                </a:extLst>
              </a:tr>
              <a:tr h="502920">
                <a:tc>
                  <a:txBody>
                    <a:bodyPr/>
                    <a:lstStyle/>
                    <a:p>
                      <a:r>
                        <a:rPr sz="2000" b="1"/>
                        <a:t>Our decision tree</a:t>
                      </a:r>
                    </a:p>
                  </a:txBody>
                  <a:tcPr marT="27432" marB="27432"/>
                </a:tc>
                <a:tc>
                  <a:txBody>
                    <a:bodyPr/>
                    <a:lstStyle/>
                    <a:p>
                      <a:r>
                        <a:rPr sz="2000" b="1"/>
                        <a:t>85.0%</a:t>
                      </a:r>
                    </a:p>
                  </a:txBody>
                  <a:tcPr marT="27432" marB="27432"/>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Clustering (k-means)</a:t>
            </a:r>
          </a:p>
        </p:txBody>
      </p:sp>
      <p:sp>
        <p:nvSpPr>
          <p:cNvPr id="3" name="Clustering text"/>
          <p:cNvSpPr txBox="1"/>
          <p:nvPr/>
        </p:nvSpPr>
        <p:spPr>
          <a:xfrm>
            <a:off x="731520" y="2011680"/>
            <a:ext cx="10744200" cy="822960"/>
          </a:xfrm>
          <a:prstGeom prst="rect">
            <a:avLst/>
          </a:prstGeom>
          <a:noFill/>
        </p:spPr>
        <p:txBody>
          <a:bodyPr wrap="square">
            <a:spAutoFit/>
          </a:bodyPr>
          <a:lstStyle/>
          <a:p>
            <a:pPr>
              <a:spcAft>
                <a:spcPts val="200"/>
              </a:spcAft>
            </a:pPr>
            <a:r>
              <a:rPr sz="1500" b="0"/>
              <a:t>k-means on train, 7 standardized features (age, education-num, hours-per-week, capital-gain-log, capital-loss-log, sex, is-married). Income is not used.</a:t>
            </a:r>
          </a:p>
          <a:p>
            <a:pPr>
              <a:spcAft>
                <a:spcPts val="200"/>
              </a:spcAft>
            </a:pPr>
            <a:r>
              <a:rPr sz="1500" b="0"/>
              <a:t>Elbow method and silhouette (0.317) both choose k = 5.</a:t>
            </a:r>
          </a:p>
        </p:txBody>
      </p:sp>
      <p:graphicFrame>
        <p:nvGraphicFramePr>
          <p:cNvPr id="4" name="Clusters"/>
          <p:cNvGraphicFramePr>
            <a:graphicFrameLocks noGrp="1"/>
          </p:cNvGraphicFramePr>
          <p:nvPr/>
        </p:nvGraphicFramePr>
        <p:xfrm>
          <a:off x="731520" y="3017520"/>
          <a:ext cx="5943600" cy="2304288"/>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84048">
                <a:tc>
                  <a:txBody>
                    <a:bodyPr/>
                    <a:lstStyle/>
                    <a:p>
                      <a:r>
                        <a:rPr sz="1500"/>
                        <a:t>Cluster</a:t>
                      </a:r>
                    </a:p>
                  </a:txBody>
                  <a:tcPr marT="27432" marB="27432"/>
                </a:tc>
                <a:tc>
                  <a:txBody>
                    <a:bodyPr/>
                    <a:lstStyle/>
                    <a:p>
                      <a:r>
                        <a:rPr sz="1500"/>
                        <a:t>Who</a:t>
                      </a:r>
                    </a:p>
                  </a:txBody>
                  <a:tcPr marT="27432" marB="27432"/>
                </a:tc>
                <a:tc>
                  <a:txBody>
                    <a:bodyPr/>
                    <a:lstStyle/>
                    <a:p>
                      <a:r>
                        <a:rPr sz="1500"/>
                        <a:t>Share</a:t>
                      </a:r>
                    </a:p>
                  </a:txBody>
                  <a:tcPr marT="27432" marB="27432"/>
                </a:tc>
                <a:tc>
                  <a:txBody>
                    <a:bodyPr/>
                    <a:lstStyle/>
                    <a:p>
                      <a:r>
                        <a:rPr sz="1500"/>
                        <a:t>Earn &gt;50K</a:t>
                      </a:r>
                    </a:p>
                  </a:txBody>
                  <a:tcPr marT="27432" marB="27432"/>
                </a:tc>
                <a:extLst>
                  <a:ext uri="{0D108BD9-81ED-4DB2-BD59-A6C34878D82A}">
                    <a16:rowId xmlns:a16="http://schemas.microsoft.com/office/drawing/2014/main" val="10000"/>
                  </a:ext>
                </a:extLst>
              </a:tr>
              <a:tr h="384048">
                <a:tc>
                  <a:txBody>
                    <a:bodyPr/>
                    <a:lstStyle/>
                    <a:p>
                      <a:r>
                        <a:rPr sz="1500"/>
                        <a:t>0</a:t>
                      </a:r>
                    </a:p>
                  </a:txBody>
                  <a:tcPr marT="27432" marB="27432"/>
                </a:tc>
                <a:tc>
                  <a:txBody>
                    <a:bodyPr/>
                    <a:lstStyle/>
                    <a:p>
                      <a:r>
                        <a:rPr sz="1500"/>
                        <a:t>Young single men (~32)</a:t>
                      </a:r>
                    </a:p>
                  </a:txBody>
                  <a:tcPr marT="27432" marB="27432"/>
                </a:tc>
                <a:tc>
                  <a:txBody>
                    <a:bodyPr/>
                    <a:lstStyle/>
                    <a:p>
                      <a:r>
                        <a:rPr sz="1500"/>
                        <a:t>23%</a:t>
                      </a:r>
                    </a:p>
                  </a:txBody>
                  <a:tcPr marT="27432" marB="27432"/>
                </a:tc>
                <a:tc>
                  <a:txBody>
                    <a:bodyPr/>
                    <a:lstStyle/>
                    <a:p>
                      <a:r>
                        <a:rPr sz="1500"/>
                        <a:t>6.1%</a:t>
                      </a:r>
                    </a:p>
                  </a:txBody>
                  <a:tcPr marT="27432" marB="27432"/>
                </a:tc>
                <a:extLst>
                  <a:ext uri="{0D108BD9-81ED-4DB2-BD59-A6C34878D82A}">
                    <a16:rowId xmlns:a16="http://schemas.microsoft.com/office/drawing/2014/main" val="10001"/>
                  </a:ext>
                </a:extLst>
              </a:tr>
              <a:tr h="384048">
                <a:tc>
                  <a:txBody>
                    <a:bodyPr/>
                    <a:lstStyle/>
                    <a:p>
                      <a:r>
                        <a:rPr sz="1500"/>
                        <a:t>1</a:t>
                      </a:r>
                    </a:p>
                  </a:txBody>
                  <a:tcPr marT="27432" marB="27432"/>
                </a:tc>
                <a:tc>
                  <a:txBody>
                    <a:bodyPr/>
                    <a:lstStyle/>
                    <a:p>
                      <a:r>
                        <a:rPr sz="1500"/>
                        <a:t>Capital loss (~42)</a:t>
                      </a:r>
                    </a:p>
                  </a:txBody>
                  <a:tcPr marT="27432" marB="27432"/>
                </a:tc>
                <a:tc>
                  <a:txBody>
                    <a:bodyPr/>
                    <a:lstStyle/>
                    <a:p>
                      <a:r>
                        <a:rPr sz="1500"/>
                        <a:t>5%</a:t>
                      </a:r>
                    </a:p>
                  </a:txBody>
                  <a:tcPr marT="27432" marB="27432"/>
                </a:tc>
                <a:tc>
                  <a:txBody>
                    <a:bodyPr/>
                    <a:lstStyle/>
                    <a:p>
                      <a:r>
                        <a:rPr sz="1500"/>
                        <a:t>51.6%</a:t>
                      </a:r>
                    </a:p>
                  </a:txBody>
                  <a:tcPr marT="27432" marB="27432"/>
                </a:tc>
                <a:extLst>
                  <a:ext uri="{0D108BD9-81ED-4DB2-BD59-A6C34878D82A}">
                    <a16:rowId xmlns:a16="http://schemas.microsoft.com/office/drawing/2014/main" val="10002"/>
                  </a:ext>
                </a:extLst>
              </a:tr>
              <a:tr h="384048">
                <a:tc>
                  <a:txBody>
                    <a:bodyPr/>
                    <a:lstStyle/>
                    <a:p>
                      <a:r>
                        <a:rPr sz="1500"/>
                        <a:t>2</a:t>
                      </a:r>
                    </a:p>
                  </a:txBody>
                  <a:tcPr marT="27432" marB="27432"/>
                </a:tc>
                <a:tc>
                  <a:txBody>
                    <a:bodyPr/>
                    <a:lstStyle/>
                    <a:p>
                      <a:r>
                        <a:rPr sz="1500"/>
                        <a:t>Capital gain (~44)</a:t>
                      </a:r>
                    </a:p>
                  </a:txBody>
                  <a:tcPr marT="27432" marB="27432"/>
                </a:tc>
                <a:tc>
                  <a:txBody>
                    <a:bodyPr/>
                    <a:lstStyle/>
                    <a:p>
                      <a:r>
                        <a:rPr sz="1500"/>
                        <a:t>8%</a:t>
                      </a:r>
                    </a:p>
                  </a:txBody>
                  <a:tcPr marT="27432" marB="27432"/>
                </a:tc>
                <a:tc>
                  <a:txBody>
                    <a:bodyPr/>
                    <a:lstStyle/>
                    <a:p>
                      <a:r>
                        <a:rPr sz="1500"/>
                        <a:t>63.8%</a:t>
                      </a:r>
                    </a:p>
                  </a:txBody>
                  <a:tcPr marT="27432" marB="27432"/>
                </a:tc>
                <a:extLst>
                  <a:ext uri="{0D108BD9-81ED-4DB2-BD59-A6C34878D82A}">
                    <a16:rowId xmlns:a16="http://schemas.microsoft.com/office/drawing/2014/main" val="10003"/>
                  </a:ext>
                </a:extLst>
              </a:tr>
              <a:tr h="384048">
                <a:tc>
                  <a:txBody>
                    <a:bodyPr/>
                    <a:lstStyle/>
                    <a:p>
                      <a:r>
                        <a:rPr sz="1500"/>
                        <a:t>3</a:t>
                      </a:r>
                    </a:p>
                  </a:txBody>
                  <a:tcPr marT="27432" marB="27432"/>
                </a:tc>
                <a:tc>
                  <a:txBody>
                    <a:bodyPr/>
                    <a:lstStyle/>
                    <a:p>
                      <a:r>
                        <a:rPr sz="1500"/>
                        <a:t>Women, mostly not married</a:t>
                      </a:r>
                    </a:p>
                  </a:txBody>
                  <a:tcPr marT="27432" marB="27432"/>
                </a:tc>
                <a:tc>
                  <a:txBody>
                    <a:bodyPr/>
                    <a:lstStyle/>
                    <a:p>
                      <a:r>
                        <a:rPr sz="1500"/>
                        <a:t>29%</a:t>
                      </a:r>
                    </a:p>
                  </a:txBody>
                  <a:tcPr marT="27432" marB="27432"/>
                </a:tc>
                <a:tc>
                  <a:txBody>
                    <a:bodyPr/>
                    <a:lstStyle/>
                    <a:p>
                      <a:r>
                        <a:rPr sz="1500"/>
                        <a:t>8.2%</a:t>
                      </a:r>
                    </a:p>
                  </a:txBody>
                  <a:tcPr marT="27432" marB="27432"/>
                </a:tc>
                <a:extLst>
                  <a:ext uri="{0D108BD9-81ED-4DB2-BD59-A6C34878D82A}">
                    <a16:rowId xmlns:a16="http://schemas.microsoft.com/office/drawing/2014/main" val="10004"/>
                  </a:ext>
                </a:extLst>
              </a:tr>
              <a:tr h="384048">
                <a:tc>
                  <a:txBody>
                    <a:bodyPr/>
                    <a:lstStyle/>
                    <a:p>
                      <a:r>
                        <a:rPr sz="1500"/>
                        <a:t>4</a:t>
                      </a:r>
                    </a:p>
                  </a:txBody>
                  <a:tcPr marT="27432" marB="27432"/>
                </a:tc>
                <a:tc>
                  <a:txBody>
                    <a:bodyPr/>
                    <a:lstStyle/>
                    <a:p>
                      <a:r>
                        <a:rPr sz="1500"/>
                        <a:t>Married men (~43)</a:t>
                      </a:r>
                    </a:p>
                  </a:txBody>
                  <a:tcPr marT="27432" marB="27432"/>
                </a:tc>
                <a:tc>
                  <a:txBody>
                    <a:bodyPr/>
                    <a:lstStyle/>
                    <a:p>
                      <a:r>
                        <a:rPr sz="1500"/>
                        <a:t>35%</a:t>
                      </a:r>
                    </a:p>
                  </a:txBody>
                  <a:tcPr marT="27432" marB="27432"/>
                </a:tc>
                <a:tc>
                  <a:txBody>
                    <a:bodyPr/>
                    <a:lstStyle/>
                    <a:p>
                      <a:r>
                        <a:rPr sz="1500"/>
                        <a:t>38.6%</a:t>
                      </a:r>
                    </a:p>
                  </a:txBody>
                  <a:tcPr marT="27432" marB="27432"/>
                </a:tc>
                <a:extLst>
                  <a:ext uri="{0D108BD9-81ED-4DB2-BD59-A6C34878D82A}">
                    <a16:rowId xmlns:a16="http://schemas.microsoft.com/office/drawing/2014/main" val="10005"/>
                  </a:ext>
                </a:extLst>
              </a:tr>
            </a:tbl>
          </a:graphicData>
        </a:graphic>
      </p:graphicFrame>
      <p:pic>
        <p:nvPicPr>
          <p:cNvPr id="5" name="08b" descr="08b.png"/>
          <p:cNvPicPr>
            <a:picLocks noChangeAspect="1"/>
          </p:cNvPicPr>
          <p:nvPr/>
        </p:nvPicPr>
        <p:blipFill>
          <a:blip r:embed="rId3"/>
          <a:stretch>
            <a:fillRect/>
          </a:stretch>
        </p:blipFill>
        <p:spPr>
          <a:xfrm>
            <a:off x="6949440" y="3017520"/>
            <a:ext cx="4526280" cy="291693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FA320-C11E-BB75-A300-9268B15DB421}"/>
              </a:ext>
            </a:extLst>
          </p:cNvPr>
          <p:cNvSpPr>
            <a:spLocks noGrp="1"/>
          </p:cNvSpPr>
          <p:nvPr>
            <p:ph type="title"/>
          </p:nvPr>
        </p:nvSpPr>
        <p:spPr>
          <a:xfrm>
            <a:off x="731520" y="365760"/>
            <a:ext cx="10741152" cy="1132258"/>
          </a:xfrm>
        </p:spPr>
        <p:txBody>
          <a:bodyPr anchor="b">
            <a:normAutofit/>
          </a:bodyPr>
          <a:lstStyle/>
          <a:p>
            <a:r>
              <a:rPr lang="en-US" dirty="0"/>
              <a:t>Clustering (k-means)</a:t>
            </a:r>
          </a:p>
        </p:txBody>
      </p:sp>
      <p:pic>
        <p:nvPicPr>
          <p:cNvPr id="4" name="Content Placeholder 3">
            <a:extLst>
              <a:ext uri="{FF2B5EF4-FFF2-40B4-BE49-F238E27FC236}">
                <a16:creationId xmlns:a16="http://schemas.microsoft.com/office/drawing/2014/main" id="{03D49058-5952-9703-1D35-E75E515E6D34}"/>
              </a:ext>
            </a:extLst>
          </p:cNvPr>
          <p:cNvPicPr>
            <a:picLocks noGrp="1" noChangeAspect="1"/>
          </p:cNvPicPr>
          <p:nvPr>
            <p:ph idx="1"/>
          </p:nvPr>
        </p:nvPicPr>
        <p:blipFill>
          <a:blip r:embed="rId2"/>
          <a:stretch>
            <a:fillRect/>
          </a:stretch>
        </p:blipFill>
        <p:spPr>
          <a:xfrm>
            <a:off x="731520" y="2355828"/>
            <a:ext cx="10780776" cy="3530702"/>
          </a:xfrm>
          <a:prstGeom prst="rect">
            <a:avLst/>
          </a:prstGeom>
          <a:noFill/>
        </p:spPr>
      </p:pic>
    </p:spTree>
    <p:extLst>
      <p:ext uri="{BB962C8B-B14F-4D97-AF65-F5344CB8AC3E}">
        <p14:creationId xmlns:p14="http://schemas.microsoft.com/office/powerpoint/2010/main" val="983319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Conclusions</a:t>
            </a:r>
          </a:p>
        </p:txBody>
      </p:sp>
      <p:sp>
        <p:nvSpPr>
          <p:cNvPr id="3" name="Content Placeholder 2"/>
          <p:cNvSpPr>
            <a:spLocks noGrp="1"/>
          </p:cNvSpPr>
          <p:nvPr>
            <p:ph sz="quarter" idx="13"/>
          </p:nvPr>
        </p:nvSpPr>
        <p:spPr/>
        <p:txBody>
          <a:bodyPr/>
          <a:lstStyle/>
          <a:p>
            <a:pPr>
              <a:spcAft>
                <a:spcPts val="800"/>
              </a:spcAft>
            </a:pPr>
            <a:r>
              <a:rPr sz="1800"/>
              <a:t>Being married, education, capital gains and age are the factors most related to income in every part of the analysis.</a:t>
            </a:r>
          </a:p>
          <a:p>
            <a:pPr>
              <a:spcAft>
                <a:spcPts val="800"/>
              </a:spcAft>
            </a:pPr>
            <a:r>
              <a:rPr sz="1800"/>
              <a:t>Men work about 6 hours more per week and earn more than $50K almost three times as often as women (31.3% vs 11.4%).</a:t>
            </a:r>
          </a:p>
          <a:p>
            <a:pPr>
              <a:spcAft>
                <a:spcPts val="800"/>
              </a:spcAft>
            </a:pPr>
            <a:r>
              <a:rPr sz="1800"/>
              <a:t>Our logistic regression (84.9%) and decision tree (85.0%) predict income almost as well as the best published model (85.9%), while working hours cannot be predicted well (R² = 0.078).</a:t>
            </a:r>
          </a:p>
          <a:p>
            <a:pPr>
              <a:spcAft>
                <a:spcPts val="800"/>
              </a:spcAft>
            </a:pPr>
            <a:r>
              <a:rPr sz="1800"/>
              <a:t>k-means, without using income, found 5 groups whose share of high earners ranges from 6% to 64%.</a:t>
            </a:r>
          </a:p>
        </p:txBody>
      </p:sp>
    </p:spTree>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Archway</Template>
  <TotalTime>704</TotalTime>
  <Words>1752</Words>
  <Application>Microsoft Office PowerPoint</Application>
  <PresentationFormat>Widescreen</PresentationFormat>
  <Paragraphs>184</Paragraphs>
  <Slides>12</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Felix Titling</vt:lpstr>
      <vt:lpstr>Goudy Old Style</vt:lpstr>
      <vt:lpstr>Archway</vt:lpstr>
      <vt:lpstr>Statistical analysis and classification of the adult income dataset</vt:lpstr>
      <vt:lpstr>Adult income: 1994 US census data</vt:lpstr>
      <vt:lpstr>Data preprocessing</vt:lpstr>
      <vt:lpstr>What is related to income</vt:lpstr>
      <vt:lpstr>Hypothesis testing</vt:lpstr>
      <vt:lpstr>Regression</vt:lpstr>
      <vt:lpstr>Decision tree</vt:lpstr>
      <vt:lpstr>Decision tree</vt:lpstr>
      <vt:lpstr>Model comparison</vt:lpstr>
      <vt:lpstr>Clustering (k-means)</vt:lpstr>
      <vt:lpstr>Clustering (k-means)</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Gabija Benetaitė</dc:creator>
  <cp:lastModifiedBy>Gabija Benetaitė</cp:lastModifiedBy>
  <cp:revision>2</cp:revision>
  <dcterms:created xsi:type="dcterms:W3CDTF">2026-10-07T11:33:25Z</dcterms:created>
  <dcterms:modified xsi:type="dcterms:W3CDTF">2026-10-08T16:06:18Z</dcterms:modified>
</cp:coreProperties>
</file>