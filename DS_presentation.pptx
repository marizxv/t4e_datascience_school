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7"/>
  </p:notesMasterIdLst>
  <p:sldIdLst>
    <p:sldId id="256" r:id="rId2"/>
    <p:sldId id="257" r:id="rId3"/>
    <p:sldId id="269" r:id="rId4"/>
    <p:sldId id="270" r:id="rId5"/>
    <p:sldId id="275" r:id="rId6"/>
    <p:sldId id="271" r:id="rId7"/>
    <p:sldId id="260" r:id="rId8"/>
    <p:sldId id="273" r:id="rId9"/>
    <p:sldId id="262" r:id="rId10"/>
    <p:sldId id="263" r:id="rId11"/>
    <p:sldId id="267" r:id="rId12"/>
    <p:sldId id="274" r:id="rId13"/>
    <p:sldId id="266" r:id="rId14"/>
    <p:sldId id="268" r:id="rId15"/>
    <p:sldId id="265"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C1D24CE-5E78-44F4-8BC7-1EE0A8BD8200}">
          <p14:sldIdLst>
            <p14:sldId id="256"/>
            <p14:sldId id="257"/>
          </p14:sldIdLst>
        </p14:section>
        <p14:section name="Untitled Section" id="{CEAB7E9B-C61E-4A42-9FC3-ABFDCCD4059E}">
          <p14:sldIdLst>
            <p14:sldId id="269"/>
            <p14:sldId id="270"/>
            <p14:sldId id="275"/>
            <p14:sldId id="271"/>
            <p14:sldId id="260"/>
            <p14:sldId id="273"/>
            <p14:sldId id="262"/>
            <p14:sldId id="263"/>
            <p14:sldId id="267"/>
            <p14:sldId id="274"/>
            <p14:sldId id="266"/>
            <p14:sldId id="268"/>
            <p14:sldId id="265"/>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D3CA"/>
    <a:srgbClr val="EBEBE8"/>
    <a:srgbClr val="DBDBD9"/>
    <a:srgbClr val="D8D9D6"/>
    <a:srgbClr val="F0F0EF"/>
    <a:srgbClr val="9FA597"/>
    <a:srgbClr val="8F9588"/>
    <a:srgbClr val="8D9286"/>
    <a:srgbClr val="B2B5AE"/>
    <a:srgbClr val="C7C9C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321" dt="2026-10-08T19:05:48.680"/>
    <p1510:client id="{14DB62F7-4DD1-2C8D-38D2-DFB2E5C26E47}" v="269" dt="2026-10-08T18:34:33.745"/>
    <p1510:client id="{25B73068-4766-BC3E-B022-1F23F3D3D2BB}" v="98" dt="2026-10-08T18:09:31.151"/>
    <p1510:client id="{3AED234C-2C78-DED0-85EB-030C878EBA4E}" v="78" dt="2026-10-08T23:18:14.926"/>
    <p1510:client id="{7FB93117-5334-176B-44B6-6E98775B2B6F}" v="77" dt="2026-10-08T17:24:18.77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Styl pośredni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649565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this project we </a:t>
            </a:r>
            <a:r>
              <a:rPr err="1"/>
              <a:t>analysed</a:t>
            </a:r>
            <a:r>
              <a:t> the Adult Income dataset from the 1994 US Census. Our main question: which characteristics of a person are connected with earning more than 50 thousand dollars a year, and can we predict it? I will go through the dataset, preprocessing, descriptive statistics, hypothesis testing, regression analysis and the decision tree classifier.</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dataset is the Adult Income dataset from the 1994 US census. It comes as a training file with 32,561 people and a test file with 16,281, almost 49 thousand in total, with 15 variables. The target is whether a person earns more than 50 thousand dollars a year. We kept the original train/test split. In the training data 24.9 percent earn more than 50K, so the classes are imbalanced.</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tree settings were chosen with 5-fold cross-validation on the training data, using F1 for the high-income class. The chart shows why: training F1 keeps rising with depth, but cross-validation F1 stops improving after about depth 9 - deeper trees only memorise the training data. A tree with no limits has 97.7 percent training accuracy. The final tree needs at least 20 people per leaf. On the test set, used only once, it reaches 85.0 percent accuracy and ROC-AUC 0.896.</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conclude: the same factors - being married, education, capital gains and age - are linked to income in every part of the analysis. There is a clear gender gap. Our classification models reach about 85 percent accuracy, close to the best published result, while working hours cannot be predicted well.</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with Pictur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DEC014E-32E8-BC91-190E-85B3C74C9203}"/>
              </a:ext>
            </a:extLst>
          </p:cNvPr>
          <p:cNvSpPr>
            <a:spLocks noGrp="1"/>
          </p:cNvSpPr>
          <p:nvPr>
            <p:ph type="title"/>
          </p:nvPr>
        </p:nvSpPr>
        <p:spPr>
          <a:xfrm>
            <a:off x="6857998" y="964075"/>
            <a:ext cx="4654297" cy="3739896"/>
          </a:xfrm>
        </p:spPr>
        <p:txBody>
          <a:bodyPr/>
          <a:lstStyle/>
          <a:p>
            <a:r>
              <a:rPr lang="en-GB"/>
              <a:t>Click to edit Master title style</a:t>
            </a:r>
            <a:endParaRPr lang="en-US"/>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858000" y="4822842"/>
            <a:ext cx="4206240" cy="1380744"/>
          </a:xfrm>
        </p:spPr>
        <p:txBody>
          <a:bodyPr anchor="t" anchorCtr="0">
            <a:normAutofit/>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13" name="Footer Placeholder 12">
            <a:extLst>
              <a:ext uri="{FF2B5EF4-FFF2-40B4-BE49-F238E27FC236}">
                <a16:creationId xmlns:a16="http://schemas.microsoft.com/office/drawing/2014/main" id="{B2603722-CE80-C718-39E9-BB79F1F68C31}"/>
              </a:ext>
            </a:extLst>
          </p:cNvPr>
          <p:cNvSpPr>
            <a:spLocks noGrp="1"/>
          </p:cNvSpPr>
          <p:nvPr>
            <p:ph type="ftr" sz="quarter" idx="15"/>
          </p:nvPr>
        </p:nvSpPr>
        <p:spPr/>
        <p:txBody>
          <a:bodyPr/>
          <a:lstStyle>
            <a:lvl1pPr>
              <a:defRPr>
                <a:solidFill>
                  <a:schemeClr val="tx1"/>
                </a:solidFill>
              </a:defRPr>
            </a:lvl1pPr>
          </a:lstStyle>
          <a:p>
            <a:endParaRPr lang="en-US"/>
          </a:p>
        </p:txBody>
      </p:sp>
      <p:sp>
        <p:nvSpPr>
          <p:cNvPr id="10" name="Picture Placeholder 9">
            <a:extLst>
              <a:ext uri="{FF2B5EF4-FFF2-40B4-BE49-F238E27FC236}">
                <a16:creationId xmlns:a16="http://schemas.microsoft.com/office/drawing/2014/main" id="{884C280F-E753-FE97-A722-F86168AC97B1}"/>
              </a:ext>
            </a:extLst>
          </p:cNvPr>
          <p:cNvSpPr>
            <a:spLocks noGrp="1"/>
          </p:cNvSpPr>
          <p:nvPr>
            <p:ph type="pic" sz="quarter" idx="13" hasCustomPrompt="1"/>
          </p:nvPr>
        </p:nvSpPr>
        <p:spPr>
          <a:xfrm>
            <a:off x="841248" y="964074"/>
            <a:ext cx="5403280" cy="5258929"/>
          </a:xfrm>
          <a:custGeom>
            <a:avLst/>
            <a:gdLst>
              <a:gd name="connsiteX0" fmla="*/ 2701640 w 5403280"/>
              <a:gd name="connsiteY0" fmla="*/ 0 h 5258929"/>
              <a:gd name="connsiteX1" fmla="*/ 5403280 w 5403280"/>
              <a:gd name="connsiteY1" fmla="*/ 2701640 h 5258929"/>
              <a:gd name="connsiteX2" fmla="*/ 5403280 w 5403280"/>
              <a:gd name="connsiteY2" fmla="*/ 5258929 h 5258929"/>
              <a:gd name="connsiteX3" fmla="*/ 0 w 5403280"/>
              <a:gd name="connsiteY3" fmla="*/ 5258929 h 5258929"/>
              <a:gd name="connsiteX4" fmla="*/ 0 w 5403280"/>
              <a:gd name="connsiteY4" fmla="*/ 2701640 h 5258929"/>
              <a:gd name="connsiteX5" fmla="*/ 2701640 w 5403280"/>
              <a:gd name="connsiteY5" fmla="*/ 0 h 5258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03280" h="5258929">
                <a:moveTo>
                  <a:pt x="2701640" y="0"/>
                </a:moveTo>
                <a:cubicBezTo>
                  <a:pt x="4193715" y="0"/>
                  <a:pt x="5403280" y="1209565"/>
                  <a:pt x="5403280" y="2701640"/>
                </a:cubicBezTo>
                <a:lnTo>
                  <a:pt x="5403280" y="5258929"/>
                </a:lnTo>
                <a:lnTo>
                  <a:pt x="0" y="5258929"/>
                </a:lnTo>
                <a:lnTo>
                  <a:pt x="0" y="2701640"/>
                </a:lnTo>
                <a:cubicBezTo>
                  <a:pt x="0" y="1209565"/>
                  <a:pt x="1209565" y="0"/>
                  <a:pt x="2701640"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6350">
            <a:noFill/>
          </a:ln>
        </p:spPr>
        <p:txBody>
          <a:bodyPr wrap="square">
            <a:noAutofit/>
          </a:bodyPr>
          <a:lstStyle>
            <a:lvl1pPr>
              <a:defRPr>
                <a:solidFill>
                  <a:schemeClr val="tx1"/>
                </a:solidFill>
              </a:defRPr>
            </a:lvl1pPr>
          </a:lstStyle>
          <a:p>
            <a:r>
              <a:rPr lang="en-US"/>
              <a:t> </a:t>
            </a:r>
          </a:p>
        </p:txBody>
      </p:sp>
      <p:sp>
        <p:nvSpPr>
          <p:cNvPr id="4" name="Date Placeholder 3">
            <a:extLst>
              <a:ext uri="{FF2B5EF4-FFF2-40B4-BE49-F238E27FC236}">
                <a16:creationId xmlns:a16="http://schemas.microsoft.com/office/drawing/2014/main" id="{EE117A08-C834-F239-A3DF-2D1295F0AE4C}"/>
              </a:ext>
            </a:extLst>
          </p:cNvPr>
          <p:cNvSpPr>
            <a:spLocks noGrp="1"/>
          </p:cNvSpPr>
          <p:nvPr>
            <p:ph type="dt" sz="half" idx="10"/>
          </p:nvPr>
        </p:nvSpPr>
        <p:spPr>
          <a:xfrm rot="5400000">
            <a:off x="10425981" y="4687095"/>
            <a:ext cx="2706690" cy="365125"/>
          </a:xfrm>
        </p:spPr>
        <p:txBody>
          <a:bodyPr/>
          <a:lstStyle/>
          <a:p>
            <a:fld id="{BB8B3EC2-53ED-4D1A-9192-770633E9F6D6}" type="datetimeFigureOut">
              <a:rPr lang="en-US" smtClean="0"/>
              <a:t>10/8/2026</a:t>
            </a:fld>
            <a:endParaRPr lang="en-US"/>
          </a:p>
        </p:txBody>
      </p:sp>
      <p:sp>
        <p:nvSpPr>
          <p:cNvPr id="14" name="Slide Number Placeholder 13">
            <a:extLst>
              <a:ext uri="{FF2B5EF4-FFF2-40B4-BE49-F238E27FC236}">
                <a16:creationId xmlns:a16="http://schemas.microsoft.com/office/drawing/2014/main" id="{7E80C6A5-61FE-078D-49D9-31BD1294014C}"/>
              </a:ext>
            </a:extLst>
          </p:cNvPr>
          <p:cNvSpPr>
            <a:spLocks noGrp="1"/>
          </p:cNvSpPr>
          <p:nvPr>
            <p:ph type="sldNum" sz="quarter" idx="16"/>
          </p:nvPr>
        </p:nvSpPr>
        <p:spPr/>
        <p:txBody>
          <a:bodyPr/>
          <a:lstStyle>
            <a:lvl1pPr>
              <a:defRPr>
                <a:solidFill>
                  <a:schemeClr val="tx1"/>
                </a:solidFill>
              </a:defRPr>
            </a:lvl1pPr>
          </a:lstStyle>
          <a:p>
            <a:fld id="{9E8223D3-9AA3-4BD5-B1A1-35F69A862191}" type="slidenum">
              <a:rPr lang="en-US" smtClean="0"/>
              <a:t>‹#›</a:t>
            </a:fld>
            <a:endParaRPr lang="en-US"/>
          </a:p>
        </p:txBody>
      </p:sp>
    </p:spTree>
    <p:extLst>
      <p:ext uri="{BB962C8B-B14F-4D97-AF65-F5344CB8AC3E}">
        <p14:creationId xmlns:p14="http://schemas.microsoft.com/office/powerpoint/2010/main" val="219631919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E6C4595-90D4-94E6-CEBA-82807457D2BE}"/>
              </a:ext>
            </a:extLst>
          </p:cNvPr>
          <p:cNvSpPr>
            <a:spLocks noGrp="1"/>
          </p:cNvSpPr>
          <p:nvPr>
            <p:ph type="title"/>
          </p:nvPr>
        </p:nvSpPr>
        <p:spPr>
          <a:xfrm>
            <a:off x="731520" y="365760"/>
            <a:ext cx="10741152" cy="1132258"/>
          </a:xfrm>
        </p:spPr>
        <p:txBody>
          <a:bodyPr/>
          <a:lstStyle/>
          <a:p>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731520" y="1658679"/>
            <a:ext cx="10780776" cy="4925000"/>
          </a:xfrm>
        </p:spPr>
        <p:txBody>
          <a:bodyPr>
            <a:normAutofit/>
          </a:bodyPr>
          <a:lstStyle>
            <a:lvl1pPr>
              <a:defRPr sz="1800">
                <a:solidFill>
                  <a:schemeClr val="tx1"/>
                </a:solidFill>
              </a:defRPr>
            </a:lvl1pPr>
            <a:lvl2pPr>
              <a:defRPr sz="1600">
                <a:solidFill>
                  <a:schemeClr val="tx1"/>
                </a:solidFill>
              </a:defRPr>
            </a:lvl2pPr>
            <a:lvl3pPr>
              <a:defRPr sz="1400">
                <a:solidFill>
                  <a:schemeClr val="tx1"/>
                </a:solidFill>
              </a:defRPr>
            </a:lvl3pPr>
            <a:lvl4pPr>
              <a:defRPr sz="1200">
                <a:solidFill>
                  <a:schemeClr val="tx1"/>
                </a:solidFill>
              </a:defRPr>
            </a:lvl4pPr>
            <a:lvl5pPr>
              <a:defRPr sz="12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BB8B3EC2-53ED-4D1A-9192-770633E9F6D6}" type="datetimeFigureOut">
              <a:rPr lang="en-US" smtClean="0"/>
              <a:t>10/8/2026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9E8223D3-9AA3-4BD5-B1A1-35F69A862191}" type="slidenum">
              <a:rPr lang="en-US" smtClean="0"/>
              <a:t>‹#›</a:t>
            </a:fld>
            <a:endParaRPr lang="en-US"/>
          </a:p>
        </p:txBody>
      </p:sp>
    </p:spTree>
    <p:extLst>
      <p:ext uri="{BB962C8B-B14F-4D97-AF65-F5344CB8AC3E}">
        <p14:creationId xmlns:p14="http://schemas.microsoft.com/office/powerpoint/2010/main" val="11435493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09600" y="5218032"/>
            <a:ext cx="10972800" cy="786384"/>
          </a:xfrm>
        </p:spPr>
        <p:txBody>
          <a:bodyPr anchor="b">
            <a:normAutofit/>
          </a:bodyPr>
          <a:lstStyle>
            <a:lvl1pPr algn="ctr">
              <a:defRPr sz="4400">
                <a:solidFill>
                  <a:schemeClr val="tx1"/>
                </a:solidFill>
              </a:defRPr>
            </a:lvl1pPr>
          </a:lstStyle>
          <a:p>
            <a:r>
              <a:rPr lang="en-GB"/>
              <a:t>Click to edit Master title style</a:t>
            </a:r>
            <a:endParaRPr lang="en-US"/>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09600" y="5972629"/>
            <a:ext cx="10972800" cy="480373"/>
          </a:xfrm>
        </p:spPr>
        <p:txBody>
          <a:bodyPr anchor="t">
            <a:normAutofit/>
          </a:bodyPr>
          <a:lstStyle>
            <a:lvl1pPr marL="0" indent="0" algn="ctr">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12191999" cy="4986425"/>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sp>
        <p:nvSpPr>
          <p:cNvPr id="6" name="Footer Placeholder 5">
            <a:extLst>
              <a:ext uri="{FF2B5EF4-FFF2-40B4-BE49-F238E27FC236}">
                <a16:creationId xmlns:a16="http://schemas.microsoft.com/office/drawing/2014/main" id="{8C88BD73-E6AB-68A9-F41B-313E0C44777C}"/>
              </a:ext>
            </a:extLst>
          </p:cNvPr>
          <p:cNvSpPr>
            <a:spLocks noGrp="1"/>
          </p:cNvSpPr>
          <p:nvPr>
            <p:ph type="ftr" sz="quarter" idx="15"/>
          </p:nvPr>
        </p:nvSpPr>
        <p:spPr>
          <a:xfrm rot="16200000">
            <a:off x="-396119" y="5787191"/>
            <a:ext cx="1503444" cy="365125"/>
          </a:xfrm>
        </p:spPr>
        <p:txBody>
          <a:bodyPr/>
          <a:lstStyle/>
          <a:p>
            <a:endParaRPr lang="en-US"/>
          </a:p>
        </p:txBody>
      </p:sp>
      <p:sp>
        <p:nvSpPr>
          <p:cNvPr id="5" name="Date Placeholder 4">
            <a:extLst>
              <a:ext uri="{FF2B5EF4-FFF2-40B4-BE49-F238E27FC236}">
                <a16:creationId xmlns:a16="http://schemas.microsoft.com/office/drawing/2014/main" id="{BEAA6162-61A3-2C41-311C-F407FC4B4DA9}"/>
              </a:ext>
            </a:extLst>
          </p:cNvPr>
          <p:cNvSpPr>
            <a:spLocks noGrp="1"/>
          </p:cNvSpPr>
          <p:nvPr>
            <p:ph type="dt" sz="half" idx="14"/>
          </p:nvPr>
        </p:nvSpPr>
        <p:spPr/>
        <p:txBody>
          <a:bodyPr/>
          <a:lstStyle/>
          <a:p>
            <a:fld id="{BB8B3EC2-53ED-4D1A-9192-770633E9F6D6}" type="datetimeFigureOut">
              <a:rPr lang="en-US" smtClean="0"/>
              <a:t>10/8/2026</a:t>
            </a:fld>
            <a:endParaRPr lang="en-US"/>
          </a:p>
        </p:txBody>
      </p:sp>
      <p:cxnSp>
        <p:nvCxnSpPr>
          <p:cNvPr id="4" name="Straight Connector 3">
            <a:extLst>
              <a:ext uri="{FF2B5EF4-FFF2-40B4-BE49-F238E27FC236}">
                <a16:creationId xmlns:a16="http://schemas.microsoft.com/office/drawing/2014/main" id="{1DABF624-39B6-C7A2-98E7-26593626B429}"/>
              </a:ext>
              <a:ext uri="{C183D7F6-B498-43B3-948B-1728B52AA6E4}">
                <adec:decorative xmlns:adec="http://schemas.microsoft.com/office/drawing/2017/decorative" val="1"/>
              </a:ext>
            </a:extLst>
          </p:cNvPr>
          <p:cNvCxnSpPr>
            <a:cxnSpLocks/>
          </p:cNvCxnSpPr>
          <p:nvPr/>
        </p:nvCxnSpPr>
        <p:spPr>
          <a:xfrm flipH="1">
            <a:off x="4" y="498994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Slide Number Placeholder 6">
            <a:extLst>
              <a:ext uri="{FF2B5EF4-FFF2-40B4-BE49-F238E27FC236}">
                <a16:creationId xmlns:a16="http://schemas.microsoft.com/office/drawing/2014/main" id="{BE6B102F-64E7-9387-1F8F-DB4AC825773A}"/>
              </a:ext>
            </a:extLst>
          </p:cNvPr>
          <p:cNvSpPr>
            <a:spLocks noGrp="1"/>
          </p:cNvSpPr>
          <p:nvPr>
            <p:ph type="sldNum" sz="quarter" idx="16"/>
          </p:nvPr>
        </p:nvSpPr>
        <p:spPr/>
        <p:txBody>
          <a:bodyPr/>
          <a:lstStyle/>
          <a:p>
            <a:fld id="{9E8223D3-9AA3-4BD5-B1A1-35F69A862191}" type="slidenum">
              <a:rPr lang="en-US" smtClean="0"/>
              <a:t>‹#›</a:t>
            </a:fld>
            <a:endParaRPr lang="en-US"/>
          </a:p>
        </p:txBody>
      </p:sp>
    </p:spTree>
    <p:extLst>
      <p:ext uri="{BB962C8B-B14F-4D97-AF65-F5344CB8AC3E}">
        <p14:creationId xmlns:p14="http://schemas.microsoft.com/office/powerpoint/2010/main" val="47186305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CE84C31D-CC85-27E5-FD9F-627C926D5A22}"/>
              </a:ext>
            </a:extLst>
          </p:cNvPr>
          <p:cNvSpPr>
            <a:spLocks noGrp="1"/>
          </p:cNvSpPr>
          <p:nvPr>
            <p:ph type="title"/>
          </p:nvPr>
        </p:nvSpPr>
        <p:spPr>
          <a:xfrm>
            <a:off x="838200" y="2578608"/>
            <a:ext cx="7879335" cy="3592629"/>
          </a:xfrm>
        </p:spPr>
        <p:txBody>
          <a:bodyPr>
            <a:normAutofit/>
          </a:bodyPr>
          <a:lstStyle>
            <a:lvl1pPr>
              <a:defRPr sz="6000"/>
            </a:lvl1pPr>
          </a:lstStyle>
          <a:p>
            <a:r>
              <a:rPr lang="en-GB"/>
              <a:t>Click to edit Master title style</a:t>
            </a:r>
            <a:endParaRPr lang="en-US"/>
          </a:p>
        </p:txBody>
      </p:sp>
      <p:cxnSp>
        <p:nvCxnSpPr>
          <p:cNvPr id="7" name="Straight Connector 6">
            <a:extLst>
              <a:ext uri="{FF2B5EF4-FFF2-40B4-BE49-F238E27FC236}">
                <a16:creationId xmlns:a16="http://schemas.microsoft.com/office/drawing/2014/main" id="{A10B934F-7AD0-6CA4-BC4D-9CC30854BF9C}"/>
              </a:ext>
              <a:ext uri="{C183D7F6-B498-43B3-948B-1728B52AA6E4}">
                <adec:decorative xmlns:adec="http://schemas.microsoft.com/office/drawing/2017/decorative" val="1"/>
              </a:ext>
            </a:extLst>
          </p:cNvPr>
          <p:cNvCxnSpPr>
            <a:cxnSpLocks/>
          </p:cNvCxnSpPr>
          <p:nvPr/>
        </p:nvCxnSpPr>
        <p:spPr>
          <a:xfrm flipH="1">
            <a:off x="4" y="171450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17FF6486-38AE-54F6-E2F3-8B944C3F1B94}"/>
              </a:ext>
            </a:extLst>
          </p:cNvPr>
          <p:cNvSpPr>
            <a:spLocks noGrp="1"/>
          </p:cNvSpPr>
          <p:nvPr>
            <p:ph type="ftr" sz="quarter" idx="11"/>
          </p:nvPr>
        </p:nvSpPr>
        <p:spPr/>
        <p:txBody>
          <a:bodyPr/>
          <a:lstStyle/>
          <a:p>
            <a:endParaRPr lang="en-US"/>
          </a:p>
        </p:txBody>
      </p:sp>
      <p:sp>
        <p:nvSpPr>
          <p:cNvPr id="16" name="Text Placeholder 15">
            <a:extLst>
              <a:ext uri="{FF2B5EF4-FFF2-40B4-BE49-F238E27FC236}">
                <a16:creationId xmlns:a16="http://schemas.microsoft.com/office/drawing/2014/main" id="{341BD916-71AE-106E-105D-01655950FC48}"/>
              </a:ext>
            </a:extLst>
          </p:cNvPr>
          <p:cNvSpPr>
            <a:spLocks noGrp="1"/>
          </p:cNvSpPr>
          <p:nvPr>
            <p:ph type="body" sz="quarter" idx="15"/>
          </p:nvPr>
        </p:nvSpPr>
        <p:spPr>
          <a:xfrm>
            <a:off x="3987800" y="368300"/>
            <a:ext cx="7375525" cy="1014413"/>
          </a:xfrm>
        </p:spPr>
        <p:txBody>
          <a:bodyPr anchor="ctr">
            <a:normAutofit/>
          </a:bodyPr>
          <a:lstStyle>
            <a:lvl1pPr algn="r">
              <a:defRPr sz="2000"/>
            </a:lvl1pPr>
          </a:lstStyle>
          <a:p>
            <a:pPr lvl="0"/>
            <a:r>
              <a:rPr lang="en-GB"/>
              <a:t>Click to edit Master text styles</a:t>
            </a:r>
          </a:p>
        </p:txBody>
      </p:sp>
      <p:sp>
        <p:nvSpPr>
          <p:cNvPr id="4" name="Date Placeholder 3">
            <a:extLst>
              <a:ext uri="{FF2B5EF4-FFF2-40B4-BE49-F238E27FC236}">
                <a16:creationId xmlns:a16="http://schemas.microsoft.com/office/drawing/2014/main" id="{68FD0054-227E-4953-9BB1-7141F90243F6}"/>
              </a:ext>
            </a:extLst>
          </p:cNvPr>
          <p:cNvSpPr>
            <a:spLocks noGrp="1"/>
          </p:cNvSpPr>
          <p:nvPr>
            <p:ph type="dt" sz="half" idx="10"/>
          </p:nvPr>
        </p:nvSpPr>
        <p:spPr/>
        <p:txBody>
          <a:bodyPr/>
          <a:lstStyle/>
          <a:p>
            <a:fld id="{BB8B3EC2-53ED-4D1A-9192-770633E9F6D6}" type="datetimeFigureOut">
              <a:rPr lang="en-US" smtClean="0"/>
              <a:t>10/8/2026</a:t>
            </a:fld>
            <a:endParaRPr lang="en-US"/>
          </a:p>
        </p:txBody>
      </p:sp>
      <p:sp>
        <p:nvSpPr>
          <p:cNvPr id="6" name="Slide Number Placeholder 5">
            <a:extLst>
              <a:ext uri="{FF2B5EF4-FFF2-40B4-BE49-F238E27FC236}">
                <a16:creationId xmlns:a16="http://schemas.microsoft.com/office/drawing/2014/main" id="{8542E0F1-15E9-E241-9959-A6D46B69EE92}"/>
              </a:ext>
            </a:extLst>
          </p:cNvPr>
          <p:cNvSpPr>
            <a:spLocks noGrp="1"/>
          </p:cNvSpPr>
          <p:nvPr>
            <p:ph type="sldNum" sz="quarter" idx="12"/>
          </p:nvPr>
        </p:nvSpPr>
        <p:spPr/>
        <p:txBody>
          <a:bodyPr/>
          <a:lstStyle/>
          <a:p>
            <a:fld id="{9E8223D3-9AA3-4BD5-B1A1-35F69A862191}" type="slidenum">
              <a:rPr lang="en-US" smtClean="0"/>
              <a:t>‹#›</a:t>
            </a:fld>
            <a:endParaRPr lang="en-US"/>
          </a:p>
        </p:txBody>
      </p:sp>
    </p:spTree>
    <p:extLst>
      <p:ext uri="{BB962C8B-B14F-4D97-AF65-F5344CB8AC3E}">
        <p14:creationId xmlns:p14="http://schemas.microsoft.com/office/powerpoint/2010/main" val="410634332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ection Header">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5842852-3CDE-22AD-D5F0-AAF8279A0910}"/>
              </a:ext>
            </a:extLst>
          </p:cNvPr>
          <p:cNvSpPr>
            <a:spLocks noGrp="1"/>
          </p:cNvSpPr>
          <p:nvPr>
            <p:ph type="title"/>
          </p:nvPr>
        </p:nvSpPr>
        <p:spPr>
          <a:xfrm>
            <a:off x="838200" y="859536"/>
            <a:ext cx="9546336" cy="3675885"/>
          </a:xfrm>
        </p:spPr>
        <p:txBody>
          <a:bodyPr anchor="t">
            <a:normAutofit/>
          </a:bodyPr>
          <a:lstStyle>
            <a:lvl1pPr>
              <a:defRPr sz="6000"/>
            </a:lvl1pPr>
          </a:lstStyle>
          <a:p>
            <a:r>
              <a:rPr lang="en-GB"/>
              <a:t>Click to edit Master title style</a:t>
            </a:r>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BB8B3EC2-53ED-4D1A-9192-770633E9F6D6}" type="datetimeFigureOut">
              <a:rPr lang="en-US" smtClean="0"/>
              <a:t>10/8/2026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9E8223D3-9AA3-4BD5-B1A1-35F69A862191}" type="slidenum">
              <a:rPr lang="en-US" smtClean="0"/>
              <a:t>‹#›</a:t>
            </a:fld>
            <a:endParaRPr lang="en-US"/>
          </a:p>
        </p:txBody>
      </p:sp>
      <p:cxnSp>
        <p:nvCxnSpPr>
          <p:cNvPr id="7" name="Straight Connector 6">
            <a:extLst>
              <a:ext uri="{FF2B5EF4-FFF2-40B4-BE49-F238E27FC236}">
                <a16:creationId xmlns:a16="http://schemas.microsoft.com/office/drawing/2014/main" id="{C4D523C5-E38D-F0DE-48C0-B6B8404B63BF}"/>
              </a:ext>
              <a:ext uri="{C183D7F6-B498-43B3-948B-1728B52AA6E4}">
                <adec:decorative xmlns:adec="http://schemas.microsoft.com/office/drawing/2017/decorative" val="1"/>
              </a:ext>
            </a:extLst>
          </p:cNvPr>
          <p:cNvCxnSpPr>
            <a:cxnSpLocks/>
          </p:cNvCxnSpPr>
          <p:nvPr/>
        </p:nvCxnSpPr>
        <p:spPr>
          <a:xfrm flipH="1">
            <a:off x="4" y="514350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039822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Agenda">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C4EF7E11-76D4-64FA-465B-165405450121}"/>
              </a:ext>
            </a:extLst>
          </p:cNvPr>
          <p:cNvSpPr>
            <a:spLocks noGrp="1"/>
          </p:cNvSpPr>
          <p:nvPr>
            <p:ph type="title"/>
          </p:nvPr>
        </p:nvSpPr>
        <p:spPr>
          <a:xfrm>
            <a:off x="1285947" y="1296083"/>
            <a:ext cx="4353325" cy="4265835"/>
          </a:xfrm>
          <a:custGeom>
            <a:avLst/>
            <a:gdLst>
              <a:gd name="connsiteX0" fmla="*/ 2176663 w 4353325"/>
              <a:gd name="connsiteY0" fmla="*/ 0 h 4265835"/>
              <a:gd name="connsiteX1" fmla="*/ 4353325 w 4353325"/>
              <a:gd name="connsiteY1" fmla="*/ 2176662 h 4265835"/>
              <a:gd name="connsiteX2" fmla="*/ 4353325 w 4353325"/>
              <a:gd name="connsiteY2" fmla="*/ 2712923 h 4265835"/>
              <a:gd name="connsiteX3" fmla="*/ 4353325 w 4353325"/>
              <a:gd name="connsiteY3" fmla="*/ 3733873 h 4265835"/>
              <a:gd name="connsiteX4" fmla="*/ 4353325 w 4353325"/>
              <a:gd name="connsiteY4" fmla="*/ 4265835 h 4265835"/>
              <a:gd name="connsiteX5" fmla="*/ 0 w 4353325"/>
              <a:gd name="connsiteY5" fmla="*/ 4265835 h 4265835"/>
              <a:gd name="connsiteX6" fmla="*/ 0 w 4353325"/>
              <a:gd name="connsiteY6" fmla="*/ 3733873 h 4265835"/>
              <a:gd name="connsiteX7" fmla="*/ 0 w 4353325"/>
              <a:gd name="connsiteY7" fmla="*/ 2712923 h 4265835"/>
              <a:gd name="connsiteX8" fmla="*/ 0 w 4353325"/>
              <a:gd name="connsiteY8" fmla="*/ 2176662 h 4265835"/>
              <a:gd name="connsiteX9" fmla="*/ 2176663 w 4353325"/>
              <a:gd name="connsiteY9" fmla="*/ 0 h 4265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53325" h="4265835">
                <a:moveTo>
                  <a:pt x="2176663" y="0"/>
                </a:moveTo>
                <a:cubicBezTo>
                  <a:pt x="3378800" y="0"/>
                  <a:pt x="4353325" y="974525"/>
                  <a:pt x="4353325" y="2176662"/>
                </a:cubicBezTo>
                <a:lnTo>
                  <a:pt x="4353325" y="2712923"/>
                </a:lnTo>
                <a:lnTo>
                  <a:pt x="4353325" y="3733873"/>
                </a:lnTo>
                <a:lnTo>
                  <a:pt x="4353325" y="4265835"/>
                </a:lnTo>
                <a:lnTo>
                  <a:pt x="0" y="4265835"/>
                </a:lnTo>
                <a:lnTo>
                  <a:pt x="0" y="3733873"/>
                </a:lnTo>
                <a:lnTo>
                  <a:pt x="0" y="2712923"/>
                </a:lnTo>
                <a:lnTo>
                  <a:pt x="0" y="2176662"/>
                </a:lnTo>
                <a:cubicBezTo>
                  <a:pt x="0" y="974525"/>
                  <a:pt x="974525" y="0"/>
                  <a:pt x="2176663" y="0"/>
                </a:cubicBezTo>
                <a:close/>
              </a:path>
            </a:pathLst>
          </a:custGeom>
          <a:ln w="6350">
            <a:solidFill>
              <a:schemeClr val="tx1"/>
            </a:solidFill>
          </a:ln>
        </p:spPr>
        <p:txBody>
          <a:bodyPr wrap="square" lIns="182880" tIns="914400" rIns="182880" anchor="ctr" anchorCtr="0">
            <a:noAutofit/>
          </a:bodyPr>
          <a:lstStyle>
            <a:lvl1pPr algn="ctr">
              <a:defRPr sz="3200">
                <a:solidFill>
                  <a:schemeClr val="tx1"/>
                </a:solidFill>
              </a:defRPr>
            </a:lvl1pPr>
          </a:lstStyle>
          <a:p>
            <a:r>
              <a:rPr lang="en-GB"/>
              <a:t>Click to edit Master title style</a:t>
            </a:r>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535056" y="1296083"/>
            <a:ext cx="4325112" cy="4265835"/>
          </a:xfrm>
        </p:spPr>
        <p:txBody>
          <a:bodyPr anchor="b" anchorCtr="0"/>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BB8B3EC2-53ED-4D1A-9192-770633E9F6D6}" type="datetimeFigureOut">
              <a:rPr lang="en-US" smtClean="0"/>
              <a:t>10/8/2026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9E8223D3-9AA3-4BD5-B1A1-35F69A862191}" type="slidenum">
              <a:rPr lang="en-US" smtClean="0"/>
              <a:t>‹#›</a:t>
            </a:fld>
            <a:endParaRPr lang="en-US"/>
          </a:p>
        </p:txBody>
      </p:sp>
    </p:spTree>
    <p:extLst>
      <p:ext uri="{BB962C8B-B14F-4D97-AF65-F5344CB8AC3E}">
        <p14:creationId xmlns:p14="http://schemas.microsoft.com/office/powerpoint/2010/main" val="27515081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05B5E-C545-4763-BA47-4C2C0FCA514D}"/>
              </a:ext>
            </a:extLst>
          </p:cNvPr>
          <p:cNvSpPr>
            <a:spLocks noGrp="1"/>
          </p:cNvSpPr>
          <p:nvPr>
            <p:ph type="title"/>
          </p:nvPr>
        </p:nvSpPr>
        <p:spPr>
          <a:xfrm>
            <a:off x="1060704" y="4608576"/>
            <a:ext cx="4169664" cy="1609344"/>
          </a:xfrm>
        </p:spPr>
        <p:txBody>
          <a:bodyPr anchor="t" anchorCtr="0">
            <a:noAutofit/>
          </a:bodyPr>
          <a:lstStyle>
            <a:lvl1pPr algn="ctr">
              <a:defRPr sz="4400">
                <a:solidFill>
                  <a:schemeClr val="tx1"/>
                </a:solidFill>
              </a:defRPr>
            </a:lvl1pPr>
          </a:lstStyle>
          <a:p>
            <a:r>
              <a:rPr lang="en-GB"/>
              <a:t>Click to edit Master title style</a:t>
            </a:r>
            <a:endParaRPr lang="en-US"/>
          </a:p>
        </p:txBody>
      </p:sp>
      <p:sp>
        <p:nvSpPr>
          <p:cNvPr id="5" name="Footer Placeholder 4">
            <a:extLst>
              <a:ext uri="{FF2B5EF4-FFF2-40B4-BE49-F238E27FC236}">
                <a16:creationId xmlns:a16="http://schemas.microsoft.com/office/drawing/2014/main" id="{C79D23AA-8F22-4B09-8FAA-CD16E5D66C5D}"/>
              </a:ext>
            </a:extLst>
          </p:cNvPr>
          <p:cNvSpPr>
            <a:spLocks noGrp="1"/>
          </p:cNvSpPr>
          <p:nvPr>
            <p:ph type="ftr" sz="quarter" idx="11"/>
          </p:nvPr>
        </p:nvSpPr>
        <p:spPr/>
        <p:txBody>
          <a:bodyPr/>
          <a:lstStyle>
            <a:lvl1pPr>
              <a:defRPr>
                <a:solidFill>
                  <a:schemeClr val="tx1"/>
                </a:solidFill>
              </a:defRPr>
            </a:lvl1pPr>
          </a:lstStyle>
          <a:p>
            <a:endParaRPr lang="en-US"/>
          </a:p>
        </p:txBody>
      </p:sp>
      <p:sp>
        <p:nvSpPr>
          <p:cNvPr id="8" name="Picture Placeholder 7">
            <a:extLst>
              <a:ext uri="{FF2B5EF4-FFF2-40B4-BE49-F238E27FC236}">
                <a16:creationId xmlns:a16="http://schemas.microsoft.com/office/drawing/2014/main" id="{4E5AAB3D-814D-597A-6ADE-F522A8116DCD}"/>
              </a:ext>
            </a:extLst>
          </p:cNvPr>
          <p:cNvSpPr>
            <a:spLocks noGrp="1"/>
          </p:cNvSpPr>
          <p:nvPr>
            <p:ph type="pic" idx="13" hasCustomPrompt="1"/>
          </p:nvPr>
        </p:nvSpPr>
        <p:spPr>
          <a:xfrm>
            <a:off x="1257301" y="1097280"/>
            <a:ext cx="3776470" cy="3168100"/>
          </a:xfrm>
          <a:custGeom>
            <a:avLst/>
            <a:gdLst>
              <a:gd name="connsiteX0" fmla="*/ 1888235 w 3776470"/>
              <a:gd name="connsiteY0" fmla="*/ 0 h 3168100"/>
              <a:gd name="connsiteX1" fmla="*/ 3776470 w 3776470"/>
              <a:gd name="connsiteY1" fmla="*/ 1888235 h 3168100"/>
              <a:gd name="connsiteX2" fmla="*/ 3776470 w 3776470"/>
              <a:gd name="connsiteY2" fmla="*/ 3168100 h 3168100"/>
              <a:gd name="connsiteX3" fmla="*/ 0 w 3776470"/>
              <a:gd name="connsiteY3" fmla="*/ 3168100 h 3168100"/>
              <a:gd name="connsiteX4" fmla="*/ 0 w 3776470"/>
              <a:gd name="connsiteY4" fmla="*/ 1888235 h 3168100"/>
              <a:gd name="connsiteX5" fmla="*/ 1888235 w 3776470"/>
              <a:gd name="connsiteY5" fmla="*/ 0 h 316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76470" h="3168100">
                <a:moveTo>
                  <a:pt x="1888235" y="0"/>
                </a:moveTo>
                <a:cubicBezTo>
                  <a:pt x="2931078" y="0"/>
                  <a:pt x="3776470" y="845392"/>
                  <a:pt x="3776470" y="1888235"/>
                </a:cubicBezTo>
                <a:lnTo>
                  <a:pt x="3776470" y="3168100"/>
                </a:lnTo>
                <a:lnTo>
                  <a:pt x="0" y="3168100"/>
                </a:lnTo>
                <a:lnTo>
                  <a:pt x="0" y="1888235"/>
                </a:lnTo>
                <a:cubicBezTo>
                  <a:pt x="0" y="845392"/>
                  <a:pt x="845392" y="0"/>
                  <a:pt x="1888235"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6350">
            <a:solidFill>
              <a:schemeClr val="tx1"/>
            </a:solidFill>
          </a:ln>
        </p:spPr>
        <p:txBody>
          <a:bodyPr wrap="square">
            <a:noAutofit/>
          </a:bodyPr>
          <a:lstStyle>
            <a:lvl1pPr marL="0" indent="0">
              <a:buFont typeface="Arial" panose="020B0604020202020204" pitchFamily="34" charse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 </a:t>
            </a:r>
          </a:p>
        </p:txBody>
      </p:sp>
      <p:sp>
        <p:nvSpPr>
          <p:cNvPr id="3" name="Content Placeholder 2">
            <a:extLst>
              <a:ext uri="{FF2B5EF4-FFF2-40B4-BE49-F238E27FC236}">
                <a16:creationId xmlns:a16="http://schemas.microsoft.com/office/drawing/2014/main" id="{7FA263F8-8E34-4910-BF7A-F1C5A99689DC}"/>
              </a:ext>
            </a:extLst>
          </p:cNvPr>
          <p:cNvSpPr>
            <a:spLocks noGrp="1"/>
          </p:cNvSpPr>
          <p:nvPr>
            <p:ph idx="1"/>
          </p:nvPr>
        </p:nvSpPr>
        <p:spPr>
          <a:xfrm>
            <a:off x="7141464" y="841248"/>
            <a:ext cx="4215384" cy="5330952"/>
          </a:xfrm>
        </p:spPr>
        <p:txBody>
          <a:bodyPr anchor="ctr"/>
          <a:lstStyle>
            <a:lvl1pPr algn="ctr">
              <a:defRPr>
                <a:solidFill>
                  <a:schemeClr val="tx1"/>
                </a:solidFill>
              </a:defRPr>
            </a:lvl1pPr>
            <a:lvl2pPr algn="ctr">
              <a:defRPr>
                <a:solidFill>
                  <a:schemeClr val="tx1"/>
                </a:solidFill>
              </a:defRPr>
            </a:lvl2pPr>
            <a:lvl3pPr algn="ctr">
              <a:defRPr>
                <a:solidFill>
                  <a:schemeClr val="tx1"/>
                </a:solidFill>
              </a:defRPr>
            </a:lvl3pPr>
            <a:lvl4pPr algn="ctr">
              <a:defRPr>
                <a:solidFill>
                  <a:schemeClr val="tx1"/>
                </a:solidFill>
              </a:defRPr>
            </a:lvl4pPr>
            <a:lvl5pPr algn="ctr">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56E74E5-D20D-4AB7-8D98-F336CE0ECCBE}"/>
              </a:ext>
            </a:extLst>
          </p:cNvPr>
          <p:cNvSpPr>
            <a:spLocks noGrp="1"/>
          </p:cNvSpPr>
          <p:nvPr>
            <p:ph type="dt" sz="half" idx="10"/>
          </p:nvPr>
        </p:nvSpPr>
        <p:spPr/>
        <p:txBody>
          <a:bodyPr/>
          <a:lstStyle>
            <a:lvl1pPr>
              <a:defRPr>
                <a:solidFill>
                  <a:schemeClr val="tx1"/>
                </a:solidFill>
              </a:defRPr>
            </a:lvl1pPr>
          </a:lstStyle>
          <a:p>
            <a:fld id="{BB8B3EC2-53ED-4D1A-9192-770633E9F6D6}" type="datetimeFigureOut">
              <a:rPr lang="en-US" smtClean="0"/>
              <a:t>10/8/2026</a:t>
            </a:fld>
            <a:endParaRPr lang="en-US"/>
          </a:p>
        </p:txBody>
      </p:sp>
      <p:sp>
        <p:nvSpPr>
          <p:cNvPr id="6" name="Slide Number Placeholder 5">
            <a:extLst>
              <a:ext uri="{FF2B5EF4-FFF2-40B4-BE49-F238E27FC236}">
                <a16:creationId xmlns:a16="http://schemas.microsoft.com/office/drawing/2014/main" id="{84E8A028-A0C8-45E7-915E-B83FF59C9F18}"/>
              </a:ext>
            </a:extLst>
          </p:cNvPr>
          <p:cNvSpPr>
            <a:spLocks noGrp="1"/>
          </p:cNvSpPr>
          <p:nvPr>
            <p:ph type="sldNum" sz="quarter" idx="12"/>
          </p:nvPr>
        </p:nvSpPr>
        <p:spPr/>
        <p:txBody>
          <a:bodyPr/>
          <a:lstStyle>
            <a:lvl1pPr>
              <a:defRPr>
                <a:solidFill>
                  <a:schemeClr val="tx1"/>
                </a:solidFill>
              </a:defRPr>
            </a:lvl1pPr>
          </a:lstStyle>
          <a:p>
            <a:fld id="{9E8223D3-9AA3-4BD5-B1A1-35F69A862191}" type="slidenum">
              <a:rPr lang="en-US" smtClean="0"/>
              <a:t>‹#›</a:t>
            </a:fld>
            <a:endParaRPr lang="en-US"/>
          </a:p>
        </p:txBody>
      </p:sp>
      <p:cxnSp>
        <p:nvCxnSpPr>
          <p:cNvPr id="7" name="Straight Connector 6">
            <a:extLst>
              <a:ext uri="{FF2B5EF4-FFF2-40B4-BE49-F238E27FC236}">
                <a16:creationId xmlns:a16="http://schemas.microsoft.com/office/drawing/2014/main" id="{ECD2C868-CE73-A5B1-1389-62A23B14E008}"/>
              </a:ext>
              <a:ext uri="{C183D7F6-B498-43B3-948B-1728B52AA6E4}">
                <adec:decorative xmlns:adec="http://schemas.microsoft.com/office/drawing/2017/decorative" val="1"/>
              </a:ext>
            </a:extLst>
          </p:cNvPr>
          <p:cNvCxnSpPr>
            <a:cxnSpLocks/>
          </p:cNvCxnSpPr>
          <p:nvPr/>
        </p:nvCxnSpPr>
        <p:spPr>
          <a:xfrm>
            <a:off x="6297086"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877505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86384" y="2615184"/>
            <a:ext cx="3813048" cy="3557016"/>
          </a:xfrm>
        </p:spPr>
        <p:txBody>
          <a:bodyPr>
            <a:normAutofit/>
          </a:bodyPr>
          <a:lstStyle>
            <a:lvl1pPr>
              <a:defRPr sz="3200">
                <a:solidFill>
                  <a:schemeClr val="tx1"/>
                </a:solidFill>
              </a:defRPr>
            </a:lvl1pPr>
          </a:lstStyle>
          <a:p>
            <a:r>
              <a:rPr lang="en-GB"/>
              <a:t>Click to edit Master title style</a:t>
            </a:r>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841248"/>
            <a:ext cx="4956175" cy="3556000"/>
          </a:xfrm>
        </p:spPr>
        <p:txBody>
          <a:bodyPr/>
          <a:lstStyle>
            <a:lvl1pPr>
              <a:defRPr>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BB8B3EC2-53ED-4D1A-9192-770633E9F6D6}" type="datetimeFigureOut">
              <a:rPr lang="en-US" smtClean="0"/>
              <a:t>10/8/2026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9E8223D3-9AA3-4BD5-B1A1-35F69A862191}" type="slidenum">
              <a:rPr lang="en-US" smtClean="0"/>
              <a:t>‹#›</a:t>
            </a:fld>
            <a:endParaRPr lang="en-US"/>
          </a:p>
        </p:txBody>
      </p:sp>
      <p:cxnSp>
        <p:nvCxnSpPr>
          <p:cNvPr id="3" name="Straight Connector 2">
            <a:extLst>
              <a:ext uri="{FF2B5EF4-FFF2-40B4-BE49-F238E27FC236}">
                <a16:creationId xmlns:a16="http://schemas.microsoft.com/office/drawing/2014/main" id="{EF4378AB-83E7-8777-F6CD-8F19BA4FEE73}"/>
              </a:ext>
              <a:ext uri="{C183D7F6-B498-43B3-948B-1728B52AA6E4}">
                <adec:decorative xmlns:adec="http://schemas.microsoft.com/office/drawing/2017/decorative" val="1"/>
              </a:ext>
            </a:extLst>
          </p:cNvPr>
          <p:cNvCxnSpPr>
            <a:cxnSpLocks/>
          </p:cNvCxnSpPr>
          <p:nvPr/>
        </p:nvCxnSpPr>
        <p:spPr>
          <a:xfrm flipV="1">
            <a:off x="5016203"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197705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841248"/>
            <a:ext cx="2999232" cy="5184648"/>
          </a:xfrm>
        </p:spPr>
        <p:txBody>
          <a:bodyPr anchor="t" anchorCtr="0">
            <a:normAutofit/>
          </a:bodyPr>
          <a:lstStyle>
            <a:lvl1pPr>
              <a:defRPr sz="3200">
                <a:solidFill>
                  <a:schemeClr val="tx1"/>
                </a:solidFill>
              </a:defRPr>
            </a:lvl1pPr>
          </a:lstStyle>
          <a:p>
            <a:r>
              <a:rPr lang="en-GB"/>
              <a:t>Click to edit Master title style</a:t>
            </a:r>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666926" y="841248"/>
            <a:ext cx="6260154" cy="5184648"/>
          </a:xfrm>
        </p:spPr>
        <p:txBody>
          <a:bodyPr/>
          <a:lstStyle>
            <a:lvl1pPr>
              <a:defRPr>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BB8B3EC2-53ED-4D1A-9192-770633E9F6D6}" type="datetimeFigureOut">
              <a:rPr lang="en-US" smtClean="0"/>
              <a:t>10/8/2026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9E8223D3-9AA3-4BD5-B1A1-35F69A862191}" type="slidenum">
              <a:rPr lang="en-US" smtClean="0"/>
              <a:t>‹#›</a:t>
            </a:fld>
            <a:endParaRPr lang="en-US"/>
          </a:p>
        </p:txBody>
      </p:sp>
      <p:cxnSp>
        <p:nvCxnSpPr>
          <p:cNvPr id="3" name="Straight Connector 2">
            <a:extLst>
              <a:ext uri="{FF2B5EF4-FFF2-40B4-BE49-F238E27FC236}">
                <a16:creationId xmlns:a16="http://schemas.microsoft.com/office/drawing/2014/main" id="{C8293A07-68F2-BD10-B738-E87F3F3D8CF3}"/>
              </a:ext>
              <a:ext uri="{C183D7F6-B498-43B3-948B-1728B52AA6E4}">
                <adec:decorative xmlns:adec="http://schemas.microsoft.com/office/drawing/2017/decorative" val="1"/>
              </a:ext>
            </a:extLst>
          </p:cNvPr>
          <p:cNvCxnSpPr>
            <a:cxnSpLocks/>
          </p:cNvCxnSpPr>
          <p:nvPr/>
        </p:nvCxnSpPr>
        <p:spPr>
          <a:xfrm flipV="1">
            <a:off x="418221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469440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31152" y="990511"/>
            <a:ext cx="2565593" cy="1858941"/>
          </a:xfrm>
        </p:spPr>
        <p:txBody>
          <a:bodyPr anchor="b"/>
          <a:lstStyle>
            <a:lvl1pPr>
              <a:defRPr lang="en-US" sz="3200" kern="1200" dirty="0">
                <a:solidFill>
                  <a:schemeClr val="tx1"/>
                </a:solidFill>
                <a:latin typeface="+mj-lt"/>
                <a:ea typeface="+mj-ea"/>
                <a:cs typeface="+mj-cs"/>
              </a:defRPr>
            </a:lvl1pPr>
          </a:lstStyle>
          <a:p>
            <a:r>
              <a:rPr lang="en-GB"/>
              <a:t>Click to edit Master title style</a:t>
            </a:r>
            <a:endParaRPr lang="en-US"/>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0"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lvl1pPr marL="0" indent="0">
              <a:buFont typeface="Arial" panose="020B0604020202020204" pitchFamily="34" charse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32271" y="3011335"/>
            <a:ext cx="2559977" cy="2656250"/>
          </a:xfrm>
        </p:spPr>
        <p:txBody>
          <a:bodyPr vert="horz" lIns="91440" tIns="45720" rIns="91440" bIns="45720" rtlCol="0">
            <a:normAutofit/>
          </a:bodyPr>
          <a:lstStyle>
            <a:lvl1pPr marL="0" indent="0">
              <a:buNone/>
              <a:defRPr lang="en-US"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Footer Placeholder 5">
            <a:extLst>
              <a:ext uri="{FF2B5EF4-FFF2-40B4-BE49-F238E27FC236}">
                <a16:creationId xmlns:a16="http://schemas.microsoft.com/office/drawing/2014/main" id="{8BD5A515-9970-0784-7927-52F94C270B46}"/>
              </a:ext>
            </a:extLst>
          </p:cNvPr>
          <p:cNvSpPr>
            <a:spLocks noGrp="1"/>
          </p:cNvSpPr>
          <p:nvPr>
            <p:ph type="ftr" sz="quarter" idx="16"/>
          </p:nvPr>
        </p:nvSpPr>
        <p:spPr>
          <a:xfrm rot="5400000">
            <a:off x="10292564" y="1592958"/>
            <a:ext cx="2973522" cy="365125"/>
          </a:xfrm>
        </p:spPr>
        <p:txBody>
          <a:bodyPr/>
          <a:lstStyle>
            <a:lvl1pPr algn="l">
              <a:defRPr>
                <a:solidFill>
                  <a:schemeClr val="tx1"/>
                </a:solidFill>
              </a:defRPr>
            </a:lvl1pPr>
          </a:lstStyle>
          <a:p>
            <a:endParaRPr lang="en-US"/>
          </a:p>
        </p:txBody>
      </p:sp>
      <p:sp>
        <p:nvSpPr>
          <p:cNvPr id="9" name="Date Placeholder 4">
            <a:extLst>
              <a:ext uri="{FF2B5EF4-FFF2-40B4-BE49-F238E27FC236}">
                <a16:creationId xmlns:a16="http://schemas.microsoft.com/office/drawing/2014/main" id="{8523CCEC-6BB2-B704-95E2-87FED823C5BD}"/>
              </a:ext>
            </a:extLst>
          </p:cNvPr>
          <p:cNvSpPr>
            <a:spLocks noGrp="1"/>
          </p:cNvSpPr>
          <p:nvPr>
            <p:ph type="dt" sz="half" idx="15"/>
          </p:nvPr>
        </p:nvSpPr>
        <p:spPr>
          <a:xfrm rot="5400000">
            <a:off x="10425981" y="4687095"/>
            <a:ext cx="2706690" cy="365125"/>
          </a:xfrm>
        </p:spPr>
        <p:txBody>
          <a:bodyPr/>
          <a:lstStyle>
            <a:lvl1pPr>
              <a:defRPr>
                <a:solidFill>
                  <a:schemeClr val="tx1"/>
                </a:solidFill>
              </a:defRPr>
            </a:lvl1pPr>
          </a:lstStyle>
          <a:p>
            <a:fld id="{BB8B3EC2-53ED-4D1A-9192-770633E9F6D6}" type="datetimeFigureOut">
              <a:rPr lang="en-US" smtClean="0"/>
              <a:t>10/8/2026</a:t>
            </a:fld>
            <a:endParaRPr lang="en-US"/>
          </a:p>
        </p:txBody>
      </p:sp>
      <p:sp>
        <p:nvSpPr>
          <p:cNvPr id="11" name="Slide Number Placeholder 6">
            <a:extLst>
              <a:ext uri="{FF2B5EF4-FFF2-40B4-BE49-F238E27FC236}">
                <a16:creationId xmlns:a16="http://schemas.microsoft.com/office/drawing/2014/main" id="{1208465C-8C77-73BF-D18F-D01907BAC864}"/>
              </a:ext>
            </a:extLst>
          </p:cNvPr>
          <p:cNvSpPr>
            <a:spLocks noGrp="1"/>
          </p:cNvSpPr>
          <p:nvPr>
            <p:ph type="sldNum" sz="quarter" idx="17"/>
          </p:nvPr>
        </p:nvSpPr>
        <p:spPr>
          <a:xfrm>
            <a:off x="11512296" y="6356350"/>
            <a:ext cx="574620" cy="365125"/>
          </a:xfrm>
        </p:spPr>
        <p:txBody>
          <a:bodyPr/>
          <a:lstStyle>
            <a:lvl1pPr>
              <a:defRPr>
                <a:solidFill>
                  <a:schemeClr val="tx1"/>
                </a:solidFill>
              </a:defRPr>
            </a:lvl1pPr>
          </a:lstStyle>
          <a:p>
            <a:fld id="{9E8223D3-9AA3-4BD5-B1A1-35F69A862191}" type="slidenum">
              <a:rPr lang="en-US" smtClean="0"/>
              <a:t>‹#›</a:t>
            </a:fld>
            <a:endParaRPr lang="en-US"/>
          </a:p>
        </p:txBody>
      </p:sp>
      <p:cxnSp>
        <p:nvCxnSpPr>
          <p:cNvPr id="3" name="Straight Connector 2">
            <a:extLst>
              <a:ext uri="{FF2B5EF4-FFF2-40B4-BE49-F238E27FC236}">
                <a16:creationId xmlns:a16="http://schemas.microsoft.com/office/drawing/2014/main" id="{50E2A219-E459-07B3-1ED3-CBF7D239BE08}"/>
              </a:ext>
              <a:ext uri="{C183D7F6-B498-43B3-948B-1728B52AA6E4}">
                <adec:decorative xmlns:adec="http://schemas.microsoft.com/office/drawing/2017/decorative" val="1"/>
              </a:ext>
            </a:extLst>
          </p:cNvPr>
          <p:cNvCxnSpPr>
            <a:cxnSpLocks/>
          </p:cNvCxnSpPr>
          <p:nvPr/>
        </p:nvCxnSpPr>
        <p:spPr>
          <a:xfrm>
            <a:off x="832057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638580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03520" y="548640"/>
            <a:ext cx="6093225" cy="1143000"/>
          </a:xfrm>
        </p:spPr>
        <p:txBody>
          <a:bodyPr anchor="b">
            <a:noAutofit/>
          </a:bodyPr>
          <a:lstStyle>
            <a:lvl1pPr>
              <a:defRPr sz="3200">
                <a:solidFill>
                  <a:schemeClr val="tx1"/>
                </a:solidFill>
              </a:defRPr>
            </a:lvl1pPr>
          </a:lstStyle>
          <a:p>
            <a:r>
              <a:rPr lang="en-GB"/>
              <a:t>Click to edit Master title style</a:t>
            </a:r>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793885"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303520" y="1828800"/>
            <a:ext cx="6071616" cy="448970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cxnSp>
        <p:nvCxnSpPr>
          <p:cNvPr id="3" name="Straight Connector 2">
            <a:extLst>
              <a:ext uri="{FF2B5EF4-FFF2-40B4-BE49-F238E27FC236}">
                <a16:creationId xmlns:a16="http://schemas.microsoft.com/office/drawing/2014/main" id="{DF483F68-3490-71E7-A7DA-DA46BC485F75}"/>
              </a:ext>
              <a:ext uri="{C183D7F6-B498-43B3-948B-1728B52AA6E4}">
                <adec:decorative xmlns:adec="http://schemas.microsoft.com/office/drawing/2017/decorative" val="1"/>
              </a:ext>
            </a:extLst>
          </p:cNvPr>
          <p:cNvCxnSpPr>
            <a:cxnSpLocks/>
          </p:cNvCxnSpPr>
          <p:nvPr/>
        </p:nvCxnSpPr>
        <p:spPr>
          <a:xfrm>
            <a:off x="4797154"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59345FA4-0621-D8F1-73D0-046B7F4D7713}"/>
              </a:ext>
            </a:extLst>
          </p:cNvPr>
          <p:cNvSpPr>
            <a:spLocks noGrp="1"/>
          </p:cNvSpPr>
          <p:nvPr>
            <p:ph type="dt" sz="half" idx="15"/>
          </p:nvPr>
        </p:nvSpPr>
        <p:spPr>
          <a:xfrm rot="5400000">
            <a:off x="10425981" y="4687095"/>
            <a:ext cx="2706690" cy="365125"/>
          </a:xfrm>
        </p:spPr>
        <p:txBody>
          <a:bodyPr/>
          <a:lstStyle/>
          <a:p>
            <a:fld id="{BB8B3EC2-53ED-4D1A-9192-770633E9F6D6}" type="datetimeFigureOut">
              <a:rPr lang="en-US" smtClean="0"/>
              <a:t>10/8/2026</a:t>
            </a:fld>
            <a:endParaRPr lang="en-US"/>
          </a:p>
        </p:txBody>
      </p:sp>
      <p:sp>
        <p:nvSpPr>
          <p:cNvPr id="9" name="Footer Placeholder 8">
            <a:extLst>
              <a:ext uri="{FF2B5EF4-FFF2-40B4-BE49-F238E27FC236}">
                <a16:creationId xmlns:a16="http://schemas.microsoft.com/office/drawing/2014/main" id="{84C51678-E871-8AD4-08DA-BF7B7013A356}"/>
              </a:ext>
            </a:extLst>
          </p:cNvPr>
          <p:cNvSpPr>
            <a:spLocks noGrp="1"/>
          </p:cNvSpPr>
          <p:nvPr>
            <p:ph type="ftr" sz="quarter" idx="16"/>
          </p:nvPr>
        </p:nvSpPr>
        <p:spPr>
          <a:xfrm rot="16200000" flipH="1">
            <a:off x="10292565" y="1592957"/>
            <a:ext cx="2973522" cy="365125"/>
          </a:xfrm>
        </p:spPr>
        <p:txBody>
          <a:bodyPr/>
          <a:lstStyle/>
          <a:p>
            <a:endParaRPr lang="en-US"/>
          </a:p>
        </p:txBody>
      </p:sp>
      <p:sp>
        <p:nvSpPr>
          <p:cNvPr id="10" name="Slide Number Placeholder 9">
            <a:extLst>
              <a:ext uri="{FF2B5EF4-FFF2-40B4-BE49-F238E27FC236}">
                <a16:creationId xmlns:a16="http://schemas.microsoft.com/office/drawing/2014/main" id="{3CD01CE4-E064-7D2F-7D3A-9DA85E2777F2}"/>
              </a:ext>
            </a:extLst>
          </p:cNvPr>
          <p:cNvSpPr>
            <a:spLocks noGrp="1"/>
          </p:cNvSpPr>
          <p:nvPr>
            <p:ph type="sldNum" sz="quarter" idx="17"/>
          </p:nvPr>
        </p:nvSpPr>
        <p:spPr/>
        <p:txBody>
          <a:bodyPr/>
          <a:lstStyle/>
          <a:p>
            <a:fld id="{9E8223D3-9AA3-4BD5-B1A1-35F69A862191}" type="slidenum">
              <a:rPr lang="en-US" smtClean="0"/>
              <a:t>‹#›</a:t>
            </a:fld>
            <a:endParaRPr lang="en-US"/>
          </a:p>
        </p:txBody>
      </p:sp>
    </p:spTree>
    <p:extLst>
      <p:ext uri="{BB962C8B-B14F-4D97-AF65-F5344CB8AC3E}">
        <p14:creationId xmlns:p14="http://schemas.microsoft.com/office/powerpoint/2010/main" val="41998179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48640"/>
            <a:ext cx="6135624" cy="1143000"/>
          </a:xfrm>
        </p:spPr>
        <p:txBody>
          <a:bodyPr anchor="b">
            <a:noAutofit/>
          </a:bodyPr>
          <a:lstStyle>
            <a:lvl1pPr>
              <a:defRPr sz="3200">
                <a:solidFill>
                  <a:schemeClr val="tx1"/>
                </a:solidFill>
              </a:defRPr>
            </a:lvl1pPr>
          </a:lstStyle>
          <a:p>
            <a:r>
              <a:rPr lang="en-GB"/>
              <a:t>Click to edit Master title style</a:t>
            </a:r>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828800"/>
            <a:ext cx="6135624" cy="448970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400544" y="0"/>
            <a:ext cx="4791456"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6" name="Straight Connector 5">
            <a:extLst>
              <a:ext uri="{FF2B5EF4-FFF2-40B4-BE49-F238E27FC236}">
                <a16:creationId xmlns:a16="http://schemas.microsoft.com/office/drawing/2014/main" id="{9BC07157-DE89-FE2F-0547-2E4055913A13}"/>
              </a:ext>
              <a:ext uri="{C183D7F6-B498-43B3-948B-1728B52AA6E4}">
                <adec:decorative xmlns:adec="http://schemas.microsoft.com/office/drawing/2017/decorative" val="1"/>
              </a:ext>
            </a:extLst>
          </p:cNvPr>
          <p:cNvCxnSpPr>
            <a:cxnSpLocks/>
          </p:cNvCxnSpPr>
          <p:nvPr/>
        </p:nvCxnSpPr>
        <p:spPr>
          <a:xfrm>
            <a:off x="7382022"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EF7A0C5A-6673-53CC-030B-67BA133D9741}"/>
              </a:ext>
            </a:extLst>
          </p:cNvPr>
          <p:cNvSpPr>
            <a:spLocks noGrp="1"/>
          </p:cNvSpPr>
          <p:nvPr>
            <p:ph type="dt" sz="half" idx="15"/>
          </p:nvPr>
        </p:nvSpPr>
        <p:spPr>
          <a:xfrm rot="5400000">
            <a:off x="-997745" y="4687095"/>
            <a:ext cx="2706690" cy="365125"/>
          </a:xfrm>
        </p:spPr>
        <p:txBody>
          <a:bodyPr/>
          <a:lstStyle/>
          <a:p>
            <a:fld id="{BB8B3EC2-53ED-4D1A-9192-770633E9F6D6}" type="datetimeFigureOut">
              <a:rPr lang="en-US" smtClean="0"/>
              <a:t>10/8/2026</a:t>
            </a:fld>
            <a:endParaRPr lang="en-US"/>
          </a:p>
        </p:txBody>
      </p:sp>
      <p:sp>
        <p:nvSpPr>
          <p:cNvPr id="7" name="Footer Placeholder 6">
            <a:extLst>
              <a:ext uri="{FF2B5EF4-FFF2-40B4-BE49-F238E27FC236}">
                <a16:creationId xmlns:a16="http://schemas.microsoft.com/office/drawing/2014/main" id="{92521688-F793-E4F2-732B-EEE6F58B758E}"/>
              </a:ext>
            </a:extLst>
          </p:cNvPr>
          <p:cNvSpPr>
            <a:spLocks noGrp="1"/>
          </p:cNvSpPr>
          <p:nvPr>
            <p:ph type="ftr" sz="quarter" idx="16"/>
          </p:nvPr>
        </p:nvSpPr>
        <p:spPr>
          <a:xfrm rot="16200000" flipH="1">
            <a:off x="-1131161" y="1592957"/>
            <a:ext cx="2973522" cy="365125"/>
          </a:xfrm>
        </p:spPr>
        <p:txBody>
          <a:bodyPr/>
          <a:lstStyle/>
          <a:p>
            <a:endParaRPr lang="en-US"/>
          </a:p>
        </p:txBody>
      </p:sp>
      <p:sp>
        <p:nvSpPr>
          <p:cNvPr id="9" name="Slide Number Placeholder 8">
            <a:extLst>
              <a:ext uri="{FF2B5EF4-FFF2-40B4-BE49-F238E27FC236}">
                <a16:creationId xmlns:a16="http://schemas.microsoft.com/office/drawing/2014/main" id="{2DDBE29E-7417-B57C-BA94-1DBC14BE461B}"/>
              </a:ext>
            </a:extLst>
          </p:cNvPr>
          <p:cNvSpPr>
            <a:spLocks noGrp="1"/>
          </p:cNvSpPr>
          <p:nvPr>
            <p:ph type="sldNum" sz="quarter" idx="17"/>
          </p:nvPr>
        </p:nvSpPr>
        <p:spPr>
          <a:xfrm>
            <a:off x="51117" y="6356350"/>
            <a:ext cx="574620" cy="365125"/>
          </a:xfrm>
        </p:spPr>
        <p:txBody>
          <a:bodyPr/>
          <a:lstStyle/>
          <a:p>
            <a:fld id="{9E8223D3-9AA3-4BD5-B1A1-35F69A862191}" type="slidenum">
              <a:rPr lang="en-US" smtClean="0"/>
              <a:t>‹#›</a:t>
            </a:fld>
            <a:endParaRPr lang="en-US"/>
          </a:p>
        </p:txBody>
      </p:sp>
    </p:spTree>
    <p:extLst>
      <p:ext uri="{BB962C8B-B14F-4D97-AF65-F5344CB8AC3E}">
        <p14:creationId xmlns:p14="http://schemas.microsoft.com/office/powerpoint/2010/main" val="25422704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20040"/>
            <a:ext cx="6858000" cy="932688"/>
          </a:xfrm>
        </p:spPr>
        <p:txBody>
          <a:bodyPr anchor="b">
            <a:noAutofit/>
          </a:bodyPr>
          <a:lstStyle>
            <a:lvl1pPr>
              <a:defRPr sz="3200">
                <a:solidFill>
                  <a:schemeClr val="tx1"/>
                </a:solidFill>
              </a:defRPr>
            </a:lvl1pPr>
          </a:lstStyle>
          <a:p>
            <a:r>
              <a:rPr lang="en-GB"/>
              <a:t>Click to edit Master title style</a:t>
            </a:r>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380744"/>
            <a:ext cx="6858000" cy="498348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4" name="Straight Connector 3">
            <a:extLst>
              <a:ext uri="{FF2B5EF4-FFF2-40B4-BE49-F238E27FC236}">
                <a16:creationId xmlns:a16="http://schemas.microsoft.com/office/drawing/2014/main" id="{3C626C00-7A36-46A2-880D-F484910B3412}"/>
              </a:ext>
              <a:ext uri="{C183D7F6-B498-43B3-948B-1728B52AA6E4}">
                <adec:decorative xmlns:adec="http://schemas.microsoft.com/office/drawing/2017/decorative" val="1"/>
              </a:ext>
            </a:extLst>
          </p:cNvPr>
          <p:cNvCxnSpPr>
            <a:cxnSpLocks/>
          </p:cNvCxnSpPr>
          <p:nvPr/>
        </p:nvCxnSpPr>
        <p:spPr>
          <a:xfrm>
            <a:off x="8077761"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Date Placeholder 2">
            <a:extLst>
              <a:ext uri="{FF2B5EF4-FFF2-40B4-BE49-F238E27FC236}">
                <a16:creationId xmlns:a16="http://schemas.microsoft.com/office/drawing/2014/main" id="{68FF6D8B-36A2-DF79-CDB9-885694DCA71D}"/>
              </a:ext>
            </a:extLst>
          </p:cNvPr>
          <p:cNvSpPr>
            <a:spLocks noGrp="1"/>
          </p:cNvSpPr>
          <p:nvPr>
            <p:ph type="dt" sz="half" idx="15"/>
          </p:nvPr>
        </p:nvSpPr>
        <p:spPr>
          <a:xfrm rot="5400000">
            <a:off x="-997745" y="4687095"/>
            <a:ext cx="2706690" cy="365125"/>
          </a:xfrm>
        </p:spPr>
        <p:txBody>
          <a:bodyPr/>
          <a:lstStyle/>
          <a:p>
            <a:fld id="{BB8B3EC2-53ED-4D1A-9192-770633E9F6D6}" type="datetimeFigureOut">
              <a:rPr lang="en-US" smtClean="0"/>
              <a:t>10/8/2026</a:t>
            </a:fld>
            <a:endParaRPr lang="en-US"/>
          </a:p>
        </p:txBody>
      </p:sp>
      <p:sp>
        <p:nvSpPr>
          <p:cNvPr id="5" name="Footer Placeholder 4">
            <a:extLst>
              <a:ext uri="{FF2B5EF4-FFF2-40B4-BE49-F238E27FC236}">
                <a16:creationId xmlns:a16="http://schemas.microsoft.com/office/drawing/2014/main" id="{63A2396A-E38F-CC9C-7303-71F99D082082}"/>
              </a:ext>
            </a:extLst>
          </p:cNvPr>
          <p:cNvSpPr>
            <a:spLocks noGrp="1"/>
          </p:cNvSpPr>
          <p:nvPr>
            <p:ph type="ftr" sz="quarter" idx="16"/>
          </p:nvPr>
        </p:nvSpPr>
        <p:spPr>
          <a:xfrm rot="16200000" flipH="1">
            <a:off x="-1131161" y="1592957"/>
            <a:ext cx="2973522" cy="365125"/>
          </a:xfrm>
        </p:spPr>
        <p:txBody>
          <a:bodyPr/>
          <a:lstStyle/>
          <a:p>
            <a:endParaRPr lang="en-US"/>
          </a:p>
        </p:txBody>
      </p:sp>
      <p:sp>
        <p:nvSpPr>
          <p:cNvPr id="6" name="Slide Number Placeholder 5">
            <a:extLst>
              <a:ext uri="{FF2B5EF4-FFF2-40B4-BE49-F238E27FC236}">
                <a16:creationId xmlns:a16="http://schemas.microsoft.com/office/drawing/2014/main" id="{483B0E4B-031C-4F2A-1993-D824DD71F7DE}"/>
              </a:ext>
            </a:extLst>
          </p:cNvPr>
          <p:cNvSpPr>
            <a:spLocks noGrp="1"/>
          </p:cNvSpPr>
          <p:nvPr>
            <p:ph type="sldNum" sz="quarter" idx="17"/>
          </p:nvPr>
        </p:nvSpPr>
        <p:spPr>
          <a:xfrm>
            <a:off x="51117" y="6356350"/>
            <a:ext cx="574620" cy="365125"/>
          </a:xfrm>
        </p:spPr>
        <p:txBody>
          <a:bodyPr/>
          <a:lstStyle/>
          <a:p>
            <a:fld id="{9E8223D3-9AA3-4BD5-B1A1-35F69A862191}" type="slidenum">
              <a:rPr lang="en-US" smtClean="0"/>
              <a:t>‹#›</a:t>
            </a:fld>
            <a:endParaRPr lang="en-US"/>
          </a:p>
        </p:txBody>
      </p:sp>
    </p:spTree>
    <p:extLst>
      <p:ext uri="{BB962C8B-B14F-4D97-AF65-F5344CB8AC3E}">
        <p14:creationId xmlns:p14="http://schemas.microsoft.com/office/powerpoint/2010/main" val="26974935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83413"/>
            <a:ext cx="4361688" cy="1262639"/>
          </a:xfrm>
        </p:spPr>
        <p:txBody>
          <a:bodyPr anchor="b">
            <a:noAutofit/>
          </a:bodyPr>
          <a:lstStyle>
            <a:lvl1pPr>
              <a:defRPr sz="3200">
                <a:solidFill>
                  <a:schemeClr val="tx1"/>
                </a:solidFill>
              </a:defRPr>
            </a:lvl1pPr>
          </a:lstStyle>
          <a:p>
            <a:r>
              <a:rPr lang="en-GB"/>
              <a:t>Click to edit Master title style</a:t>
            </a:r>
            <a:endParaRPr lang="en-US"/>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31520" y="1979461"/>
            <a:ext cx="4360863" cy="432926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745480" y="0"/>
            <a:ext cx="6446520"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5" name="Straight Connector 4">
            <a:extLst>
              <a:ext uri="{FF2B5EF4-FFF2-40B4-BE49-F238E27FC236}">
                <a16:creationId xmlns:a16="http://schemas.microsoft.com/office/drawing/2014/main" id="{1481977D-48BC-F135-96F9-1655E4BEE673}"/>
              </a:ext>
              <a:ext uri="{C183D7F6-B498-43B3-948B-1728B52AA6E4}">
                <adec:decorative xmlns:adec="http://schemas.microsoft.com/office/drawing/2017/decorative" val="1"/>
              </a:ext>
            </a:extLst>
          </p:cNvPr>
          <p:cNvCxnSpPr>
            <a:cxnSpLocks/>
          </p:cNvCxnSpPr>
          <p:nvPr/>
        </p:nvCxnSpPr>
        <p:spPr>
          <a:xfrm>
            <a:off x="5732126"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2">
            <a:extLst>
              <a:ext uri="{FF2B5EF4-FFF2-40B4-BE49-F238E27FC236}">
                <a16:creationId xmlns:a16="http://schemas.microsoft.com/office/drawing/2014/main" id="{EA981C2C-E0DD-29A7-8209-50D664881524}"/>
              </a:ext>
            </a:extLst>
          </p:cNvPr>
          <p:cNvSpPr>
            <a:spLocks noGrp="1"/>
          </p:cNvSpPr>
          <p:nvPr>
            <p:ph type="dt" sz="half" idx="15"/>
          </p:nvPr>
        </p:nvSpPr>
        <p:spPr>
          <a:xfrm rot="5400000">
            <a:off x="-997745" y="4687095"/>
            <a:ext cx="2706690" cy="365125"/>
          </a:xfrm>
        </p:spPr>
        <p:txBody>
          <a:bodyPr/>
          <a:lstStyle/>
          <a:p>
            <a:fld id="{BB8B3EC2-53ED-4D1A-9192-770633E9F6D6}" type="datetimeFigureOut">
              <a:rPr lang="en-US" smtClean="0"/>
              <a:t>10/8/2026</a:t>
            </a:fld>
            <a:endParaRPr lang="en-US"/>
          </a:p>
        </p:txBody>
      </p:sp>
      <p:sp>
        <p:nvSpPr>
          <p:cNvPr id="6" name="Footer Placeholder 4">
            <a:extLst>
              <a:ext uri="{FF2B5EF4-FFF2-40B4-BE49-F238E27FC236}">
                <a16:creationId xmlns:a16="http://schemas.microsoft.com/office/drawing/2014/main" id="{D205369F-8CCB-402F-9055-2BF12262B54D}"/>
              </a:ext>
            </a:extLst>
          </p:cNvPr>
          <p:cNvSpPr>
            <a:spLocks noGrp="1"/>
          </p:cNvSpPr>
          <p:nvPr>
            <p:ph type="ftr" sz="quarter" idx="16"/>
          </p:nvPr>
        </p:nvSpPr>
        <p:spPr>
          <a:xfrm rot="16200000" flipH="1">
            <a:off x="-1131161" y="1592957"/>
            <a:ext cx="2973522" cy="365125"/>
          </a:xfrm>
        </p:spPr>
        <p:txBody>
          <a:bodyPr/>
          <a:lstStyle/>
          <a:p>
            <a:endParaRPr lang="en-US"/>
          </a:p>
        </p:txBody>
      </p:sp>
      <p:sp>
        <p:nvSpPr>
          <p:cNvPr id="7" name="Slide Number Placeholder 5">
            <a:extLst>
              <a:ext uri="{FF2B5EF4-FFF2-40B4-BE49-F238E27FC236}">
                <a16:creationId xmlns:a16="http://schemas.microsoft.com/office/drawing/2014/main" id="{133591F2-4BD3-37D0-B00E-B2CD5F47A36C}"/>
              </a:ext>
            </a:extLst>
          </p:cNvPr>
          <p:cNvSpPr>
            <a:spLocks noGrp="1"/>
          </p:cNvSpPr>
          <p:nvPr>
            <p:ph type="sldNum" sz="quarter" idx="17"/>
          </p:nvPr>
        </p:nvSpPr>
        <p:spPr>
          <a:xfrm>
            <a:off x="51117" y="6356350"/>
            <a:ext cx="574620" cy="365125"/>
          </a:xfrm>
        </p:spPr>
        <p:txBody>
          <a:bodyPr/>
          <a:lstStyle/>
          <a:p>
            <a:fld id="{9E8223D3-9AA3-4BD5-B1A1-35F69A862191}" type="slidenum">
              <a:rPr lang="en-US" smtClean="0"/>
              <a:t>‹#›</a:t>
            </a:fld>
            <a:endParaRPr lang="en-US"/>
          </a:p>
        </p:txBody>
      </p:sp>
    </p:spTree>
    <p:extLst>
      <p:ext uri="{BB962C8B-B14F-4D97-AF65-F5344CB8AC3E}">
        <p14:creationId xmlns:p14="http://schemas.microsoft.com/office/powerpoint/2010/main" val="3917632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20040"/>
            <a:ext cx="4572000" cy="932688"/>
          </a:xfrm>
        </p:spPr>
        <p:txBody>
          <a:bodyPr anchor="b"/>
          <a:lstStyle>
            <a:lvl1pPr>
              <a:defRPr sz="3200">
                <a:solidFill>
                  <a:schemeClr val="tx1"/>
                </a:solidFill>
              </a:defRPr>
            </a:lvl1pPr>
          </a:lstStyle>
          <a:p>
            <a:r>
              <a:rPr lang="en-GB"/>
              <a:t>Click to edit Master title style</a:t>
            </a:r>
            <a:endParaRPr lang="en-US"/>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31520" y="1380744"/>
            <a:ext cx="4572000" cy="498348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917720" y="0"/>
            <a:ext cx="6274279"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5" name="Straight Connector 4">
            <a:extLst>
              <a:ext uri="{FF2B5EF4-FFF2-40B4-BE49-F238E27FC236}">
                <a16:creationId xmlns:a16="http://schemas.microsoft.com/office/drawing/2014/main" id="{B18BEB48-A052-9364-6EF6-F698004CA571}"/>
              </a:ext>
              <a:ext uri="{C183D7F6-B498-43B3-948B-1728B52AA6E4}">
                <adec:decorative xmlns:adec="http://schemas.microsoft.com/office/drawing/2017/decorative" val="1"/>
              </a:ext>
            </a:extLst>
          </p:cNvPr>
          <p:cNvCxnSpPr>
            <a:cxnSpLocks/>
          </p:cNvCxnSpPr>
          <p:nvPr/>
        </p:nvCxnSpPr>
        <p:spPr>
          <a:xfrm>
            <a:off x="5911724"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2">
            <a:extLst>
              <a:ext uri="{FF2B5EF4-FFF2-40B4-BE49-F238E27FC236}">
                <a16:creationId xmlns:a16="http://schemas.microsoft.com/office/drawing/2014/main" id="{417D8113-ECE6-D6F5-9CA4-C96A535F4799}"/>
              </a:ext>
            </a:extLst>
          </p:cNvPr>
          <p:cNvSpPr>
            <a:spLocks noGrp="1"/>
          </p:cNvSpPr>
          <p:nvPr>
            <p:ph type="dt" sz="half" idx="15"/>
          </p:nvPr>
        </p:nvSpPr>
        <p:spPr>
          <a:xfrm rot="5400000">
            <a:off x="-997745" y="4687095"/>
            <a:ext cx="2706690" cy="365125"/>
          </a:xfrm>
        </p:spPr>
        <p:txBody>
          <a:bodyPr/>
          <a:lstStyle/>
          <a:p>
            <a:fld id="{BB8B3EC2-53ED-4D1A-9192-770633E9F6D6}" type="datetimeFigureOut">
              <a:rPr lang="en-US" smtClean="0"/>
              <a:t>10/8/2026</a:t>
            </a:fld>
            <a:endParaRPr lang="en-US"/>
          </a:p>
        </p:txBody>
      </p:sp>
      <p:sp>
        <p:nvSpPr>
          <p:cNvPr id="6" name="Footer Placeholder 4">
            <a:extLst>
              <a:ext uri="{FF2B5EF4-FFF2-40B4-BE49-F238E27FC236}">
                <a16:creationId xmlns:a16="http://schemas.microsoft.com/office/drawing/2014/main" id="{629A0137-F97A-8194-464D-3B7D4814A8AE}"/>
              </a:ext>
            </a:extLst>
          </p:cNvPr>
          <p:cNvSpPr>
            <a:spLocks noGrp="1"/>
          </p:cNvSpPr>
          <p:nvPr>
            <p:ph type="ftr" sz="quarter" idx="16"/>
          </p:nvPr>
        </p:nvSpPr>
        <p:spPr>
          <a:xfrm rot="16200000" flipH="1">
            <a:off x="-1131161" y="1592957"/>
            <a:ext cx="2973522" cy="365125"/>
          </a:xfrm>
        </p:spPr>
        <p:txBody>
          <a:bodyPr/>
          <a:lstStyle/>
          <a:p>
            <a:endParaRPr lang="en-US"/>
          </a:p>
        </p:txBody>
      </p:sp>
      <p:sp>
        <p:nvSpPr>
          <p:cNvPr id="7" name="Slide Number Placeholder 5">
            <a:extLst>
              <a:ext uri="{FF2B5EF4-FFF2-40B4-BE49-F238E27FC236}">
                <a16:creationId xmlns:a16="http://schemas.microsoft.com/office/drawing/2014/main" id="{E3FE5686-63A9-B1A1-5734-F96A96514650}"/>
              </a:ext>
            </a:extLst>
          </p:cNvPr>
          <p:cNvSpPr>
            <a:spLocks noGrp="1"/>
          </p:cNvSpPr>
          <p:nvPr>
            <p:ph type="sldNum" sz="quarter" idx="17"/>
          </p:nvPr>
        </p:nvSpPr>
        <p:spPr>
          <a:xfrm>
            <a:off x="51117" y="6356350"/>
            <a:ext cx="574620" cy="365125"/>
          </a:xfrm>
        </p:spPr>
        <p:txBody>
          <a:bodyPr/>
          <a:lstStyle/>
          <a:p>
            <a:fld id="{9E8223D3-9AA3-4BD5-B1A1-35F69A862191}" type="slidenum">
              <a:rPr lang="en-US" smtClean="0"/>
              <a:t>‹#›</a:t>
            </a:fld>
            <a:endParaRPr lang="en-US"/>
          </a:p>
        </p:txBody>
      </p:sp>
    </p:spTree>
    <p:extLst>
      <p:ext uri="{BB962C8B-B14F-4D97-AF65-F5344CB8AC3E}">
        <p14:creationId xmlns:p14="http://schemas.microsoft.com/office/powerpoint/2010/main" val="194121318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012268"/>
            <a:ext cx="3739896" cy="1390330"/>
          </a:xfrm>
        </p:spPr>
        <p:txBody>
          <a:bodyPr anchor="t">
            <a:normAutofit/>
          </a:bodyPr>
          <a:lstStyle>
            <a:lvl1pPr>
              <a:defRPr sz="3200">
                <a:solidFill>
                  <a:schemeClr val="tx1"/>
                </a:solidFill>
              </a:defRPr>
            </a:lvl1pPr>
          </a:lstStyle>
          <a:p>
            <a:r>
              <a:rPr lang="en-GB"/>
              <a:t>Click to edit Master title style</a:t>
            </a:r>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4635132"/>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sp>
        <p:nvSpPr>
          <p:cNvPr id="4" name="Footer Placeholder 5">
            <a:extLst>
              <a:ext uri="{FF2B5EF4-FFF2-40B4-BE49-F238E27FC236}">
                <a16:creationId xmlns:a16="http://schemas.microsoft.com/office/drawing/2014/main" id="{485E715F-A05B-F2BC-ABF4-447E9B58E0C2}"/>
              </a:ext>
            </a:extLst>
          </p:cNvPr>
          <p:cNvSpPr>
            <a:spLocks noGrp="1"/>
          </p:cNvSpPr>
          <p:nvPr>
            <p:ph type="ftr" sz="quarter" idx="15"/>
          </p:nvPr>
        </p:nvSpPr>
        <p:spPr>
          <a:xfrm rot="16200000">
            <a:off x="-499001" y="5684309"/>
            <a:ext cx="1709209" cy="365125"/>
          </a:xfrm>
        </p:spPr>
        <p:txBody>
          <a:bodyPr/>
          <a:lstStyle/>
          <a:p>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846320" y="5012267"/>
            <a:ext cx="6400800" cy="1390330"/>
          </a:xfrm>
        </p:spPr>
        <p:txBody>
          <a:bodyPr>
            <a:noAutofit/>
          </a:bodyPr>
          <a:lstStyle>
            <a:lvl1pPr marL="0" indent="0">
              <a:buFont typeface="Arial" panose="020B0604020202020204" pitchFamily="34" charset="0"/>
              <a:buNone/>
              <a:defRPr sz="1800">
                <a:solidFill>
                  <a:schemeClr val="tx1"/>
                </a:solidFill>
              </a:defRPr>
            </a:lvl1pPr>
            <a:lvl2pPr marL="228600" indent="0">
              <a:buFont typeface="Arial" panose="020B0604020202020204" pitchFamily="34" charset="0"/>
              <a:buNone/>
              <a:defRPr sz="1600">
                <a:solidFill>
                  <a:schemeClr val="tx1"/>
                </a:solidFill>
              </a:defRPr>
            </a:lvl2pPr>
            <a:lvl3pPr marL="457200" indent="0">
              <a:buFont typeface="Arial" panose="020B0604020202020204" pitchFamily="34" charset="0"/>
              <a:buNone/>
              <a:defRPr sz="1400">
                <a:solidFill>
                  <a:schemeClr val="tx1"/>
                </a:solidFill>
              </a:defRPr>
            </a:lvl3pPr>
            <a:lvl4pPr marL="685800" indent="0">
              <a:buFont typeface="Arial" panose="020B0604020202020204" pitchFamily="34" charset="0"/>
              <a:buNone/>
              <a:defRPr sz="1200">
                <a:solidFill>
                  <a:schemeClr val="tx1"/>
                </a:solidFill>
              </a:defRPr>
            </a:lvl4pPr>
            <a:lvl5pPr marL="914400" indent="0">
              <a:buFont typeface="Arial" panose="020B0604020202020204" pitchFamily="34" charset="0"/>
              <a:buNone/>
              <a:defRPr sz="11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5400000">
            <a:off x="11173959" y="5435073"/>
            <a:ext cx="1210734" cy="365125"/>
          </a:xfrm>
        </p:spPr>
        <p:txBody>
          <a:bodyPr/>
          <a:lstStyle>
            <a:lvl1pPr>
              <a:defRPr>
                <a:solidFill>
                  <a:schemeClr val="tx1"/>
                </a:solidFill>
              </a:defRPr>
            </a:lvl1pPr>
          </a:lstStyle>
          <a:p>
            <a:fld id="{BB8B3EC2-53ED-4D1A-9192-770633E9F6D6}" type="datetimeFigureOut">
              <a:rPr lang="en-US" smtClean="0"/>
              <a:t>10/8/2026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9E8223D3-9AA3-4BD5-B1A1-35F69A862191}" type="slidenum">
              <a:rPr lang="en-US" smtClean="0"/>
              <a:t>‹#›</a:t>
            </a:fld>
            <a:endParaRPr lang="en-US"/>
          </a:p>
        </p:txBody>
      </p:sp>
      <p:cxnSp>
        <p:nvCxnSpPr>
          <p:cNvPr id="3" name="Straight Connector 2">
            <a:extLst>
              <a:ext uri="{FF2B5EF4-FFF2-40B4-BE49-F238E27FC236}">
                <a16:creationId xmlns:a16="http://schemas.microsoft.com/office/drawing/2014/main" id="{2A2B6090-1D21-5610-7943-4C4F96A6C767}"/>
              </a:ext>
              <a:ext uri="{C183D7F6-B498-43B3-948B-1728B52AA6E4}">
                <adec:decorative xmlns:adec="http://schemas.microsoft.com/office/drawing/2017/decorative" val="1"/>
              </a:ext>
            </a:extLst>
          </p:cNvPr>
          <p:cNvCxnSpPr>
            <a:cxnSpLocks/>
          </p:cNvCxnSpPr>
          <p:nvPr/>
        </p:nvCxnSpPr>
        <p:spPr>
          <a:xfrm flipH="1">
            <a:off x="0" y="463823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9839494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40080" y="4882896"/>
            <a:ext cx="3657603" cy="1453896"/>
          </a:xfrm>
        </p:spPr>
        <p:txBody>
          <a:bodyPr anchor="t">
            <a:normAutofit/>
          </a:bodyPr>
          <a:lstStyle>
            <a:lvl1pPr algn="ctr">
              <a:defRPr sz="3200">
                <a:solidFill>
                  <a:schemeClr val="tx1"/>
                </a:solidFill>
              </a:defRPr>
            </a:lvl1pPr>
          </a:lstStyle>
          <a:p>
            <a:r>
              <a:rPr lang="en-GB"/>
              <a:t>Click to edit Master title style</a:t>
            </a:r>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endParaRPr lang="en-US"/>
          </a:p>
        </p:txBody>
      </p:sp>
      <p:sp>
        <p:nvSpPr>
          <p:cNvPr id="16" name="Picture Placeholder 15">
            <a:extLst>
              <a:ext uri="{FF2B5EF4-FFF2-40B4-BE49-F238E27FC236}">
                <a16:creationId xmlns:a16="http://schemas.microsoft.com/office/drawing/2014/main" id="{838F5DE0-1AA8-5320-EBEC-7B2EEF399630}"/>
              </a:ext>
            </a:extLst>
          </p:cNvPr>
          <p:cNvSpPr>
            <a:spLocks noGrp="1"/>
          </p:cNvSpPr>
          <p:nvPr>
            <p:ph type="pic" sz="quarter" idx="13" hasCustomPrompt="1"/>
          </p:nvPr>
        </p:nvSpPr>
        <p:spPr>
          <a:xfrm>
            <a:off x="731520" y="548642"/>
            <a:ext cx="3490175" cy="4041647"/>
          </a:xfrm>
          <a:custGeom>
            <a:avLst/>
            <a:gdLst>
              <a:gd name="connsiteX0" fmla="*/ 1745088 w 3490175"/>
              <a:gd name="connsiteY0" fmla="*/ 0 h 4041647"/>
              <a:gd name="connsiteX1" fmla="*/ 3490175 w 3490175"/>
              <a:gd name="connsiteY1" fmla="*/ 1745088 h 4041647"/>
              <a:gd name="connsiteX2" fmla="*/ 3490175 w 3490175"/>
              <a:gd name="connsiteY2" fmla="*/ 3141232 h 4041647"/>
              <a:gd name="connsiteX3" fmla="*/ 3490175 w 3490175"/>
              <a:gd name="connsiteY3" fmla="*/ 3490175 h 4041647"/>
              <a:gd name="connsiteX4" fmla="*/ 3490175 w 3490175"/>
              <a:gd name="connsiteY4" fmla="*/ 4041647 h 4041647"/>
              <a:gd name="connsiteX5" fmla="*/ 0 w 3490175"/>
              <a:gd name="connsiteY5" fmla="*/ 4041647 h 4041647"/>
              <a:gd name="connsiteX6" fmla="*/ 0 w 3490175"/>
              <a:gd name="connsiteY6" fmla="*/ 3490175 h 4041647"/>
              <a:gd name="connsiteX7" fmla="*/ 0 w 3490175"/>
              <a:gd name="connsiteY7" fmla="*/ 3141232 h 4041647"/>
              <a:gd name="connsiteX8" fmla="*/ 0 w 3490175"/>
              <a:gd name="connsiteY8" fmla="*/ 1745088 h 4041647"/>
              <a:gd name="connsiteX9" fmla="*/ 1745088 w 3490175"/>
              <a:gd name="connsiteY9" fmla="*/ 0 h 4041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90175" h="4041647">
                <a:moveTo>
                  <a:pt x="1745088" y="0"/>
                </a:moveTo>
                <a:cubicBezTo>
                  <a:pt x="2708873" y="0"/>
                  <a:pt x="3490175" y="781302"/>
                  <a:pt x="3490175" y="1745088"/>
                </a:cubicBezTo>
                <a:lnTo>
                  <a:pt x="3490175" y="3141232"/>
                </a:lnTo>
                <a:lnTo>
                  <a:pt x="3490175" y="3490175"/>
                </a:lnTo>
                <a:lnTo>
                  <a:pt x="3490175" y="4041647"/>
                </a:lnTo>
                <a:lnTo>
                  <a:pt x="0" y="4041647"/>
                </a:lnTo>
                <a:lnTo>
                  <a:pt x="0" y="3490175"/>
                </a:lnTo>
                <a:lnTo>
                  <a:pt x="0" y="3141232"/>
                </a:lnTo>
                <a:lnTo>
                  <a:pt x="0" y="1745088"/>
                </a:lnTo>
                <a:cubicBezTo>
                  <a:pt x="0" y="781302"/>
                  <a:pt x="781302" y="0"/>
                  <a:pt x="1745088" y="0"/>
                </a:cubicBezTo>
                <a:close/>
              </a:path>
            </a:pathLst>
          </a:custGeom>
          <a:blipFill dpi="0" rotWithShape="1">
            <a:blip r:embed="rId2">
              <a:alphaModFix amt="81000"/>
              <a:extLst>
                <a:ext uri="{28A0092B-C50C-407E-A947-70E740481C1C}">
                  <a14:useLocalDpi xmlns:a14="http://schemas.microsoft.com/office/drawing/2010/main" val="0"/>
                </a:ext>
              </a:extLst>
            </a:blip>
            <a:srcRect/>
            <a:stretch>
              <a:fillRect/>
            </a:stretch>
          </a:blipFill>
          <a:ln w="6350">
            <a:solidFill>
              <a:schemeClr val="tx1"/>
            </a:solidFill>
          </a:ln>
        </p:spPr>
        <p:txBody>
          <a:bodyPr wrap="square">
            <a:noAutofit/>
          </a:bodyPr>
          <a:lstStyle>
            <a:lvl1pPr>
              <a:defRPr>
                <a:solidFill>
                  <a:schemeClr val="tx1"/>
                </a:solidFill>
              </a:defRPr>
            </a:lvl1pPr>
          </a:lstStyle>
          <a:p>
            <a:r>
              <a:rPr lang="en-US"/>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937760" y="549275"/>
            <a:ext cx="6561138" cy="575945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BB8B3EC2-53ED-4D1A-9192-770633E9F6D6}" type="datetimeFigureOut">
              <a:rPr lang="en-US" smtClean="0"/>
              <a:t>10/8/2026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9E8223D3-9AA3-4BD5-B1A1-35F69A862191}" type="slidenum">
              <a:rPr lang="en-US" smtClean="0"/>
              <a:t>‹#›</a:t>
            </a:fld>
            <a:endParaRPr lang="en-US"/>
          </a:p>
        </p:txBody>
      </p:sp>
      <p:cxnSp>
        <p:nvCxnSpPr>
          <p:cNvPr id="3" name="Straight Connector 2">
            <a:extLst>
              <a:ext uri="{FF2B5EF4-FFF2-40B4-BE49-F238E27FC236}">
                <a16:creationId xmlns:a16="http://schemas.microsoft.com/office/drawing/2014/main" id="{619C3A72-7CAE-129F-7490-B687280EF1C9}"/>
              </a:ext>
              <a:ext uri="{C183D7F6-B498-43B3-948B-1728B52AA6E4}">
                <adec:decorative xmlns:adec="http://schemas.microsoft.com/office/drawing/2017/decorative" val="1"/>
              </a:ext>
            </a:extLst>
          </p:cNvPr>
          <p:cNvCxnSpPr>
            <a:cxnSpLocks/>
          </p:cNvCxnSpPr>
          <p:nvPr/>
        </p:nvCxnSpPr>
        <p:spPr>
          <a:xfrm>
            <a:off x="4646117"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1421810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8164" y="559341"/>
            <a:ext cx="10755670" cy="932688"/>
          </a:xfrm>
        </p:spPr>
        <p:txBody>
          <a:bodyPr anchor="b"/>
          <a:lstStyle/>
          <a:p>
            <a:r>
              <a:rPr lang="en-GB"/>
              <a:t>Click to edit Master title style</a:t>
            </a:r>
            <a:endParaRPr lang="en-US"/>
          </a:p>
        </p:txBody>
      </p:sp>
      <p:sp>
        <p:nvSpPr>
          <p:cNvPr id="9" name="Footer Placeholder 5">
            <a:extLst>
              <a:ext uri="{FF2B5EF4-FFF2-40B4-BE49-F238E27FC236}">
                <a16:creationId xmlns:a16="http://schemas.microsoft.com/office/drawing/2014/main" id="{3C89FBB9-2C05-A4C1-ECB4-D6A5C4219E42}"/>
              </a:ext>
            </a:extLst>
          </p:cNvPr>
          <p:cNvSpPr>
            <a:spLocks noGrp="1"/>
          </p:cNvSpPr>
          <p:nvPr>
            <p:ph type="ftr" sz="quarter" idx="16"/>
          </p:nvPr>
        </p:nvSpPr>
        <p:spPr>
          <a:xfrm rot="16200000" flipH="1">
            <a:off x="-1131161" y="1592957"/>
            <a:ext cx="2973522" cy="365125"/>
          </a:xfrm>
        </p:spPr>
        <p:txBody>
          <a:bodyPr/>
          <a:lstStyle>
            <a:lvl1pPr>
              <a:defRPr>
                <a:solidFill>
                  <a:schemeClr val="tx1"/>
                </a:solidFill>
              </a:defRPr>
            </a:lvl1pPr>
          </a:lstStyle>
          <a:p>
            <a:endParaRPr lang="en-US"/>
          </a:p>
        </p:txBody>
      </p:sp>
      <p:sp>
        <p:nvSpPr>
          <p:cNvPr id="3" name="Date Placeholder 4">
            <a:extLst>
              <a:ext uri="{FF2B5EF4-FFF2-40B4-BE49-F238E27FC236}">
                <a16:creationId xmlns:a16="http://schemas.microsoft.com/office/drawing/2014/main" id="{BBB07A11-50DE-6BC0-0514-6E2C14A47985}"/>
              </a:ext>
            </a:extLst>
          </p:cNvPr>
          <p:cNvSpPr>
            <a:spLocks noGrp="1"/>
          </p:cNvSpPr>
          <p:nvPr>
            <p:ph type="dt" sz="half" idx="15"/>
          </p:nvPr>
        </p:nvSpPr>
        <p:spPr>
          <a:xfrm rot="16200000" flipH="1">
            <a:off x="-997746" y="4594946"/>
            <a:ext cx="2706690" cy="365125"/>
          </a:xfrm>
        </p:spPr>
        <p:txBody>
          <a:bodyPr/>
          <a:lstStyle>
            <a:lvl1pPr algn="l">
              <a:defRPr>
                <a:solidFill>
                  <a:schemeClr val="tx1"/>
                </a:solidFill>
              </a:defRPr>
            </a:lvl1pPr>
          </a:lstStyle>
          <a:p>
            <a:fld id="{BB8B3EC2-53ED-4D1A-9192-770633E9F6D6}" type="datetimeFigureOut">
              <a:rPr lang="en-US" smtClean="0"/>
              <a:t>10/8/2026</a:t>
            </a:fld>
            <a:endParaRPr lang="en-US"/>
          </a:p>
        </p:txBody>
      </p:sp>
      <p:sp>
        <p:nvSpPr>
          <p:cNvPr id="6" name="Slide Number Placeholder 6">
            <a:extLst>
              <a:ext uri="{FF2B5EF4-FFF2-40B4-BE49-F238E27FC236}">
                <a16:creationId xmlns:a16="http://schemas.microsoft.com/office/drawing/2014/main" id="{03ED5F49-F9F7-05A9-62AC-C9C8DF2EADE8}"/>
              </a:ext>
            </a:extLst>
          </p:cNvPr>
          <p:cNvSpPr>
            <a:spLocks noGrp="1"/>
          </p:cNvSpPr>
          <p:nvPr>
            <p:ph type="sldNum" sz="quarter" idx="17"/>
          </p:nvPr>
        </p:nvSpPr>
        <p:spPr>
          <a:xfrm>
            <a:off x="88569" y="6264201"/>
            <a:ext cx="574620" cy="365125"/>
          </a:xfrm>
        </p:spPr>
        <p:txBody>
          <a:bodyPr/>
          <a:lstStyle>
            <a:lvl1pPr>
              <a:defRPr>
                <a:solidFill>
                  <a:schemeClr val="tx1"/>
                </a:solidFill>
              </a:defRPr>
            </a:lvl1pPr>
          </a:lstStyle>
          <a:p>
            <a:fld id="{9E8223D3-9AA3-4BD5-B1A1-35F69A862191}" type="slidenum">
              <a:rPr lang="en-US" smtClean="0"/>
              <a:t>‹#›</a:t>
            </a:fld>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11200" y="1713652"/>
            <a:ext cx="4387012" cy="461294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2" name="Picture Placeholder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5658927" y="1713653"/>
            <a:ext cx="6533071" cy="5144347"/>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vert="horz" wrap="square" lIns="91440" tIns="45720" rIns="91440" bIns="45720" rtlCol="0">
            <a:noAutofit/>
          </a:bodyPr>
          <a:lstStyle>
            <a:lvl1pPr marL="0" indent="0">
              <a:buFont typeface="Arial" panose="020B0604020202020204" pitchFamily="34" charset="0"/>
              <a:buNone/>
              <a:defRPr lang="en-US" dirty="0"/>
            </a:lvl1pPr>
          </a:lstStyle>
          <a:p>
            <a:pPr marL="285750" lvl="0" indent="-285750"/>
            <a:r>
              <a:rPr lang="en-US"/>
              <a:t> </a:t>
            </a:r>
          </a:p>
        </p:txBody>
      </p:sp>
    </p:spTree>
    <p:extLst>
      <p:ext uri="{BB962C8B-B14F-4D97-AF65-F5344CB8AC3E}">
        <p14:creationId xmlns:p14="http://schemas.microsoft.com/office/powerpoint/2010/main" val="82537817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Number Large">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B7BBF55A-D91F-143D-FBB6-73995F00EAC2}"/>
              </a:ext>
            </a:extLst>
          </p:cNvPr>
          <p:cNvSpPr>
            <a:spLocks noGrp="1"/>
          </p:cNvSpPr>
          <p:nvPr>
            <p:ph type="title"/>
          </p:nvPr>
        </p:nvSpPr>
        <p:spPr>
          <a:xfrm>
            <a:off x="2057400" y="4937761"/>
            <a:ext cx="6987537" cy="1353312"/>
          </a:xfrm>
        </p:spPr>
        <p:txBody>
          <a:bodyPr anchor="t">
            <a:normAutofit/>
          </a:bodyPr>
          <a:lstStyle>
            <a:lvl1pPr>
              <a:lnSpc>
                <a:spcPct val="110000"/>
              </a:lnSpc>
              <a:spcBef>
                <a:spcPts val="1000"/>
              </a:spcBef>
              <a:defRPr sz="2800" cap="none" baseline="0">
                <a:latin typeface="+mn-lt"/>
              </a:defRPr>
            </a:lvl1pPr>
          </a:lstStyle>
          <a:p>
            <a:r>
              <a:rPr lang="en-GB"/>
              <a:t>Click to edit Master title style</a:t>
            </a:r>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endParaRPr lang="en-US"/>
          </a:p>
        </p:txBody>
      </p:sp>
      <p:sp>
        <p:nvSpPr>
          <p:cNvPr id="9" name="Content Placeholder 8">
            <a:extLst>
              <a:ext uri="{FF2B5EF4-FFF2-40B4-BE49-F238E27FC236}">
                <a16:creationId xmlns:a16="http://schemas.microsoft.com/office/drawing/2014/main" id="{072A4B4E-0B2F-F1BB-322A-713D1FB5F2FE}"/>
              </a:ext>
            </a:extLst>
          </p:cNvPr>
          <p:cNvSpPr>
            <a:spLocks noGrp="1"/>
          </p:cNvSpPr>
          <p:nvPr>
            <p:ph sz="quarter" idx="13" hasCustomPrompt="1"/>
          </p:nvPr>
        </p:nvSpPr>
        <p:spPr>
          <a:xfrm>
            <a:off x="2057400" y="549021"/>
            <a:ext cx="9455150" cy="4333875"/>
          </a:xfrm>
        </p:spPr>
        <p:txBody>
          <a:bodyPr anchor="b">
            <a:normAutofit/>
          </a:bodyPr>
          <a:lstStyle>
            <a:lvl1pPr>
              <a:defRPr sz="23200">
                <a:latin typeface="+mj-lt"/>
              </a:defRPr>
            </a:lvl1pPr>
          </a:lstStyle>
          <a:p>
            <a:pPr lvl="0"/>
            <a:r>
              <a:rPr lang="en-US"/>
              <a: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BB8B3EC2-53ED-4D1A-9192-770633E9F6D6}" type="datetimeFigureOut">
              <a:rPr lang="en-US" smtClean="0"/>
              <a:t>10/8/2026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9E8223D3-9AA3-4BD5-B1A1-35F69A862191}" type="slidenum">
              <a:rPr lang="en-US" smtClean="0"/>
              <a:t>‹#›</a:t>
            </a:fld>
            <a:endParaRPr lang="en-US"/>
          </a:p>
        </p:txBody>
      </p:sp>
      <p:cxnSp>
        <p:nvCxnSpPr>
          <p:cNvPr id="7" name="Straight Connector 6">
            <a:extLst>
              <a:ext uri="{FF2B5EF4-FFF2-40B4-BE49-F238E27FC236}">
                <a16:creationId xmlns:a16="http://schemas.microsoft.com/office/drawing/2014/main" id="{8546D47F-2AE5-2705-911C-52BBD6B7D8EA}"/>
              </a:ext>
            </a:extLst>
          </p:cNvPr>
          <p:cNvCxnSpPr>
            <a:cxnSpLocks/>
          </p:cNvCxnSpPr>
          <p:nvPr/>
        </p:nvCxnSpPr>
        <p:spPr>
          <a:xfrm flipV="1">
            <a:off x="137160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0599299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hasCustomPrompt="1"/>
          </p:nvPr>
        </p:nvSpPr>
        <p:spPr>
          <a:xfrm>
            <a:off x="612648" y="-1228126"/>
            <a:ext cx="10652760" cy="1133856"/>
          </a:xfrm>
        </p:spPr>
        <p:txBody>
          <a:bodyPr/>
          <a:lstStyle>
            <a:lvl1pPr>
              <a:defRPr cap="none" baseline="0">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endParaRPr lang="en-US"/>
          </a:p>
        </p:txBody>
      </p:sp>
      <p:sp>
        <p:nvSpPr>
          <p:cNvPr id="7" name="Content Placeholder 6">
            <a:extLst>
              <a:ext uri="{FF2B5EF4-FFF2-40B4-BE49-F238E27FC236}">
                <a16:creationId xmlns:a16="http://schemas.microsoft.com/office/drawing/2014/main" id="{EAA4897F-B66E-DAD4-F56C-6152B417CC54}"/>
              </a:ext>
            </a:extLst>
          </p:cNvPr>
          <p:cNvSpPr>
            <a:spLocks noGrp="1"/>
          </p:cNvSpPr>
          <p:nvPr>
            <p:ph sz="quarter" idx="13" hasCustomPrompt="1"/>
          </p:nvPr>
        </p:nvSpPr>
        <p:spPr>
          <a:xfrm>
            <a:off x="2624138" y="2268748"/>
            <a:ext cx="6943724" cy="3954255"/>
          </a:xfrm>
        </p:spPr>
        <p:txBody>
          <a:bodyPr anchor="ctr" anchorCtr="0">
            <a:noAutofit/>
          </a:bodyPr>
          <a:lstStyle>
            <a:lvl1pPr marL="0" indent="0" algn="ctr">
              <a:lnSpc>
                <a:spcPct val="110000"/>
              </a:lnSpc>
              <a:buNone/>
              <a:defRPr sz="4400" b="0" cap="all" baseline="0">
                <a:solidFill>
                  <a:schemeClr val="tx1"/>
                </a:solidFill>
              </a:defRPr>
            </a:lvl1pPr>
            <a:lvl2pPr marL="228600" indent="0" algn="ctr">
              <a:lnSpc>
                <a:spcPct val="110000"/>
              </a:lnSpc>
              <a:buNone/>
              <a:defRPr sz="4400" b="0" cap="all" baseline="0">
                <a:solidFill>
                  <a:schemeClr val="tx1"/>
                </a:solidFill>
              </a:defRPr>
            </a:lvl2pPr>
            <a:lvl3pPr marL="457200" indent="0" algn="ctr">
              <a:lnSpc>
                <a:spcPct val="110000"/>
              </a:lnSpc>
              <a:buNone/>
              <a:defRPr sz="4400" b="0" cap="all" baseline="0">
                <a:solidFill>
                  <a:schemeClr val="tx1"/>
                </a:solidFill>
              </a:defRPr>
            </a:lvl3pPr>
            <a:lvl4pPr marL="685800" indent="0" algn="ctr">
              <a:lnSpc>
                <a:spcPct val="110000"/>
              </a:lnSpc>
              <a:buNone/>
              <a:defRPr sz="4400" b="0" cap="all" baseline="0">
                <a:solidFill>
                  <a:schemeClr val="tx1"/>
                </a:solidFill>
              </a:defRPr>
            </a:lvl4pPr>
            <a:lvl5pPr marL="914400" indent="0" algn="ctr">
              <a:lnSpc>
                <a:spcPct val="110000"/>
              </a:lnSpc>
              <a:buNone/>
              <a:defRPr sz="4400" b="0" cap="all" baseline="0">
                <a:solidFill>
                  <a:schemeClr val="tx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BB8B3EC2-53ED-4D1A-9192-770633E9F6D6}" type="datetimeFigureOut">
              <a:rPr lang="en-US" smtClean="0"/>
              <a:t>10/8/2026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9E8223D3-9AA3-4BD5-B1A1-35F69A862191}" type="slidenum">
              <a:rPr lang="en-US" smtClean="0"/>
              <a:t>‹#›</a:t>
            </a:fld>
            <a:endParaRPr lang="en-US"/>
          </a:p>
        </p:txBody>
      </p:sp>
      <p:sp>
        <p:nvSpPr>
          <p:cNvPr id="6" name="Freeform: Shape 15">
            <a:extLst>
              <a:ext uri="{FF2B5EF4-FFF2-40B4-BE49-F238E27FC236}">
                <a16:creationId xmlns:a16="http://schemas.microsoft.com/office/drawing/2014/main" id="{8EFA7EFC-C6F9-B1D5-025F-824C1CE9A204}"/>
              </a:ext>
              <a:ext uri="{C183D7F6-B498-43B3-948B-1728B52AA6E4}">
                <adec:decorative xmlns:adec="http://schemas.microsoft.com/office/drawing/2017/decorative" val="1"/>
              </a:ext>
            </a:extLst>
          </p:cNvPr>
          <p:cNvSpPr/>
          <p:nvPr/>
        </p:nvSpPr>
        <p:spPr>
          <a:xfrm rot="16200000">
            <a:off x="3057205" y="-1430380"/>
            <a:ext cx="6077590" cy="10510705"/>
          </a:xfrm>
          <a:custGeom>
            <a:avLst/>
            <a:gdLst>
              <a:gd name="connsiteX0" fmla="*/ 5325805 w 5325805"/>
              <a:gd name="connsiteY0" fmla="*/ 2714782 h 5429563"/>
              <a:gd name="connsiteX1" fmla="*/ 2611024 w 5325805"/>
              <a:gd name="connsiteY1" fmla="*/ 5429563 h 5429563"/>
              <a:gd name="connsiteX2" fmla="*/ 1942188 w 5325805"/>
              <a:gd name="connsiteY2" fmla="*/ 5429563 h 5429563"/>
              <a:gd name="connsiteX3" fmla="*/ 668836 w 5325805"/>
              <a:gd name="connsiteY3" fmla="*/ 5429563 h 5429563"/>
              <a:gd name="connsiteX4" fmla="*/ 0 w 5325805"/>
              <a:gd name="connsiteY4" fmla="*/ 5429563 h 5429563"/>
              <a:gd name="connsiteX5" fmla="*/ 0 w 5325805"/>
              <a:gd name="connsiteY5" fmla="*/ 0 h 5429563"/>
              <a:gd name="connsiteX6" fmla="*/ 668836 w 5325805"/>
              <a:gd name="connsiteY6" fmla="*/ 0 h 5429563"/>
              <a:gd name="connsiteX7" fmla="*/ 1942188 w 5325805"/>
              <a:gd name="connsiteY7" fmla="*/ 0 h 5429563"/>
              <a:gd name="connsiteX8" fmla="*/ 2611024 w 5325805"/>
              <a:gd name="connsiteY8" fmla="*/ 0 h 5429563"/>
              <a:gd name="connsiteX9" fmla="*/ 5325805 w 5325805"/>
              <a:gd name="connsiteY9" fmla="*/ 2714782 h 5429563"/>
              <a:gd name="connsiteX0" fmla="*/ 668836 w 5325805"/>
              <a:gd name="connsiteY0" fmla="*/ 5429563 h 5476799"/>
              <a:gd name="connsiteX1" fmla="*/ 0 w 5325805"/>
              <a:gd name="connsiteY1" fmla="*/ 5429563 h 5476799"/>
              <a:gd name="connsiteX2" fmla="*/ 0 w 5325805"/>
              <a:gd name="connsiteY2" fmla="*/ 0 h 5476799"/>
              <a:gd name="connsiteX3" fmla="*/ 668836 w 5325805"/>
              <a:gd name="connsiteY3" fmla="*/ 0 h 5476799"/>
              <a:gd name="connsiteX4" fmla="*/ 1942188 w 5325805"/>
              <a:gd name="connsiteY4" fmla="*/ 0 h 5476799"/>
              <a:gd name="connsiteX5" fmla="*/ 2611024 w 5325805"/>
              <a:gd name="connsiteY5" fmla="*/ 0 h 5476799"/>
              <a:gd name="connsiteX6" fmla="*/ 5325805 w 5325805"/>
              <a:gd name="connsiteY6" fmla="*/ 2714782 h 5476799"/>
              <a:gd name="connsiteX7" fmla="*/ 2611024 w 5325805"/>
              <a:gd name="connsiteY7" fmla="*/ 5429563 h 5476799"/>
              <a:gd name="connsiteX8" fmla="*/ 1942188 w 5325805"/>
              <a:gd name="connsiteY8" fmla="*/ 5429563 h 5476799"/>
              <a:gd name="connsiteX9" fmla="*/ 716072 w 5325805"/>
              <a:gd name="connsiteY9" fmla="*/ 5476799 h 5476799"/>
              <a:gd name="connsiteX0" fmla="*/ 668836 w 5325805"/>
              <a:gd name="connsiteY0" fmla="*/ 5429563 h 5429563"/>
              <a:gd name="connsiteX1" fmla="*/ 0 w 5325805"/>
              <a:gd name="connsiteY1" fmla="*/ 5429563 h 5429563"/>
              <a:gd name="connsiteX2" fmla="*/ 0 w 5325805"/>
              <a:gd name="connsiteY2" fmla="*/ 0 h 5429563"/>
              <a:gd name="connsiteX3" fmla="*/ 668836 w 5325805"/>
              <a:gd name="connsiteY3" fmla="*/ 0 h 5429563"/>
              <a:gd name="connsiteX4" fmla="*/ 1942188 w 5325805"/>
              <a:gd name="connsiteY4" fmla="*/ 0 h 5429563"/>
              <a:gd name="connsiteX5" fmla="*/ 2611024 w 5325805"/>
              <a:gd name="connsiteY5" fmla="*/ 0 h 5429563"/>
              <a:gd name="connsiteX6" fmla="*/ 5325805 w 5325805"/>
              <a:gd name="connsiteY6" fmla="*/ 2714782 h 5429563"/>
              <a:gd name="connsiteX7" fmla="*/ 2611024 w 5325805"/>
              <a:gd name="connsiteY7" fmla="*/ 5429563 h 5429563"/>
              <a:gd name="connsiteX8" fmla="*/ 1942188 w 5325805"/>
              <a:gd name="connsiteY8" fmla="*/ 5429563 h 5429563"/>
              <a:gd name="connsiteX0" fmla="*/ 0 w 5325805"/>
              <a:gd name="connsiteY0" fmla="*/ 5429563 h 5429563"/>
              <a:gd name="connsiteX1" fmla="*/ 0 w 5325805"/>
              <a:gd name="connsiteY1" fmla="*/ 0 h 5429563"/>
              <a:gd name="connsiteX2" fmla="*/ 668836 w 5325805"/>
              <a:gd name="connsiteY2" fmla="*/ 0 h 5429563"/>
              <a:gd name="connsiteX3" fmla="*/ 1942188 w 5325805"/>
              <a:gd name="connsiteY3" fmla="*/ 0 h 5429563"/>
              <a:gd name="connsiteX4" fmla="*/ 2611024 w 5325805"/>
              <a:gd name="connsiteY4" fmla="*/ 0 h 5429563"/>
              <a:gd name="connsiteX5" fmla="*/ 5325805 w 5325805"/>
              <a:gd name="connsiteY5" fmla="*/ 2714782 h 5429563"/>
              <a:gd name="connsiteX6" fmla="*/ 2611024 w 5325805"/>
              <a:gd name="connsiteY6" fmla="*/ 5429563 h 5429563"/>
              <a:gd name="connsiteX7" fmla="*/ 1942188 w 5325805"/>
              <a:gd name="connsiteY7" fmla="*/ 5429563 h 5429563"/>
              <a:gd name="connsiteX0" fmla="*/ 0 w 5325805"/>
              <a:gd name="connsiteY0" fmla="*/ 0 h 5429563"/>
              <a:gd name="connsiteX1" fmla="*/ 668836 w 5325805"/>
              <a:gd name="connsiteY1" fmla="*/ 0 h 5429563"/>
              <a:gd name="connsiteX2" fmla="*/ 1942188 w 5325805"/>
              <a:gd name="connsiteY2" fmla="*/ 0 h 5429563"/>
              <a:gd name="connsiteX3" fmla="*/ 2611024 w 5325805"/>
              <a:gd name="connsiteY3" fmla="*/ 0 h 5429563"/>
              <a:gd name="connsiteX4" fmla="*/ 5325805 w 5325805"/>
              <a:gd name="connsiteY4" fmla="*/ 2714782 h 5429563"/>
              <a:gd name="connsiteX5" fmla="*/ 2611024 w 5325805"/>
              <a:gd name="connsiteY5" fmla="*/ 5429563 h 5429563"/>
              <a:gd name="connsiteX6" fmla="*/ 1942188 w 5325805"/>
              <a:gd name="connsiteY6" fmla="*/ 5429563 h 5429563"/>
              <a:gd name="connsiteX0" fmla="*/ 0 w 4656969"/>
              <a:gd name="connsiteY0" fmla="*/ 0 h 5429563"/>
              <a:gd name="connsiteX1" fmla="*/ 1273352 w 4656969"/>
              <a:gd name="connsiteY1" fmla="*/ 0 h 5429563"/>
              <a:gd name="connsiteX2" fmla="*/ 1942188 w 4656969"/>
              <a:gd name="connsiteY2" fmla="*/ 0 h 5429563"/>
              <a:gd name="connsiteX3" fmla="*/ 4656969 w 4656969"/>
              <a:gd name="connsiteY3" fmla="*/ 2714782 h 5429563"/>
              <a:gd name="connsiteX4" fmla="*/ 1942188 w 4656969"/>
              <a:gd name="connsiteY4" fmla="*/ 5429563 h 5429563"/>
              <a:gd name="connsiteX5" fmla="*/ 1273352 w 4656969"/>
              <a:gd name="connsiteY5" fmla="*/ 5429563 h 5429563"/>
              <a:gd name="connsiteX0" fmla="*/ 0 w 3383617"/>
              <a:gd name="connsiteY0" fmla="*/ 0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0 w 3383617"/>
              <a:gd name="connsiteY0" fmla="*/ 0 h 5429563"/>
              <a:gd name="connsiteX1" fmla="*/ 248198 w 3383617"/>
              <a:gd name="connsiteY1" fmla="*/ 41 h 5429563"/>
              <a:gd name="connsiteX2" fmla="*/ 668836 w 3383617"/>
              <a:gd name="connsiteY2" fmla="*/ 0 h 5429563"/>
              <a:gd name="connsiteX3" fmla="*/ 3383617 w 3383617"/>
              <a:gd name="connsiteY3" fmla="*/ 2714782 h 5429563"/>
              <a:gd name="connsiteX4" fmla="*/ 668836 w 3383617"/>
              <a:gd name="connsiteY4" fmla="*/ 5429563 h 5429563"/>
              <a:gd name="connsiteX5" fmla="*/ 0 w 3383617"/>
              <a:gd name="connsiteY5" fmla="*/ 5429563 h 5429563"/>
              <a:gd name="connsiteX0" fmla="*/ 248198 w 3383617"/>
              <a:gd name="connsiteY0" fmla="*/ 41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4110 w 3139529"/>
              <a:gd name="connsiteY0" fmla="*/ 41 h 5429563"/>
              <a:gd name="connsiteX1" fmla="*/ 424748 w 3139529"/>
              <a:gd name="connsiteY1" fmla="*/ 0 h 5429563"/>
              <a:gd name="connsiteX2" fmla="*/ 3139529 w 3139529"/>
              <a:gd name="connsiteY2" fmla="*/ 2714782 h 5429563"/>
              <a:gd name="connsiteX3" fmla="*/ 424748 w 3139529"/>
              <a:gd name="connsiteY3" fmla="*/ 5429563 h 5429563"/>
              <a:gd name="connsiteX4" fmla="*/ 0 w 3139529"/>
              <a:gd name="connsiteY4" fmla="*/ 5429563 h 5429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9529" h="5429563">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Tree>
    <p:extLst>
      <p:ext uri="{BB962C8B-B14F-4D97-AF65-F5344CB8AC3E}">
        <p14:creationId xmlns:p14="http://schemas.microsoft.com/office/powerpoint/2010/main" val="321719555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16D87B9B-22A3-322E-B7E8-223255AD0957}"/>
              </a:ext>
            </a:extLst>
          </p:cNvPr>
          <p:cNvSpPr>
            <a:spLocks noGrp="1"/>
          </p:cNvSpPr>
          <p:nvPr>
            <p:ph type="title" hasCustomPrompt="1"/>
          </p:nvPr>
        </p:nvSpPr>
        <p:spPr>
          <a:xfrm>
            <a:off x="2940168" y="5669280"/>
            <a:ext cx="6311664" cy="466344"/>
          </a:xfrm>
        </p:spPr>
        <p:txBody>
          <a:bodyPr anchor="ctr">
            <a:normAutofit/>
          </a:bodyPr>
          <a:lstStyle>
            <a:lvl1pPr algn="ctr">
              <a:lnSpc>
                <a:spcPct val="110000"/>
              </a:lnSpc>
              <a:spcBef>
                <a:spcPts val="1000"/>
              </a:spcBef>
              <a:defRPr sz="1800" cap="all" baseline="0">
                <a:latin typeface="+mn-lt"/>
              </a:defRPr>
            </a:lvl1pPr>
          </a:lstStyle>
          <a:p>
            <a:r>
              <a:rPr lang="en-US"/>
              <a:t>Quote Author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endParaRPr lang="en-US"/>
          </a:p>
        </p:txBody>
      </p:sp>
      <p:sp>
        <p:nvSpPr>
          <p:cNvPr id="8" name="Content Placeholder 8">
            <a:extLst>
              <a:ext uri="{FF2B5EF4-FFF2-40B4-BE49-F238E27FC236}">
                <a16:creationId xmlns:a16="http://schemas.microsoft.com/office/drawing/2014/main" id="{6A9BC83F-8FE5-5223-2B3A-6E122D336309}"/>
              </a:ext>
            </a:extLst>
          </p:cNvPr>
          <p:cNvSpPr>
            <a:spLocks noGrp="1"/>
          </p:cNvSpPr>
          <p:nvPr>
            <p:ph sz="quarter" idx="13" hasCustomPrompt="1"/>
          </p:nvPr>
        </p:nvSpPr>
        <p:spPr>
          <a:xfrm>
            <a:off x="2597135" y="1744578"/>
            <a:ext cx="6997730" cy="3507906"/>
          </a:xfrm>
        </p:spPr>
        <p:txBody>
          <a:bodyPr anchor="b">
            <a:normAutofit/>
          </a:bodyPr>
          <a:lstStyle>
            <a:lvl1pPr algn="ctr">
              <a:lnSpc>
                <a:spcPct val="100000"/>
              </a:lnSpc>
              <a:spcBef>
                <a:spcPts val="0"/>
              </a:spcBef>
              <a:defRPr sz="6000" cap="all" baseline="0">
                <a:latin typeface="+mn-lt"/>
              </a:defRPr>
            </a:lvl1pPr>
          </a:lstStyle>
          <a:p>
            <a:pPr lvl="0"/>
            <a:r>
              <a:rPr lang="en-US"/>
              <a:t>Click to add Quote</a:t>
            </a:r>
          </a:p>
        </p:txBody>
      </p:sp>
      <p:sp>
        <p:nvSpPr>
          <p:cNvPr id="9" name="Freeform: Shape 15">
            <a:extLst>
              <a:ext uri="{FF2B5EF4-FFF2-40B4-BE49-F238E27FC236}">
                <a16:creationId xmlns:a16="http://schemas.microsoft.com/office/drawing/2014/main" id="{9F353A57-FA3C-A68C-4908-E774A52CB1B6}"/>
              </a:ext>
              <a:ext uri="{C183D7F6-B498-43B3-948B-1728B52AA6E4}">
                <adec:decorative xmlns:adec="http://schemas.microsoft.com/office/drawing/2017/decorative" val="1"/>
              </a:ext>
            </a:extLst>
          </p:cNvPr>
          <p:cNvSpPr/>
          <p:nvPr/>
        </p:nvSpPr>
        <p:spPr>
          <a:xfrm rot="16200000">
            <a:off x="2811380" y="-1681974"/>
            <a:ext cx="6569242" cy="10510705"/>
          </a:xfrm>
          <a:custGeom>
            <a:avLst/>
            <a:gdLst>
              <a:gd name="connsiteX0" fmla="*/ 5325805 w 5325805"/>
              <a:gd name="connsiteY0" fmla="*/ 2714782 h 5429563"/>
              <a:gd name="connsiteX1" fmla="*/ 2611024 w 5325805"/>
              <a:gd name="connsiteY1" fmla="*/ 5429563 h 5429563"/>
              <a:gd name="connsiteX2" fmla="*/ 1942188 w 5325805"/>
              <a:gd name="connsiteY2" fmla="*/ 5429563 h 5429563"/>
              <a:gd name="connsiteX3" fmla="*/ 668836 w 5325805"/>
              <a:gd name="connsiteY3" fmla="*/ 5429563 h 5429563"/>
              <a:gd name="connsiteX4" fmla="*/ 0 w 5325805"/>
              <a:gd name="connsiteY4" fmla="*/ 5429563 h 5429563"/>
              <a:gd name="connsiteX5" fmla="*/ 0 w 5325805"/>
              <a:gd name="connsiteY5" fmla="*/ 0 h 5429563"/>
              <a:gd name="connsiteX6" fmla="*/ 668836 w 5325805"/>
              <a:gd name="connsiteY6" fmla="*/ 0 h 5429563"/>
              <a:gd name="connsiteX7" fmla="*/ 1942188 w 5325805"/>
              <a:gd name="connsiteY7" fmla="*/ 0 h 5429563"/>
              <a:gd name="connsiteX8" fmla="*/ 2611024 w 5325805"/>
              <a:gd name="connsiteY8" fmla="*/ 0 h 5429563"/>
              <a:gd name="connsiteX9" fmla="*/ 5325805 w 5325805"/>
              <a:gd name="connsiteY9" fmla="*/ 2714782 h 5429563"/>
              <a:gd name="connsiteX0" fmla="*/ 668836 w 5325805"/>
              <a:gd name="connsiteY0" fmla="*/ 5429563 h 5476799"/>
              <a:gd name="connsiteX1" fmla="*/ 0 w 5325805"/>
              <a:gd name="connsiteY1" fmla="*/ 5429563 h 5476799"/>
              <a:gd name="connsiteX2" fmla="*/ 0 w 5325805"/>
              <a:gd name="connsiteY2" fmla="*/ 0 h 5476799"/>
              <a:gd name="connsiteX3" fmla="*/ 668836 w 5325805"/>
              <a:gd name="connsiteY3" fmla="*/ 0 h 5476799"/>
              <a:gd name="connsiteX4" fmla="*/ 1942188 w 5325805"/>
              <a:gd name="connsiteY4" fmla="*/ 0 h 5476799"/>
              <a:gd name="connsiteX5" fmla="*/ 2611024 w 5325805"/>
              <a:gd name="connsiteY5" fmla="*/ 0 h 5476799"/>
              <a:gd name="connsiteX6" fmla="*/ 5325805 w 5325805"/>
              <a:gd name="connsiteY6" fmla="*/ 2714782 h 5476799"/>
              <a:gd name="connsiteX7" fmla="*/ 2611024 w 5325805"/>
              <a:gd name="connsiteY7" fmla="*/ 5429563 h 5476799"/>
              <a:gd name="connsiteX8" fmla="*/ 1942188 w 5325805"/>
              <a:gd name="connsiteY8" fmla="*/ 5429563 h 5476799"/>
              <a:gd name="connsiteX9" fmla="*/ 716072 w 5325805"/>
              <a:gd name="connsiteY9" fmla="*/ 5476799 h 5476799"/>
              <a:gd name="connsiteX0" fmla="*/ 668836 w 5325805"/>
              <a:gd name="connsiteY0" fmla="*/ 5429563 h 5429563"/>
              <a:gd name="connsiteX1" fmla="*/ 0 w 5325805"/>
              <a:gd name="connsiteY1" fmla="*/ 5429563 h 5429563"/>
              <a:gd name="connsiteX2" fmla="*/ 0 w 5325805"/>
              <a:gd name="connsiteY2" fmla="*/ 0 h 5429563"/>
              <a:gd name="connsiteX3" fmla="*/ 668836 w 5325805"/>
              <a:gd name="connsiteY3" fmla="*/ 0 h 5429563"/>
              <a:gd name="connsiteX4" fmla="*/ 1942188 w 5325805"/>
              <a:gd name="connsiteY4" fmla="*/ 0 h 5429563"/>
              <a:gd name="connsiteX5" fmla="*/ 2611024 w 5325805"/>
              <a:gd name="connsiteY5" fmla="*/ 0 h 5429563"/>
              <a:gd name="connsiteX6" fmla="*/ 5325805 w 5325805"/>
              <a:gd name="connsiteY6" fmla="*/ 2714782 h 5429563"/>
              <a:gd name="connsiteX7" fmla="*/ 2611024 w 5325805"/>
              <a:gd name="connsiteY7" fmla="*/ 5429563 h 5429563"/>
              <a:gd name="connsiteX8" fmla="*/ 1942188 w 5325805"/>
              <a:gd name="connsiteY8" fmla="*/ 5429563 h 5429563"/>
              <a:gd name="connsiteX0" fmla="*/ 0 w 5325805"/>
              <a:gd name="connsiteY0" fmla="*/ 5429563 h 5429563"/>
              <a:gd name="connsiteX1" fmla="*/ 0 w 5325805"/>
              <a:gd name="connsiteY1" fmla="*/ 0 h 5429563"/>
              <a:gd name="connsiteX2" fmla="*/ 668836 w 5325805"/>
              <a:gd name="connsiteY2" fmla="*/ 0 h 5429563"/>
              <a:gd name="connsiteX3" fmla="*/ 1942188 w 5325805"/>
              <a:gd name="connsiteY3" fmla="*/ 0 h 5429563"/>
              <a:gd name="connsiteX4" fmla="*/ 2611024 w 5325805"/>
              <a:gd name="connsiteY4" fmla="*/ 0 h 5429563"/>
              <a:gd name="connsiteX5" fmla="*/ 5325805 w 5325805"/>
              <a:gd name="connsiteY5" fmla="*/ 2714782 h 5429563"/>
              <a:gd name="connsiteX6" fmla="*/ 2611024 w 5325805"/>
              <a:gd name="connsiteY6" fmla="*/ 5429563 h 5429563"/>
              <a:gd name="connsiteX7" fmla="*/ 1942188 w 5325805"/>
              <a:gd name="connsiteY7" fmla="*/ 5429563 h 5429563"/>
              <a:gd name="connsiteX0" fmla="*/ 0 w 5325805"/>
              <a:gd name="connsiteY0" fmla="*/ 0 h 5429563"/>
              <a:gd name="connsiteX1" fmla="*/ 668836 w 5325805"/>
              <a:gd name="connsiteY1" fmla="*/ 0 h 5429563"/>
              <a:gd name="connsiteX2" fmla="*/ 1942188 w 5325805"/>
              <a:gd name="connsiteY2" fmla="*/ 0 h 5429563"/>
              <a:gd name="connsiteX3" fmla="*/ 2611024 w 5325805"/>
              <a:gd name="connsiteY3" fmla="*/ 0 h 5429563"/>
              <a:gd name="connsiteX4" fmla="*/ 5325805 w 5325805"/>
              <a:gd name="connsiteY4" fmla="*/ 2714782 h 5429563"/>
              <a:gd name="connsiteX5" fmla="*/ 2611024 w 5325805"/>
              <a:gd name="connsiteY5" fmla="*/ 5429563 h 5429563"/>
              <a:gd name="connsiteX6" fmla="*/ 1942188 w 5325805"/>
              <a:gd name="connsiteY6" fmla="*/ 5429563 h 5429563"/>
              <a:gd name="connsiteX0" fmla="*/ 0 w 4656969"/>
              <a:gd name="connsiteY0" fmla="*/ 0 h 5429563"/>
              <a:gd name="connsiteX1" fmla="*/ 1273352 w 4656969"/>
              <a:gd name="connsiteY1" fmla="*/ 0 h 5429563"/>
              <a:gd name="connsiteX2" fmla="*/ 1942188 w 4656969"/>
              <a:gd name="connsiteY2" fmla="*/ 0 h 5429563"/>
              <a:gd name="connsiteX3" fmla="*/ 4656969 w 4656969"/>
              <a:gd name="connsiteY3" fmla="*/ 2714782 h 5429563"/>
              <a:gd name="connsiteX4" fmla="*/ 1942188 w 4656969"/>
              <a:gd name="connsiteY4" fmla="*/ 5429563 h 5429563"/>
              <a:gd name="connsiteX5" fmla="*/ 1273352 w 4656969"/>
              <a:gd name="connsiteY5" fmla="*/ 5429563 h 5429563"/>
              <a:gd name="connsiteX0" fmla="*/ 0 w 3383617"/>
              <a:gd name="connsiteY0" fmla="*/ 0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0 w 3383617"/>
              <a:gd name="connsiteY0" fmla="*/ 0 h 5429563"/>
              <a:gd name="connsiteX1" fmla="*/ 248198 w 3383617"/>
              <a:gd name="connsiteY1" fmla="*/ 41 h 5429563"/>
              <a:gd name="connsiteX2" fmla="*/ 668836 w 3383617"/>
              <a:gd name="connsiteY2" fmla="*/ 0 h 5429563"/>
              <a:gd name="connsiteX3" fmla="*/ 3383617 w 3383617"/>
              <a:gd name="connsiteY3" fmla="*/ 2714782 h 5429563"/>
              <a:gd name="connsiteX4" fmla="*/ 668836 w 3383617"/>
              <a:gd name="connsiteY4" fmla="*/ 5429563 h 5429563"/>
              <a:gd name="connsiteX5" fmla="*/ 0 w 3383617"/>
              <a:gd name="connsiteY5" fmla="*/ 5429563 h 5429563"/>
              <a:gd name="connsiteX0" fmla="*/ 248198 w 3383617"/>
              <a:gd name="connsiteY0" fmla="*/ 41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4110 w 3139529"/>
              <a:gd name="connsiteY0" fmla="*/ 41 h 5429563"/>
              <a:gd name="connsiteX1" fmla="*/ 424748 w 3139529"/>
              <a:gd name="connsiteY1" fmla="*/ 0 h 5429563"/>
              <a:gd name="connsiteX2" fmla="*/ 3139529 w 3139529"/>
              <a:gd name="connsiteY2" fmla="*/ 2714782 h 5429563"/>
              <a:gd name="connsiteX3" fmla="*/ 424748 w 3139529"/>
              <a:gd name="connsiteY3" fmla="*/ 5429563 h 5429563"/>
              <a:gd name="connsiteX4" fmla="*/ 0 w 3139529"/>
              <a:gd name="connsiteY4" fmla="*/ 5429563 h 5429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9529" h="5429563">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BB8B3EC2-53ED-4D1A-9192-770633E9F6D6}" type="datetimeFigureOut">
              <a:rPr lang="en-US" smtClean="0"/>
              <a:t>10/8/2026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9E8223D3-9AA3-4BD5-B1A1-35F69A862191}" type="slidenum">
              <a:rPr lang="en-US" smtClean="0"/>
              <a:t>‹#›</a:t>
            </a:fld>
            <a:endParaRPr lang="en-US"/>
          </a:p>
        </p:txBody>
      </p:sp>
    </p:spTree>
    <p:extLst>
      <p:ext uri="{BB962C8B-B14F-4D97-AF65-F5344CB8AC3E}">
        <p14:creationId xmlns:p14="http://schemas.microsoft.com/office/powerpoint/2010/main" val="123799129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GB"/>
              <a:t>Click to edit Master title style</a:t>
            </a:r>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endParaRPr lang="en-US"/>
          </a:p>
        </p:txBody>
      </p:sp>
      <p:sp>
        <p:nvSpPr>
          <p:cNvPr id="4" name="Content Placeholder 3">
            <a:extLst>
              <a:ext uri="{FF2B5EF4-FFF2-40B4-BE49-F238E27FC236}">
                <a16:creationId xmlns:a16="http://schemas.microsoft.com/office/drawing/2014/main" id="{2172FE6B-A4D8-8ED7-89D7-5E7F2C5B8F5F}"/>
              </a:ext>
            </a:extLst>
          </p:cNvPr>
          <p:cNvSpPr>
            <a:spLocks noGrp="1"/>
          </p:cNvSpPr>
          <p:nvPr>
            <p:ph sz="quarter" idx="15"/>
          </p:nvPr>
        </p:nvSpPr>
        <p:spPr>
          <a:xfrm>
            <a:off x="731838" y="2103438"/>
            <a:ext cx="5181600" cy="435133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8" name="Content Placeholder 3">
            <a:extLst>
              <a:ext uri="{FF2B5EF4-FFF2-40B4-BE49-F238E27FC236}">
                <a16:creationId xmlns:a16="http://schemas.microsoft.com/office/drawing/2014/main" id="{686405AE-ED31-677D-86D8-01EAD583735E}"/>
              </a:ext>
            </a:extLst>
          </p:cNvPr>
          <p:cNvSpPr>
            <a:spLocks noGrp="1"/>
          </p:cNvSpPr>
          <p:nvPr>
            <p:ph sz="quarter" idx="16"/>
          </p:nvPr>
        </p:nvSpPr>
        <p:spPr>
          <a:xfrm>
            <a:off x="6284947" y="2103121"/>
            <a:ext cx="5181600" cy="435133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BB8B3EC2-53ED-4D1A-9192-770633E9F6D6}" type="datetimeFigureOut">
              <a:rPr lang="en-US" smtClean="0"/>
              <a:t>10/8/2026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9E8223D3-9AA3-4BD5-B1A1-35F69A862191}" type="slidenum">
              <a:rPr lang="en-US" smtClean="0"/>
              <a:t>‹#›</a:t>
            </a:fld>
            <a:endParaRPr lang="en-US"/>
          </a:p>
        </p:txBody>
      </p:sp>
    </p:spTree>
    <p:extLst>
      <p:ext uri="{BB962C8B-B14F-4D97-AF65-F5344CB8AC3E}">
        <p14:creationId xmlns:p14="http://schemas.microsoft.com/office/powerpoint/2010/main" val="9060386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85A6F3D-6630-C2E0-DC0A-6D2C0AACFF58}"/>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GB"/>
              <a:t>Click to edit Master title style</a:t>
            </a:r>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731520" y="2103120"/>
            <a:ext cx="5157787" cy="559834"/>
          </a:xfrm>
        </p:spPr>
        <p:txBody>
          <a:bodyPr anchor="b">
            <a:norm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 name="Content Placeholder 3">
            <a:extLst>
              <a:ext uri="{FF2B5EF4-FFF2-40B4-BE49-F238E27FC236}">
                <a16:creationId xmlns:a16="http://schemas.microsoft.com/office/drawing/2014/main" id="{9C38DBB1-A1FA-A460-88C8-B05F1570CA97}"/>
              </a:ext>
            </a:extLst>
          </p:cNvPr>
          <p:cNvSpPr>
            <a:spLocks noGrp="1"/>
          </p:cNvSpPr>
          <p:nvPr>
            <p:ph sz="quarter" idx="15"/>
          </p:nvPr>
        </p:nvSpPr>
        <p:spPr>
          <a:xfrm>
            <a:off x="731838" y="2743200"/>
            <a:ext cx="5157187" cy="376396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09360" y="2103120"/>
            <a:ext cx="5183188" cy="559834"/>
          </a:xfrm>
        </p:spPr>
        <p:txBody>
          <a:bodyPr anchor="b">
            <a:norm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3">
            <a:extLst>
              <a:ext uri="{FF2B5EF4-FFF2-40B4-BE49-F238E27FC236}">
                <a16:creationId xmlns:a16="http://schemas.microsoft.com/office/drawing/2014/main" id="{82D763CC-A010-6A2B-FEF3-388EAC8417D7}"/>
              </a:ext>
            </a:extLst>
          </p:cNvPr>
          <p:cNvSpPr>
            <a:spLocks noGrp="1"/>
          </p:cNvSpPr>
          <p:nvPr>
            <p:ph sz="quarter" idx="16"/>
          </p:nvPr>
        </p:nvSpPr>
        <p:spPr>
          <a:xfrm>
            <a:off x="6309361" y="2743200"/>
            <a:ext cx="5183188" cy="376396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lvl1pPr>
              <a:defRPr>
                <a:solidFill>
                  <a:schemeClr val="tx1"/>
                </a:solidFill>
              </a:defRPr>
            </a:lvl1pPr>
          </a:lstStyle>
          <a:p>
            <a:fld id="{BB8B3EC2-53ED-4D1A-9192-770633E9F6D6}" type="datetimeFigureOut">
              <a:rPr lang="en-US" smtClean="0"/>
              <a:t>10/8/2026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lvl1pPr>
              <a:defRPr>
                <a:solidFill>
                  <a:schemeClr val="tx1"/>
                </a:solidFill>
              </a:defRPr>
            </a:lvl1pPr>
          </a:lstStyle>
          <a:p>
            <a:fld id="{9E8223D3-9AA3-4BD5-B1A1-35F69A862191}" type="slidenum">
              <a:rPr lang="en-US" smtClean="0"/>
              <a:t>‹#›</a:t>
            </a:fld>
            <a:endParaRPr lang="en-US"/>
          </a:p>
        </p:txBody>
      </p:sp>
    </p:spTree>
    <p:extLst>
      <p:ext uri="{BB962C8B-B14F-4D97-AF65-F5344CB8AC3E}">
        <p14:creationId xmlns:p14="http://schemas.microsoft.com/office/powerpoint/2010/main" val="49980034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Only ">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0796BC8-E1B7-E6D6-E86F-4A5CAECDFEFC}"/>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GB"/>
              <a:t>Click to edit Master title style</a:t>
            </a:r>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lvl1pPr>
              <a:defRPr>
                <a:solidFill>
                  <a:schemeClr val="tx1"/>
                </a:solidFill>
              </a:defRPr>
            </a:lvl1pPr>
          </a:lstStyle>
          <a:p>
            <a:fld id="{BB8B3EC2-53ED-4D1A-9192-770633E9F6D6}" type="datetimeFigureOut">
              <a:rPr lang="en-US" smtClean="0"/>
              <a:t>10/8/2026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lvl1pPr>
              <a:defRPr>
                <a:solidFill>
                  <a:schemeClr val="tx1"/>
                </a:solidFill>
              </a:defRPr>
            </a:lvl1pPr>
          </a:lstStyle>
          <a:p>
            <a:fld id="{9E8223D3-9AA3-4BD5-B1A1-35F69A862191}" type="slidenum">
              <a:rPr lang="en-US" smtClean="0"/>
              <a:t>‹#›</a:t>
            </a:fld>
            <a:endParaRPr lang="en-US"/>
          </a:p>
        </p:txBody>
      </p:sp>
    </p:spTree>
    <p:extLst>
      <p:ext uri="{BB962C8B-B14F-4D97-AF65-F5344CB8AC3E}">
        <p14:creationId xmlns:p14="http://schemas.microsoft.com/office/powerpoint/2010/main" val="160223870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lvl1pPr>
              <a:defRPr>
                <a:solidFill>
                  <a:schemeClr val="tx1"/>
                </a:solidFill>
              </a:defRPr>
            </a:lvl1pPr>
          </a:lstStyle>
          <a:p>
            <a:endParaRPr lang="en-US"/>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lvl1pPr>
              <a:defRPr>
                <a:solidFill>
                  <a:schemeClr val="tx1"/>
                </a:solidFill>
              </a:defRPr>
            </a:lvl1pPr>
          </a:lstStyle>
          <a:p>
            <a:fld id="{BB8B3EC2-53ED-4D1A-9192-770633E9F6D6}" type="datetimeFigureOut">
              <a:rPr lang="en-US" smtClean="0"/>
              <a:t>10/8/2026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lvl1pPr>
              <a:defRPr>
                <a:solidFill>
                  <a:schemeClr val="tx1"/>
                </a:solidFill>
              </a:defRPr>
            </a:lvl1pPr>
          </a:lstStyle>
          <a:p>
            <a:fld id="{9E8223D3-9AA3-4BD5-B1A1-35F69A862191}" type="slidenum">
              <a:rPr lang="en-US" smtClean="0"/>
              <a:t>‹#›</a:t>
            </a:fld>
            <a:endParaRPr lang="en-US"/>
          </a:p>
        </p:txBody>
      </p:sp>
    </p:spTree>
    <p:extLst>
      <p:ext uri="{BB962C8B-B14F-4D97-AF65-F5344CB8AC3E}">
        <p14:creationId xmlns:p14="http://schemas.microsoft.com/office/powerpoint/2010/main" val="9964940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nclus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1248" y="457200"/>
            <a:ext cx="7342307" cy="1133856"/>
          </a:xfrm>
          <a:noFill/>
        </p:spPr>
        <p:txBody>
          <a:bodyPr anchor="b">
            <a:noAutofit/>
          </a:bodyPr>
          <a:lstStyle>
            <a:lvl1pPr>
              <a:defRPr sz="6000">
                <a:solidFill>
                  <a:schemeClr val="tx1"/>
                </a:solidFill>
              </a:defRPr>
            </a:lvl1pPr>
          </a:lstStyle>
          <a:p>
            <a:r>
              <a:rPr lang="en-GB"/>
              <a:t>Click to edit Master title style</a:t>
            </a:r>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noFill/>
        </p:spPr>
        <p:txBody>
          <a:bodyPr/>
          <a:lstStyle>
            <a:lvl1pPr>
              <a:defRPr>
                <a:solidFill>
                  <a:schemeClr val="tx1"/>
                </a:solidFill>
              </a:defRPr>
            </a:lvl1pPr>
          </a:lstStyle>
          <a:p>
            <a:endParaRPr lang="en-US"/>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841248" y="2624328"/>
            <a:ext cx="10424160" cy="3200400"/>
          </a:xfrm>
          <a:noFill/>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noFill/>
        </p:spPr>
        <p:txBody>
          <a:bodyPr/>
          <a:lstStyle>
            <a:lvl1pPr>
              <a:defRPr>
                <a:solidFill>
                  <a:schemeClr val="tx1"/>
                </a:solidFill>
              </a:defRPr>
            </a:lvl1pPr>
          </a:lstStyle>
          <a:p>
            <a:fld id="{BB8B3EC2-53ED-4D1A-9192-770633E9F6D6}" type="datetimeFigureOut">
              <a:rPr lang="en-US" smtClean="0"/>
              <a:t>10/8/2026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noFill/>
        </p:spPr>
        <p:txBody>
          <a:bodyPr/>
          <a:lstStyle>
            <a:lvl1pPr>
              <a:defRPr>
                <a:solidFill>
                  <a:schemeClr val="tx1"/>
                </a:solidFill>
              </a:defRPr>
            </a:lvl1pPr>
          </a:lstStyle>
          <a:p>
            <a:fld id="{9E8223D3-9AA3-4BD5-B1A1-35F69A862191}" type="slidenum">
              <a:rPr lang="en-US" smtClean="0"/>
              <a:t>‹#›</a:t>
            </a:fld>
            <a:endParaRPr lang="en-US"/>
          </a:p>
        </p:txBody>
      </p:sp>
    </p:spTree>
    <p:extLst>
      <p:ext uri="{BB962C8B-B14F-4D97-AF65-F5344CB8AC3E}">
        <p14:creationId xmlns:p14="http://schemas.microsoft.com/office/powerpoint/2010/main" val="43723673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spTree>
      <p:nvGrpSpPr>
        <p:cNvPr id="1" name=""/>
        <p:cNvGrpSpPr/>
        <p:nvPr/>
      </p:nvGrpSpPr>
      <p:grpSpPr>
        <a:xfrm>
          <a:off x="0" y="0"/>
          <a:ext cx="0" cy="0"/>
          <a:chOff x="0" y="0"/>
          <a:chExt cx="0" cy="0"/>
        </a:xfrm>
      </p:grpSpPr>
      <p:sp>
        <p:nvSpPr>
          <p:cNvPr id="8" name="Title 6">
            <a:extLst>
              <a:ext uri="{FF2B5EF4-FFF2-40B4-BE49-F238E27FC236}">
                <a16:creationId xmlns:a16="http://schemas.microsoft.com/office/drawing/2014/main" id="{CE8CC034-C652-239B-0064-9B0543AC25C5}"/>
              </a:ext>
            </a:extLst>
          </p:cNvPr>
          <p:cNvSpPr>
            <a:spLocks noGrp="1"/>
          </p:cNvSpPr>
          <p:nvPr>
            <p:ph type="title"/>
          </p:nvPr>
        </p:nvSpPr>
        <p:spPr>
          <a:xfrm>
            <a:off x="731520" y="365760"/>
            <a:ext cx="10741152" cy="1132258"/>
          </a:xfrm>
        </p:spPr>
        <p:txBody>
          <a:bodyPr/>
          <a:lstStyle>
            <a:lvl1pPr>
              <a:defRPr lang="en-US" dirty="0"/>
            </a:lvl1pPr>
          </a:lstStyle>
          <a:p>
            <a:r>
              <a:rPr lang="en-GB"/>
              <a:t>Click to edit Master title style</a:t>
            </a:r>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endParaRPr lang="en-US"/>
          </a:p>
        </p:txBody>
      </p:sp>
      <p:sp>
        <p:nvSpPr>
          <p:cNvPr id="2" name="Content Placeholder 7">
            <a:extLst>
              <a:ext uri="{FF2B5EF4-FFF2-40B4-BE49-F238E27FC236}">
                <a16:creationId xmlns:a16="http://schemas.microsoft.com/office/drawing/2014/main" id="{D051F68D-E2E5-C625-0273-281CE6D4939F}"/>
              </a:ext>
            </a:extLst>
          </p:cNvPr>
          <p:cNvSpPr>
            <a:spLocks noGrp="1"/>
          </p:cNvSpPr>
          <p:nvPr>
            <p:ph sz="quarter" idx="13"/>
          </p:nvPr>
        </p:nvSpPr>
        <p:spPr>
          <a:xfrm>
            <a:off x="731520" y="2301836"/>
            <a:ext cx="10741150" cy="3921165"/>
          </a:xfrm>
          <a:noFill/>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BB8B3EC2-53ED-4D1A-9192-770633E9F6D6}" type="datetimeFigureOut">
              <a:rPr lang="en-US" smtClean="0"/>
              <a:t>10/8/2026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9E8223D3-9AA3-4BD5-B1A1-35F69A862191}" type="slidenum">
              <a:rPr lang="en-US" smtClean="0"/>
              <a:t>‹#›</a:t>
            </a:fld>
            <a:endParaRPr lang="en-US"/>
          </a:p>
        </p:txBody>
      </p:sp>
    </p:spTree>
    <p:extLst>
      <p:ext uri="{BB962C8B-B14F-4D97-AF65-F5344CB8AC3E}">
        <p14:creationId xmlns:p14="http://schemas.microsoft.com/office/powerpoint/2010/main" val="145928188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5B7BF5-F017-4782-8A51-3E2AE522AEE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0C741E2F-B000-F18E-8DD4-9D67BA81194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C26DF1C-322E-2C46-DB71-D728015A1363}"/>
              </a:ext>
            </a:extLst>
          </p:cNvPr>
          <p:cNvSpPr>
            <a:spLocks noGrp="1"/>
          </p:cNvSpPr>
          <p:nvPr>
            <p:ph type="dt" sz="half" idx="10"/>
          </p:nvPr>
        </p:nvSpPr>
        <p:spPr/>
        <p:txBody>
          <a:bodyPr/>
          <a:lstStyle/>
          <a:p>
            <a:fld id="{BB8B3EC2-53ED-4D1A-9192-770633E9F6D6}" type="datetimeFigureOut">
              <a:rPr lang="en-US" smtClean="0"/>
              <a:t>10/8/2026</a:t>
            </a:fld>
            <a:endParaRPr lang="en-US"/>
          </a:p>
        </p:txBody>
      </p:sp>
      <p:sp>
        <p:nvSpPr>
          <p:cNvPr id="5" name="Footer Placeholder 4">
            <a:extLst>
              <a:ext uri="{FF2B5EF4-FFF2-40B4-BE49-F238E27FC236}">
                <a16:creationId xmlns:a16="http://schemas.microsoft.com/office/drawing/2014/main" id="{8460EE85-A4DB-21CE-7551-81F69F535CB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82FF7CA-7EB6-665F-2A84-6CEBBA819749}"/>
              </a:ext>
            </a:extLst>
          </p:cNvPr>
          <p:cNvSpPr>
            <a:spLocks noGrp="1"/>
          </p:cNvSpPr>
          <p:nvPr>
            <p:ph type="sldNum" sz="quarter" idx="12"/>
          </p:nvPr>
        </p:nvSpPr>
        <p:spPr/>
        <p:txBody>
          <a:bodyPr/>
          <a:lstStyle/>
          <a:p>
            <a:fld id="{9E8223D3-9AA3-4BD5-B1A1-35F69A862191}" type="slidenum">
              <a:rPr lang="en-US" smtClean="0"/>
              <a:t>‹#›</a:t>
            </a:fld>
            <a:endParaRPr lang="en-US"/>
          </a:p>
        </p:txBody>
      </p:sp>
    </p:spTree>
    <p:extLst>
      <p:ext uri="{BB962C8B-B14F-4D97-AF65-F5344CB8AC3E}">
        <p14:creationId xmlns:p14="http://schemas.microsoft.com/office/powerpoint/2010/main" val="5840155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D476A66-BE83-43F9-A28B-02DF7879AD52}"/>
              </a:ext>
            </a:extLst>
          </p:cNvPr>
          <p:cNvSpPr>
            <a:spLocks noGrp="1"/>
          </p:cNvSpPr>
          <p:nvPr>
            <p:ph type="title"/>
          </p:nvPr>
        </p:nvSpPr>
        <p:spPr>
          <a:xfrm>
            <a:off x="838200" y="584990"/>
            <a:ext cx="10515600" cy="1116811"/>
          </a:xfrm>
          <a:prstGeom prst="rect">
            <a:avLst/>
          </a:prstGeom>
        </p:spPr>
        <p:txBody>
          <a:bodyPr vert="horz" lIns="91440" tIns="45720" rIns="91440" bIns="45720" rtlCol="0" anchor="b">
            <a:normAutofit/>
          </a:bodyPr>
          <a:lstStyle/>
          <a:p>
            <a:r>
              <a:rPr lang="en-GB"/>
              <a:t>Click to edit Master title style</a:t>
            </a:r>
            <a:endParaRPr lang="en-US"/>
          </a:p>
        </p:txBody>
      </p:sp>
      <p:sp>
        <p:nvSpPr>
          <p:cNvPr id="5" name="Footer Placeholder 4">
            <a:extLst>
              <a:ext uri="{FF2B5EF4-FFF2-40B4-BE49-F238E27FC236}">
                <a16:creationId xmlns:a16="http://schemas.microsoft.com/office/drawing/2014/main" id="{0DACB382-EE11-430D-941A-DB76EEB7F2D5}"/>
              </a:ext>
            </a:extLst>
          </p:cNvPr>
          <p:cNvSpPr>
            <a:spLocks noGrp="1"/>
          </p:cNvSpPr>
          <p:nvPr>
            <p:ph type="ftr" sz="quarter" idx="3"/>
          </p:nvPr>
        </p:nvSpPr>
        <p:spPr>
          <a:xfrm rot="16200000" flipH="1">
            <a:off x="-1131161" y="1592957"/>
            <a:ext cx="2973522" cy="365125"/>
          </a:xfrm>
          <a:prstGeom prst="rect">
            <a:avLst/>
          </a:prstGeom>
        </p:spPr>
        <p:txBody>
          <a:bodyPr vert="horz" lIns="91440" tIns="45720" rIns="91440" bIns="45720" rtlCol="0" anchor="ctr"/>
          <a:lstStyle>
            <a:lvl1pPr algn="r" rtl="0">
              <a:defRPr sz="1000">
                <a:solidFill>
                  <a:schemeClr val="tx1"/>
                </a:solidFill>
              </a:defRPr>
            </a:lvl1pPr>
          </a:lstStyle>
          <a:p>
            <a:endParaRPr lang="en-US"/>
          </a:p>
        </p:txBody>
      </p:sp>
      <p:sp>
        <p:nvSpPr>
          <p:cNvPr id="3" name="Text Placeholder 2">
            <a:extLst>
              <a:ext uri="{FF2B5EF4-FFF2-40B4-BE49-F238E27FC236}">
                <a16:creationId xmlns:a16="http://schemas.microsoft.com/office/drawing/2014/main" id="{19D76E94-F276-4F0F-8DD9-B1F8A3198AE1}"/>
              </a:ext>
            </a:extLst>
          </p:cNvPr>
          <p:cNvSpPr>
            <a:spLocks noGrp="1"/>
          </p:cNvSpPr>
          <p:nvPr>
            <p:ph type="body" idx="1"/>
          </p:nvPr>
        </p:nvSpPr>
        <p:spPr>
          <a:xfrm>
            <a:off x="838200" y="2061469"/>
            <a:ext cx="10515600" cy="4114801"/>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4AD964E-3A2E-4DB9-B96A-EDE144A47BDC}"/>
              </a:ext>
            </a:extLst>
          </p:cNvPr>
          <p:cNvSpPr>
            <a:spLocks noGrp="1"/>
          </p:cNvSpPr>
          <p:nvPr>
            <p:ph type="dt" sz="half" idx="2"/>
          </p:nvPr>
        </p:nvSpPr>
        <p:spPr>
          <a:xfrm rot="5400000">
            <a:off x="10425981" y="4687095"/>
            <a:ext cx="2706690" cy="365125"/>
          </a:xfrm>
          <a:prstGeom prst="rect">
            <a:avLst/>
          </a:prstGeom>
        </p:spPr>
        <p:txBody>
          <a:bodyPr vert="horz" lIns="91440" tIns="45720" rIns="91440" bIns="45720" rtlCol="0" anchor="ctr"/>
          <a:lstStyle>
            <a:lvl1pPr algn="r" rtl="0">
              <a:defRPr sz="1000">
                <a:solidFill>
                  <a:schemeClr val="tx1"/>
                </a:solidFill>
              </a:defRPr>
            </a:lvl1pPr>
          </a:lstStyle>
          <a:p>
            <a:fld id="{BB8B3EC2-53ED-4D1A-9192-770633E9F6D6}" type="datetimeFigureOut">
              <a:rPr lang="en-US" smtClean="0"/>
              <a:t>10/8/2026</a:t>
            </a:fld>
            <a:endParaRPr lang="en-US"/>
          </a:p>
        </p:txBody>
      </p:sp>
      <p:sp>
        <p:nvSpPr>
          <p:cNvPr id="6" name="Slide Number Placeholder 5">
            <a:extLst>
              <a:ext uri="{FF2B5EF4-FFF2-40B4-BE49-F238E27FC236}">
                <a16:creationId xmlns:a16="http://schemas.microsoft.com/office/drawing/2014/main" id="{A3C562FE-ACD1-43F2-A3DE-5B11E10B7EA5}"/>
              </a:ext>
            </a:extLst>
          </p:cNvPr>
          <p:cNvSpPr>
            <a:spLocks noGrp="1"/>
          </p:cNvSpPr>
          <p:nvPr>
            <p:ph type="sldNum" sz="quarter" idx="4"/>
          </p:nvPr>
        </p:nvSpPr>
        <p:spPr>
          <a:xfrm>
            <a:off x="11512296" y="6356350"/>
            <a:ext cx="574620" cy="365125"/>
          </a:xfrm>
          <a:prstGeom prst="rect">
            <a:avLst/>
          </a:prstGeom>
        </p:spPr>
        <p:txBody>
          <a:bodyPr vert="horz" lIns="91440" tIns="45720" rIns="91440" bIns="45720" rtlCol="0" anchor="ctr"/>
          <a:lstStyle>
            <a:lvl1pPr algn="ctr" rtl="0">
              <a:defRPr sz="1000">
                <a:solidFill>
                  <a:schemeClr val="tx1"/>
                </a:solidFill>
              </a:defRPr>
            </a:lvl1pPr>
          </a:lstStyle>
          <a:p>
            <a:fld id="{9E8223D3-9AA3-4BD5-B1A1-35F69A862191}" type="slidenum">
              <a:rPr lang="en-US" smtClean="0"/>
              <a:t>‹#›</a:t>
            </a:fld>
            <a:endParaRPr lang="en-US"/>
          </a:p>
        </p:txBody>
      </p:sp>
      <p:cxnSp>
        <p:nvCxnSpPr>
          <p:cNvPr id="13" name="Straight Connector 12">
            <a:extLst>
              <a:ext uri="{FF2B5EF4-FFF2-40B4-BE49-F238E27FC236}">
                <a16:creationId xmlns:a16="http://schemas.microsoft.com/office/drawing/2014/main" id="{1EB34A3B-1FD5-48FF-9982-1E64C864C01D}"/>
              </a:ext>
            </a:extLst>
          </p:cNvPr>
          <p:cNvCxnSpPr>
            <a:cxnSpLocks/>
          </p:cNvCxnSpPr>
          <p:nvPr/>
        </p:nvCxnSpPr>
        <p:spPr>
          <a:xfrm flipH="1">
            <a:off x="4" y="1824111"/>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251895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Lst>
  <p:txStyles>
    <p:titleStyle>
      <a:lvl1pPr algn="l" defTabSz="914400" rtl="0" eaLnBrk="1" latinLnBrk="0" hangingPunct="1">
        <a:lnSpc>
          <a:spcPct val="90000"/>
        </a:lnSpc>
        <a:spcBef>
          <a:spcPct val="0"/>
        </a:spcBef>
        <a:buNone/>
        <a:defRPr sz="4400" kern="1200" cap="all" baseline="0">
          <a:solidFill>
            <a:schemeClr val="tx1"/>
          </a:solidFill>
          <a:latin typeface="+mj-lt"/>
          <a:ea typeface="+mj-ea"/>
          <a:cs typeface="+mj-cs"/>
        </a:defRPr>
      </a:lvl1pPr>
    </p:titleStyle>
    <p:bodyStyle>
      <a:lvl1pPr marL="0" indent="0" algn="l" defTabSz="914400" rtl="0" eaLnBrk="1" latinLnBrk="0" hangingPunct="1">
        <a:lnSpc>
          <a:spcPct val="110000"/>
        </a:lnSpc>
        <a:spcBef>
          <a:spcPts val="1000"/>
        </a:spcBef>
        <a:buSzPct val="80000"/>
        <a:buFont typeface="Arial" panose="020B060402020202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4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28">
          <p15:clr>
            <a:srgbClr val="F26B43"/>
          </p15:clr>
        </p15:guide>
        <p15:guide id="2" pos="528">
          <p15:clr>
            <a:srgbClr val="F26B43"/>
          </p15:clr>
        </p15:guide>
        <p15:guide id="3" orient="horz" pos="3792">
          <p15:clr>
            <a:srgbClr val="F26B43"/>
          </p15:clr>
        </p15:guide>
        <p15:guide id="4" pos="7152">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2.xml"/></Relationships>
</file>

<file path=ppt/slides/_rels/slide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2.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22.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xml"/><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C7A5E-107C-298B-6FDB-C15F8B818274}"/>
              </a:ext>
            </a:extLst>
          </p:cNvPr>
          <p:cNvSpPr>
            <a:spLocks noGrp="1"/>
          </p:cNvSpPr>
          <p:nvPr>
            <p:ph type="ctrTitle"/>
          </p:nvPr>
        </p:nvSpPr>
        <p:spPr>
          <a:xfrm>
            <a:off x="1600200" y="2539683"/>
            <a:ext cx="9144000" cy="2387600"/>
          </a:xfrm>
        </p:spPr>
        <p:txBody>
          <a:bodyPr>
            <a:normAutofit fontScale="90000"/>
          </a:bodyPr>
          <a:lstStyle/>
          <a:p>
            <a:r>
              <a:rPr lang="en-US"/>
              <a:t>Statistical analysis and classification of the adult income dataset</a:t>
            </a:r>
          </a:p>
        </p:txBody>
      </p:sp>
      <p:sp>
        <p:nvSpPr>
          <p:cNvPr id="3" name="Subtitle 2">
            <a:extLst>
              <a:ext uri="{FF2B5EF4-FFF2-40B4-BE49-F238E27FC236}">
                <a16:creationId xmlns:a16="http://schemas.microsoft.com/office/drawing/2014/main" id="{CFB73119-FD5C-2C64-C356-2C5ECC902B00}"/>
              </a:ext>
            </a:extLst>
          </p:cNvPr>
          <p:cNvSpPr>
            <a:spLocks noGrp="1"/>
          </p:cNvSpPr>
          <p:nvPr>
            <p:ph type="subTitle" idx="1"/>
          </p:nvPr>
        </p:nvSpPr>
        <p:spPr>
          <a:xfrm>
            <a:off x="1699260" y="4927283"/>
            <a:ext cx="9144000" cy="1655762"/>
          </a:xfrm>
        </p:spPr>
        <p:txBody>
          <a:bodyPr/>
          <a:lstStyle/>
          <a:p>
            <a:r>
              <a:t>Adult Income dataset (1994 US Census)</a:t>
            </a:r>
          </a:p>
        </p:txBody>
      </p:sp>
      <p:sp>
        <p:nvSpPr>
          <p:cNvPr id="4" name="TextBox 3">
            <a:extLst>
              <a:ext uri="{FF2B5EF4-FFF2-40B4-BE49-F238E27FC236}">
                <a16:creationId xmlns:a16="http://schemas.microsoft.com/office/drawing/2014/main" id="{55EA5C20-A5FB-26F3-CF7E-3B509C640E20}"/>
              </a:ext>
            </a:extLst>
          </p:cNvPr>
          <p:cNvSpPr txBox="1"/>
          <p:nvPr/>
        </p:nvSpPr>
        <p:spPr>
          <a:xfrm>
            <a:off x="170180" y="5895340"/>
            <a:ext cx="5928360" cy="1015663"/>
          </a:xfrm>
          <a:prstGeom prst="rect">
            <a:avLst/>
          </a:prstGeom>
          <a:noFill/>
        </p:spPr>
        <p:txBody>
          <a:bodyPr wrap="square" lIns="91440" tIns="45720" rIns="91440" bIns="45720" rtlCol="0" anchor="t">
            <a:spAutoFit/>
          </a:bodyPr>
          <a:lstStyle/>
          <a:p>
            <a:pPr>
              <a:lnSpc>
                <a:spcPct val="150000"/>
              </a:lnSpc>
            </a:pPr>
            <a:r>
              <a:rPr lang="en-US" sz="1400" dirty="0"/>
              <a:t>Prepared by: Mariia Zakharova &amp; Gabija </a:t>
            </a:r>
            <a:r>
              <a:rPr lang="en-US" sz="1400" dirty="0" err="1"/>
              <a:t>Benetait</a:t>
            </a:r>
            <a:r>
              <a:rPr lang="lt-LT" sz="1400" dirty="0"/>
              <a:t>ė</a:t>
            </a:r>
            <a:endParaRPr lang="en-US" sz="1400" dirty="0"/>
          </a:p>
          <a:p>
            <a:pPr>
              <a:lnSpc>
                <a:spcPct val="150000"/>
              </a:lnSpc>
            </a:pPr>
            <a:r>
              <a:rPr lang="en-US" sz="1400" dirty="0">
                <a:ea typeface="+mn-lt"/>
                <a:cs typeface="+mn-lt"/>
              </a:rPr>
              <a:t>github.com/</a:t>
            </a:r>
            <a:r>
              <a:rPr lang="en-US" sz="1400" dirty="0" err="1">
                <a:ea typeface="+mn-lt"/>
                <a:cs typeface="+mn-lt"/>
              </a:rPr>
              <a:t>marizxv</a:t>
            </a:r>
            <a:r>
              <a:rPr lang="en-US" sz="1400" dirty="0">
                <a:ea typeface="+mn-lt"/>
                <a:cs typeface="+mn-lt"/>
              </a:rPr>
              <a:t>/t4e_DataScience_school</a:t>
            </a:r>
            <a:endParaRPr lang="lt-LT" sz="1400">
              <a:ea typeface="+mn-lt"/>
              <a:cs typeface="+mn-lt"/>
            </a:endParaRPr>
          </a:p>
          <a:p>
            <a:endParaRPr lang="en-US"/>
          </a:p>
        </p:txBody>
      </p:sp>
    </p:spTree>
    <p:extLst>
      <p:ext uri="{BB962C8B-B14F-4D97-AF65-F5344CB8AC3E}">
        <p14:creationId xmlns:p14="http://schemas.microsoft.com/office/powerpoint/2010/main" val="41965646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5B748C-DB5B-FC42-A894-CC814D27880C}"/>
              </a:ext>
            </a:extLst>
          </p:cNvPr>
          <p:cNvSpPr>
            <a:spLocks noGrp="1"/>
          </p:cNvSpPr>
          <p:nvPr>
            <p:ph type="title"/>
          </p:nvPr>
        </p:nvSpPr>
        <p:spPr/>
        <p:txBody>
          <a:bodyPr/>
          <a:lstStyle/>
          <a:p>
            <a:r>
              <a:rPr lang="en-US"/>
              <a:t>Adult income: 1994 US census data</a:t>
            </a:r>
          </a:p>
        </p:txBody>
      </p:sp>
      <p:sp>
        <p:nvSpPr>
          <p:cNvPr id="3" name="Content Placeholder 2">
            <a:extLst>
              <a:ext uri="{FF2B5EF4-FFF2-40B4-BE49-F238E27FC236}">
                <a16:creationId xmlns:a16="http://schemas.microsoft.com/office/drawing/2014/main" id="{13583CA3-547A-6EDD-72B5-B64CD3446122}"/>
              </a:ext>
            </a:extLst>
          </p:cNvPr>
          <p:cNvSpPr>
            <a:spLocks noGrp="1"/>
          </p:cNvSpPr>
          <p:nvPr>
            <p:ph sz="quarter" idx="15"/>
          </p:nvPr>
        </p:nvSpPr>
        <p:spPr>
          <a:xfrm>
            <a:off x="276046" y="2155196"/>
            <a:ext cx="4526280" cy="0"/>
          </a:xfrm>
        </p:spPr>
        <p:txBody>
          <a:bodyPr>
            <a:noAutofit/>
          </a:bodyPr>
          <a:lstStyle/>
          <a:p>
            <a:r>
              <a:rPr lang="en-US"/>
              <a:t>Adult Income, 1994 US census: 48,842 people (adult.data 32,561 + adult.test 16,281).</a:t>
            </a:r>
          </a:p>
          <a:p>
            <a:r>
              <a:rPr lang="en-US"/>
              <a:t>15 variables (6 numerical, 9 categorical).</a:t>
            </a:r>
          </a:p>
          <a:p>
            <a:r>
              <a:rPr lang="en-US"/>
              <a:t>Target: income &gt;50K.</a:t>
            </a:r>
          </a:p>
          <a:p>
            <a:r>
              <a:rPr lang="en-US"/>
              <a:t>We kept the original train/test split.</a:t>
            </a:r>
          </a:p>
          <a:p>
            <a:r>
              <a:rPr lang="en-US"/>
              <a:t>24.9% of people in train earn more than $50K.</a:t>
            </a:r>
          </a:p>
        </p:txBody>
      </p:sp>
      <p:graphicFrame>
        <p:nvGraphicFramePr>
          <p:cNvPr id="5" name="Content Placeholder 4">
            <a:extLst>
              <a:ext uri="{FF2B5EF4-FFF2-40B4-BE49-F238E27FC236}">
                <a16:creationId xmlns:a16="http://schemas.microsoft.com/office/drawing/2014/main" id="{47880C2B-6CBD-0666-DA18-138AA50ACDE6}"/>
              </a:ext>
            </a:extLst>
          </p:cNvPr>
          <p:cNvGraphicFramePr>
            <a:graphicFrameLocks noGrp="1"/>
          </p:cNvGraphicFramePr>
          <p:nvPr>
            <p:ph sz="quarter" idx="16"/>
            <p:extLst>
              <p:ext uri="{D42A27DB-BD31-4B8C-83A1-F6EECF244321}">
                <p14:modId xmlns:p14="http://schemas.microsoft.com/office/powerpoint/2010/main" val="2889349966"/>
              </p:ext>
            </p:extLst>
          </p:nvPr>
        </p:nvGraphicFramePr>
        <p:xfrm>
          <a:off x="5433237" y="2103438"/>
          <a:ext cx="6033276" cy="3114040"/>
        </p:xfrm>
        <a:graphic>
          <a:graphicData uri="http://schemas.openxmlformats.org/drawingml/2006/table">
            <a:tbl>
              <a:tblPr firstRow="1" bandRow="1">
                <a:tableStyleId>{5C22544A-7EE6-4342-B048-85BDC9FD1C3A}</a:tableStyleId>
              </a:tblPr>
              <a:tblGrid>
                <a:gridCol w="3016638">
                  <a:extLst>
                    <a:ext uri="{9D8B030D-6E8A-4147-A177-3AD203B41FA5}">
                      <a16:colId xmlns:a16="http://schemas.microsoft.com/office/drawing/2014/main" val="2875147536"/>
                    </a:ext>
                  </a:extLst>
                </a:gridCol>
                <a:gridCol w="3016638">
                  <a:extLst>
                    <a:ext uri="{9D8B030D-6E8A-4147-A177-3AD203B41FA5}">
                      <a16:colId xmlns:a16="http://schemas.microsoft.com/office/drawing/2014/main" val="1975736995"/>
                    </a:ext>
                  </a:extLst>
                </a:gridCol>
              </a:tblGrid>
              <a:tr h="370840">
                <a:tc>
                  <a:txBody>
                    <a:bodyPr/>
                    <a:lstStyle/>
                    <a:p>
                      <a:r>
                        <a:rPr lang="en-US"/>
                        <a:t>Type</a:t>
                      </a:r>
                    </a:p>
                  </a:txBody>
                  <a:tcPr/>
                </a:tc>
                <a:tc>
                  <a:txBody>
                    <a:bodyPr/>
                    <a:lstStyle/>
                    <a:p>
                      <a:r>
                        <a:rPr lang="en-US"/>
                        <a:t>Variables</a:t>
                      </a:r>
                    </a:p>
                  </a:txBody>
                  <a:tcPr/>
                </a:tc>
                <a:extLst>
                  <a:ext uri="{0D108BD9-81ED-4DB2-BD59-A6C34878D82A}">
                    <a16:rowId xmlns:a16="http://schemas.microsoft.com/office/drawing/2014/main" val="546451937"/>
                  </a:ext>
                </a:extLst>
              </a:tr>
              <a:tr h="370840">
                <a:tc>
                  <a:txBody>
                    <a:bodyPr/>
                    <a:lstStyle/>
                    <a:p>
                      <a:r>
                        <a:rPr lang="en-US"/>
                        <a:t>Numerical</a:t>
                      </a:r>
                    </a:p>
                  </a:txBody>
                  <a:tcPr/>
                </a:tc>
                <a:tc>
                  <a:txBody>
                    <a:bodyPr/>
                    <a:lstStyle/>
                    <a:p>
                      <a:r>
                        <a:rPr lang="en-US"/>
                        <a:t>Age, education num, hours per week, capital gain, capital loss, </a:t>
                      </a:r>
                      <a:r>
                        <a:rPr lang="en-US" err="1"/>
                        <a:t>fnlwgt</a:t>
                      </a:r>
                      <a:r>
                        <a:rPr lang="en-US"/>
                        <a:t>.</a:t>
                      </a:r>
                    </a:p>
                  </a:txBody>
                  <a:tcPr/>
                </a:tc>
                <a:extLst>
                  <a:ext uri="{0D108BD9-81ED-4DB2-BD59-A6C34878D82A}">
                    <a16:rowId xmlns:a16="http://schemas.microsoft.com/office/drawing/2014/main" val="2398027414"/>
                  </a:ext>
                </a:extLst>
              </a:tr>
              <a:tr h="370840">
                <a:tc>
                  <a:txBody>
                    <a:bodyPr/>
                    <a:lstStyle/>
                    <a:p>
                      <a:r>
                        <a:rPr lang="en-US"/>
                        <a:t>Categorical</a:t>
                      </a:r>
                    </a:p>
                  </a:txBody>
                  <a:tcPr/>
                </a:tc>
                <a:tc>
                  <a:txBody>
                    <a:bodyPr/>
                    <a:lstStyle/>
                    <a:p>
                      <a:r>
                        <a:rPr lang="en-US" err="1"/>
                        <a:t>Workclass, education, marital status, occupation, relationship, race, sex, native country.</a:t>
                      </a:r>
                    </a:p>
                  </a:txBody>
                  <a:tcPr/>
                </a:tc>
                <a:extLst>
                  <a:ext uri="{0D108BD9-81ED-4DB2-BD59-A6C34878D82A}">
                    <a16:rowId xmlns:a16="http://schemas.microsoft.com/office/drawing/2014/main" val="2471576111"/>
                  </a:ext>
                </a:extLst>
              </a:tr>
              <a:tr h="370840">
                <a:tc>
                  <a:txBody>
                    <a:bodyPr/>
                    <a:lstStyle/>
                    <a:p>
                      <a:r>
                        <a:rPr lang="en-US"/>
                        <a:t>Target</a:t>
                      </a:r>
                    </a:p>
                  </a:txBody>
                  <a:tcPr/>
                </a:tc>
                <a:tc>
                  <a:txBody>
                    <a:bodyPr/>
                    <a:lstStyle/>
                    <a:p>
                      <a:r>
                        <a:rPr lang="en-US"/>
                        <a:t>Income: more or less than $50K per year.</a:t>
                      </a:r>
                    </a:p>
                  </a:txBody>
                  <a:tcPr/>
                </a:tc>
                <a:extLst>
                  <a:ext uri="{0D108BD9-81ED-4DB2-BD59-A6C34878D82A}">
                    <a16:rowId xmlns:a16="http://schemas.microsoft.com/office/drawing/2014/main" val="1787341657"/>
                  </a:ext>
                </a:extLst>
              </a:tr>
            </a:tbl>
          </a:graphicData>
        </a:graphic>
      </p:graphicFrame>
    </p:spTree>
    <p:extLst>
      <p:ext uri="{BB962C8B-B14F-4D97-AF65-F5344CB8AC3E}">
        <p14:creationId xmlns:p14="http://schemas.microsoft.com/office/powerpoint/2010/main" val="39058563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398C0E-5548-CA19-97EA-F128DC73C37B}"/>
              </a:ext>
            </a:extLst>
          </p:cNvPr>
          <p:cNvSpPr>
            <a:spLocks noGrp="1"/>
          </p:cNvSpPr>
          <p:nvPr>
            <p:ph type="title"/>
          </p:nvPr>
        </p:nvSpPr>
        <p:spPr/>
        <p:txBody>
          <a:bodyPr/>
          <a:lstStyle/>
          <a:p>
            <a:r>
              <a:rPr lang="en-US"/>
              <a:t>Data preprocessing</a:t>
            </a:r>
          </a:p>
        </p:txBody>
      </p:sp>
      <p:sp>
        <p:nvSpPr>
          <p:cNvPr id="4" name="Content Placeholder 3">
            <a:extLst>
              <a:ext uri="{FF2B5EF4-FFF2-40B4-BE49-F238E27FC236}">
                <a16:creationId xmlns:a16="http://schemas.microsoft.com/office/drawing/2014/main" id="{BF19D1C4-E2C1-331F-246E-94D901893187}"/>
              </a:ext>
            </a:extLst>
          </p:cNvPr>
          <p:cNvSpPr>
            <a:spLocks noGrp="1"/>
          </p:cNvSpPr>
          <p:nvPr>
            <p:ph sz="quarter" idx="15"/>
          </p:nvPr>
        </p:nvSpPr>
        <p:spPr>
          <a:xfrm>
            <a:off x="731520" y="3383280"/>
            <a:ext cx="3383280" cy="3108960"/>
          </a:xfrm>
        </p:spPr>
        <p:txBody>
          <a:bodyPr vert="horz" lIns="91440" tIns="45720" rIns="91440" bIns="45720" rtlCol="0" anchor="t">
            <a:normAutofit/>
          </a:bodyPr>
          <a:lstStyle/>
          <a:p>
            <a:pPr marL="285750" indent="-285750">
              <a:spcAft>
                <a:spcPts val="800"/>
              </a:spcAft>
              <a:buFont typeface="Arial"/>
              <a:buChar char="•"/>
            </a:pPr>
            <a:r>
              <a:rPr sz="1600" b="0"/>
              <a:t>Removed the dot in test labels </a:t>
            </a:r>
            <a:r>
              <a:rPr lang="en-US" sz="1600"/>
              <a:t>(</a:t>
            </a:r>
            <a:r>
              <a:rPr lang="en-US" sz="1500"/>
              <a:t>&gt;</a:t>
            </a:r>
            <a:r>
              <a:rPr lang="en-US" sz="1500" b="0"/>
              <a:t>50K</a:t>
            </a:r>
            <a:r>
              <a:rPr lang="en-US" sz="1500"/>
              <a:t>. → &gt;50K).</a:t>
            </a:r>
          </a:p>
          <a:p>
            <a:pPr marL="285750" indent="-285750">
              <a:spcAft>
                <a:spcPts val="800"/>
              </a:spcAft>
              <a:buFont typeface="Arial"/>
              <a:buChar char="•"/>
            </a:pPr>
            <a:r>
              <a:rPr sz="1600" b="0"/>
              <a:t>Deleted rows with missing values: 2 399 train (</a:t>
            </a:r>
            <a:r>
              <a:rPr lang="pl-PL" sz="1600"/>
              <a:t>7.37</a:t>
            </a:r>
            <a:r>
              <a:rPr sz="1600" b="0"/>
              <a:t>%), 1 221 test (</a:t>
            </a:r>
            <a:r>
              <a:rPr lang="pl-PL" sz="1600"/>
              <a:t>7.50</a:t>
            </a:r>
            <a:r>
              <a:rPr sz="1600" b="0"/>
              <a:t>%)</a:t>
            </a:r>
          </a:p>
          <a:p>
            <a:pPr marL="285750" indent="-285750">
              <a:spcAft>
                <a:spcPts val="800"/>
              </a:spcAft>
              <a:buFont typeface="Arial"/>
              <a:buChar char="•"/>
            </a:pPr>
            <a:r>
              <a:rPr sz="1600" b="0"/>
              <a:t>Deleted duplicates: 23 train, 5 test</a:t>
            </a:r>
          </a:p>
          <a:p>
            <a:pPr marL="285750" indent="-285750">
              <a:spcAft>
                <a:spcPts val="800"/>
              </a:spcAft>
              <a:buFont typeface="Arial"/>
              <a:buChar char="•"/>
            </a:pPr>
            <a:r>
              <a:rPr sz="1600" b="0"/>
              <a:t>Left: 30 139 train, 15 055 test</a:t>
            </a:r>
          </a:p>
        </p:txBody>
      </p:sp>
      <p:sp>
        <p:nvSpPr>
          <p:cNvPr id="7" name="TextBox 6">
            <a:extLst>
              <a:ext uri="{FF2B5EF4-FFF2-40B4-BE49-F238E27FC236}">
                <a16:creationId xmlns:a16="http://schemas.microsoft.com/office/drawing/2014/main" id="{67080BB6-D3D8-8465-2749-2B0A24B27840}"/>
              </a:ext>
            </a:extLst>
          </p:cNvPr>
          <p:cNvSpPr txBox="1"/>
          <p:nvPr/>
        </p:nvSpPr>
        <p:spPr>
          <a:xfrm>
            <a:off x="4434840" y="3383280"/>
            <a:ext cx="3383280" cy="3108960"/>
          </a:xfrm>
          <a:prstGeom prst="rect">
            <a:avLst/>
          </a:prstGeom>
          <a:noFill/>
        </p:spPr>
        <p:txBody>
          <a:bodyPr wrap="square" rtlCol="0"/>
          <a:lstStyle/>
          <a:p>
            <a:pPr marL="285750" indent="-285750">
              <a:spcAft>
                <a:spcPts val="800"/>
              </a:spcAft>
              <a:buFont typeface="Arial"/>
              <a:buChar char="•"/>
            </a:pPr>
            <a:r>
              <a:rPr sz="1600" b="0"/>
              <a:t>has-capital, is-married, is_us, capital-net</a:t>
            </a:r>
          </a:p>
          <a:p>
            <a:pPr marL="285750" indent="-285750">
              <a:spcAft>
                <a:spcPts val="800"/>
              </a:spcAft>
              <a:buFont typeface="Arial"/>
              <a:buChar char="•"/>
            </a:pPr>
            <a:r>
              <a:rPr sz="1600" b="0"/>
              <a:t>age-group (e.g. 17–24)</a:t>
            </a:r>
          </a:p>
          <a:p>
            <a:pPr marL="285750" indent="-285750">
              <a:spcAft>
                <a:spcPts val="800"/>
              </a:spcAft>
              <a:buFont typeface="Arial"/>
              <a:buChar char="•"/>
            </a:pPr>
            <a:r>
              <a:rPr sz="1600" b="0"/>
              <a:t>hours-category (part-time, full-time, overtime)</a:t>
            </a:r>
          </a:p>
        </p:txBody>
      </p:sp>
      <p:sp>
        <p:nvSpPr>
          <p:cNvPr id="9" name="TextBox 8">
            <a:extLst>
              <a:ext uri="{FF2B5EF4-FFF2-40B4-BE49-F238E27FC236}">
                <a16:creationId xmlns:a16="http://schemas.microsoft.com/office/drawing/2014/main" id="{2F879650-FA91-19F2-65EE-3D7BB2824AC3}"/>
              </a:ext>
            </a:extLst>
          </p:cNvPr>
          <p:cNvSpPr txBox="1"/>
          <p:nvPr/>
        </p:nvSpPr>
        <p:spPr>
          <a:xfrm>
            <a:off x="8138160" y="3383280"/>
            <a:ext cx="3383280" cy="3108960"/>
          </a:xfrm>
          <a:prstGeom prst="rect">
            <a:avLst/>
          </a:prstGeom>
          <a:noFill/>
        </p:spPr>
        <p:txBody>
          <a:bodyPr wrap="square" rtlCol="0"/>
          <a:lstStyle/>
          <a:p>
            <a:pPr marL="285750" indent="-285750">
              <a:spcAft>
                <a:spcPts val="800"/>
              </a:spcAft>
              <a:buFont typeface="Arial"/>
              <a:buChar char="•"/>
            </a:pPr>
            <a:r>
              <a:rPr sz="1600" b="0"/>
              <a:t>sex 0/1, native-country → is_us</a:t>
            </a:r>
          </a:p>
          <a:p>
            <a:pPr marL="285750" indent="-285750">
              <a:spcAft>
                <a:spcPts val="800"/>
              </a:spcAft>
              <a:buFont typeface="Arial"/>
              <a:buChar char="•"/>
            </a:pPr>
            <a:r>
              <a:rPr sz="1600" b="0"/>
              <a:t>One-hot: workclass, marital-status, occupation, relationship, race</a:t>
            </a:r>
          </a:p>
          <a:p>
            <a:pPr marL="285750" indent="-285750">
              <a:spcAft>
                <a:spcPts val="800"/>
              </a:spcAft>
              <a:buFont typeface="Arial"/>
              <a:buChar char="•"/>
            </a:pPr>
            <a:r>
              <a:rPr sz="1600" b="0"/>
              <a:t>Dropped education (same as education-num) and fnlwgt</a:t>
            </a:r>
          </a:p>
          <a:p>
            <a:pPr marL="285750" indent="-285750">
              <a:spcAft>
                <a:spcPts val="800"/>
              </a:spcAft>
              <a:buFont typeface="Arial"/>
              <a:buChar char="•"/>
            </a:pPr>
            <a:r>
              <a:rPr sz="1600" b="0"/>
              <a:t>Numerical standardized → 42 columns</a:t>
            </a:r>
          </a:p>
        </p:txBody>
      </p:sp>
      <p:sp>
        <p:nvSpPr>
          <p:cNvPr id="10" name="Split rule"/>
          <p:cNvSpPr txBox="1"/>
          <p:nvPr/>
        </p:nvSpPr>
        <p:spPr>
          <a:xfrm>
            <a:off x="731520" y="2057400"/>
            <a:ext cx="10698480" cy="369332"/>
          </a:xfrm>
          <a:prstGeom prst="rect">
            <a:avLst/>
          </a:prstGeom>
          <a:noFill/>
        </p:spPr>
        <p:txBody>
          <a:bodyPr wrap="square" lIns="91440" tIns="45720" rIns="91440" bIns="45720" anchor="t">
            <a:spAutoFit/>
          </a:bodyPr>
          <a:lstStyle/>
          <a:p>
            <a:pPr>
              <a:spcAft>
                <a:spcPts val="600"/>
              </a:spcAft>
            </a:pPr>
            <a:r>
              <a:rPr lang="en-US"/>
              <a:t>Everything</a:t>
            </a:r>
            <a:r>
              <a:rPr sz="1800" b="0"/>
              <a:t> that learns from the data is fitted on train and only applied to test (</a:t>
            </a:r>
            <a:r>
              <a:rPr lang="en-US"/>
              <a:t>to avoid data</a:t>
            </a:r>
            <a:r>
              <a:rPr sz="1800" b="0"/>
              <a:t> leak)</a:t>
            </a:r>
          </a:p>
        </p:txBody>
      </p:sp>
      <p:sp>
        <p:nvSpPr>
          <p:cNvPr id="11" name="Header Cleaning"/>
          <p:cNvSpPr txBox="1"/>
          <p:nvPr/>
        </p:nvSpPr>
        <p:spPr>
          <a:xfrm>
            <a:off x="731520" y="2880360"/>
            <a:ext cx="3383280" cy="457200"/>
          </a:xfrm>
          <a:prstGeom prst="rect">
            <a:avLst/>
          </a:prstGeom>
          <a:noFill/>
        </p:spPr>
        <p:txBody>
          <a:bodyPr wrap="square">
            <a:spAutoFit/>
          </a:bodyPr>
          <a:lstStyle/>
          <a:p>
            <a:pPr marL="0" indent="0">
              <a:spcAft>
                <a:spcPts val="600"/>
              </a:spcAft>
              <a:buNone/>
            </a:pPr>
            <a:r>
              <a:rPr sz="2000" b="1"/>
              <a:t>Cleaning</a:t>
            </a:r>
          </a:p>
        </p:txBody>
      </p:sp>
      <p:sp>
        <p:nvSpPr>
          <p:cNvPr id="12" name="Header New features"/>
          <p:cNvSpPr txBox="1"/>
          <p:nvPr/>
        </p:nvSpPr>
        <p:spPr>
          <a:xfrm>
            <a:off x="4434840" y="2880360"/>
            <a:ext cx="3383280" cy="457200"/>
          </a:xfrm>
          <a:prstGeom prst="rect">
            <a:avLst/>
          </a:prstGeom>
          <a:noFill/>
        </p:spPr>
        <p:txBody>
          <a:bodyPr wrap="square">
            <a:spAutoFit/>
          </a:bodyPr>
          <a:lstStyle/>
          <a:p>
            <a:pPr marL="0" indent="0">
              <a:spcAft>
                <a:spcPts val="600"/>
              </a:spcAft>
              <a:buNone/>
            </a:pPr>
            <a:r>
              <a:rPr sz="2000" b="1"/>
              <a:t>New features</a:t>
            </a:r>
          </a:p>
        </p:txBody>
      </p:sp>
      <p:sp>
        <p:nvSpPr>
          <p:cNvPr id="13" name="Header Encoding"/>
          <p:cNvSpPr txBox="1"/>
          <p:nvPr/>
        </p:nvSpPr>
        <p:spPr>
          <a:xfrm>
            <a:off x="8138160" y="2880360"/>
            <a:ext cx="3383280" cy="457200"/>
          </a:xfrm>
          <a:prstGeom prst="rect">
            <a:avLst/>
          </a:prstGeom>
          <a:noFill/>
        </p:spPr>
        <p:txBody>
          <a:bodyPr wrap="square">
            <a:spAutoFit/>
          </a:bodyPr>
          <a:lstStyle/>
          <a:p>
            <a:pPr marL="0" indent="0">
              <a:spcAft>
                <a:spcPts val="600"/>
              </a:spcAft>
              <a:buNone/>
            </a:pPr>
            <a:r>
              <a:rPr sz="2000" b="1"/>
              <a:t>Encoding</a:t>
            </a:r>
          </a:p>
        </p:txBody>
      </p:sp>
    </p:spTree>
    <p:extLst>
      <p:ext uri="{BB962C8B-B14F-4D97-AF65-F5344CB8AC3E}">
        <p14:creationId xmlns:p14="http://schemas.microsoft.com/office/powerpoint/2010/main" val="20714931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Outliers</a:t>
            </a:r>
          </a:p>
        </p:txBody>
      </p:sp>
      <p:sp>
        <p:nvSpPr>
          <p:cNvPr id="3" name="Outlier points"/>
          <p:cNvSpPr txBox="1"/>
          <p:nvPr/>
        </p:nvSpPr>
        <p:spPr>
          <a:xfrm>
            <a:off x="731520" y="2103120"/>
            <a:ext cx="10698480" cy="748923"/>
          </a:xfrm>
          <a:prstGeom prst="rect">
            <a:avLst/>
          </a:prstGeom>
          <a:noFill/>
        </p:spPr>
        <p:txBody>
          <a:bodyPr wrap="square" lIns="91440" tIns="45720" rIns="91440" bIns="45720" anchor="t">
            <a:spAutoFit/>
          </a:bodyPr>
          <a:lstStyle/>
          <a:p>
            <a:pPr marL="285750" indent="-285750">
              <a:spcAft>
                <a:spcPts val="800"/>
              </a:spcAft>
              <a:buFont typeface="Arial"/>
              <a:buChar char="•"/>
            </a:pPr>
            <a:r>
              <a:rPr sz="1800" b="0"/>
              <a:t>Found with z-score and </a:t>
            </a:r>
            <a:r>
              <a:rPr lang="pl-PL"/>
              <a:t>IQR and kept, because they were representing</a:t>
            </a:r>
            <a:r>
              <a:rPr lang="pl-PL" dirty="0"/>
              <a:t> real people, not errors</a:t>
            </a:r>
            <a:endParaRPr lang="pl-PL"/>
          </a:p>
          <a:p>
            <a:pPr marL="285750" indent="-285750">
              <a:spcAft>
                <a:spcPts val="800"/>
              </a:spcAft>
              <a:buFont typeface="Arial"/>
              <a:buChar char="•"/>
            </a:pPr>
            <a:r>
              <a:rPr lang="pl-PL"/>
              <a:t>capital-gain</a:t>
            </a:r>
            <a:r>
              <a:rPr sz="1800" b="0"/>
              <a:t> and capital-loss: log(1 + x), skewness of capital-gain </a:t>
            </a:r>
            <a:r>
              <a:rPr lang="pl-PL"/>
              <a:t>11.9</a:t>
            </a:r>
            <a:r>
              <a:rPr sz="1800" b="0"/>
              <a:t> → </a:t>
            </a:r>
            <a:r>
              <a:rPr lang="pl-PL"/>
              <a:t>3.07</a:t>
            </a:r>
            <a:endParaRPr lang="pl-PL" sz="1800" b="0" dirty="0"/>
          </a:p>
        </p:txBody>
      </p:sp>
      <p:pic>
        <p:nvPicPr>
          <p:cNvPr id="4" name="Boxplot capital-gain" descr="03i_boxplot_capital-gain.png"/>
          <p:cNvPicPr>
            <a:picLocks noChangeAspect="1"/>
          </p:cNvPicPr>
          <p:nvPr/>
        </p:nvPicPr>
        <p:blipFill>
          <a:blip r:embed="rId2"/>
          <a:stretch>
            <a:fillRect/>
          </a:stretch>
        </p:blipFill>
        <p:spPr>
          <a:xfrm>
            <a:off x="731520" y="3063240"/>
            <a:ext cx="5257800" cy="2858292"/>
          </a:xfrm>
          <a:prstGeom prst="rect">
            <a:avLst/>
          </a:prstGeom>
        </p:spPr>
      </p:pic>
      <p:pic>
        <p:nvPicPr>
          <p:cNvPr id="5" name="Boxplot hours-per-week" descr="03k_boxplot_hours-per-week.png"/>
          <p:cNvPicPr>
            <a:picLocks noChangeAspect="1"/>
          </p:cNvPicPr>
          <p:nvPr/>
        </p:nvPicPr>
        <p:blipFill>
          <a:blip r:embed="rId3"/>
          <a:stretch>
            <a:fillRect/>
          </a:stretch>
        </p:blipFill>
        <p:spPr>
          <a:xfrm>
            <a:off x="6172200" y="3063240"/>
            <a:ext cx="5257800" cy="2858292"/>
          </a:xfrm>
          <a:prstGeom prst="rect">
            <a:avLst/>
          </a:prstGeom>
        </p:spPr>
      </p:pic>
      <p:sp>
        <p:nvSpPr>
          <p:cNvPr id="6" name="Caption capital-gain"/>
          <p:cNvSpPr txBox="1"/>
          <p:nvPr/>
        </p:nvSpPr>
        <p:spPr>
          <a:xfrm>
            <a:off x="731520" y="5989320"/>
            <a:ext cx="5257800" cy="307777"/>
          </a:xfrm>
          <a:prstGeom prst="rect">
            <a:avLst/>
          </a:prstGeom>
          <a:noFill/>
        </p:spPr>
        <p:txBody>
          <a:bodyPr wrap="square" lIns="91440" tIns="45720" rIns="91440" bIns="45720" anchor="t">
            <a:spAutoFit/>
          </a:bodyPr>
          <a:lstStyle/>
          <a:p>
            <a:pPr>
              <a:spcAft>
                <a:spcPts val="600"/>
              </a:spcAft>
            </a:pPr>
            <a:r>
              <a:rPr lang="pl-PL" sz="1400"/>
              <a:t>91.6% have exactly 0:</a:t>
            </a:r>
            <a:r>
              <a:rPr sz="1400" b="0"/>
              <a:t> no box, every non-zero value is an outlier dot</a:t>
            </a:r>
          </a:p>
        </p:txBody>
      </p:sp>
      <p:sp>
        <p:nvSpPr>
          <p:cNvPr id="7" name="Caption hours"/>
          <p:cNvSpPr txBox="1"/>
          <p:nvPr/>
        </p:nvSpPr>
        <p:spPr>
          <a:xfrm>
            <a:off x="6172200" y="5989320"/>
            <a:ext cx="5257800" cy="523220"/>
          </a:xfrm>
          <a:prstGeom prst="rect">
            <a:avLst/>
          </a:prstGeom>
          <a:noFill/>
        </p:spPr>
        <p:txBody>
          <a:bodyPr wrap="square" lIns="91440" tIns="45720" rIns="91440" bIns="45720" anchor="t">
            <a:spAutoFit/>
          </a:bodyPr>
          <a:lstStyle/>
          <a:p>
            <a:pPr marL="0" indent="0">
              <a:spcAft>
                <a:spcPts val="600"/>
              </a:spcAft>
              <a:buNone/>
            </a:pPr>
            <a:r>
              <a:rPr lang="pl-PL" sz="1400"/>
              <a:t>47.2</a:t>
            </a:r>
            <a:r>
              <a:rPr sz="1400"/>
              <a:t>% work exactly 40 h</a:t>
            </a:r>
            <a:r>
              <a:rPr sz="1400" b="0"/>
              <a:t>: box is only 40–45 h, IQR marks 26% as outliers</a:t>
            </a:r>
          </a:p>
        </p:txBody>
      </p:sp>
    </p:spTree>
    <p:extLst>
      <p:ext uri="{BB962C8B-B14F-4D97-AF65-F5344CB8AC3E}">
        <p14:creationId xmlns:p14="http://schemas.microsoft.com/office/powerpoint/2010/main" val="30651505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8E9A36-8D24-B1FD-687A-37EB2D89D4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BA7E2C-5B9F-6FF3-0957-FB065DE7DEE9}"/>
              </a:ext>
            </a:extLst>
          </p:cNvPr>
          <p:cNvSpPr>
            <a:spLocks noGrp="1"/>
          </p:cNvSpPr>
          <p:nvPr>
            <p:ph type="title"/>
          </p:nvPr>
        </p:nvSpPr>
        <p:spPr/>
        <p:txBody>
          <a:bodyPr/>
          <a:lstStyle/>
          <a:p>
            <a:r>
              <a:t>Outliers</a:t>
            </a:r>
          </a:p>
        </p:txBody>
      </p:sp>
      <p:pic>
        <p:nvPicPr>
          <p:cNvPr id="10" name="Obraz 9">
            <a:extLst>
              <a:ext uri="{FF2B5EF4-FFF2-40B4-BE49-F238E27FC236}">
                <a16:creationId xmlns:a16="http://schemas.microsoft.com/office/drawing/2014/main" id="{1C6A968E-11D1-8B7E-44D1-878E61D7D69F}"/>
              </a:ext>
            </a:extLst>
          </p:cNvPr>
          <p:cNvPicPr>
            <a:picLocks noChangeAspect="1"/>
          </p:cNvPicPr>
          <p:nvPr/>
        </p:nvPicPr>
        <p:blipFill>
          <a:blip r:embed="rId2"/>
          <a:stretch>
            <a:fillRect/>
          </a:stretch>
        </p:blipFill>
        <p:spPr>
          <a:xfrm>
            <a:off x="107741" y="1945437"/>
            <a:ext cx="5966784" cy="4577392"/>
          </a:xfrm>
          <a:prstGeom prst="rect">
            <a:avLst/>
          </a:prstGeom>
        </p:spPr>
      </p:pic>
      <p:pic>
        <p:nvPicPr>
          <p:cNvPr id="11" name="Obraz 10">
            <a:extLst>
              <a:ext uri="{FF2B5EF4-FFF2-40B4-BE49-F238E27FC236}">
                <a16:creationId xmlns:a16="http://schemas.microsoft.com/office/drawing/2014/main" id="{F19D5A21-5B0B-C2A5-6B12-FC0956F6A003}"/>
              </a:ext>
            </a:extLst>
          </p:cNvPr>
          <p:cNvPicPr>
            <a:picLocks noChangeAspect="1"/>
          </p:cNvPicPr>
          <p:nvPr/>
        </p:nvPicPr>
        <p:blipFill>
          <a:blip r:embed="rId3"/>
          <a:stretch>
            <a:fillRect/>
          </a:stretch>
        </p:blipFill>
        <p:spPr>
          <a:xfrm>
            <a:off x="6218117" y="1945436"/>
            <a:ext cx="5966784" cy="4548637"/>
          </a:xfrm>
          <a:prstGeom prst="rect">
            <a:avLst/>
          </a:prstGeom>
        </p:spPr>
      </p:pic>
    </p:spTree>
    <p:extLst>
      <p:ext uri="{BB962C8B-B14F-4D97-AF65-F5344CB8AC3E}">
        <p14:creationId xmlns:p14="http://schemas.microsoft.com/office/powerpoint/2010/main" val="16701285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Top Corners Snipped 2">
            <a:extLst>
              <a:ext uri="{FF2B5EF4-FFF2-40B4-BE49-F238E27FC236}">
                <a16:creationId xmlns:a16="http://schemas.microsoft.com/office/drawing/2014/main" id="{2D94AD98-D0EB-6F13-0D58-152327DD0E85}"/>
              </a:ext>
            </a:extLst>
          </p:cNvPr>
          <p:cNvSpPr/>
          <p:nvPr/>
        </p:nvSpPr>
        <p:spPr>
          <a:xfrm>
            <a:off x="5628640" y="0"/>
            <a:ext cx="6654800" cy="6858000"/>
          </a:xfrm>
          <a:prstGeom prst="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E4EA6B0-95C1-FDE9-034F-1D6C9A13B08F}"/>
              </a:ext>
            </a:extLst>
          </p:cNvPr>
          <p:cNvSpPr>
            <a:spLocks noGrp="1"/>
          </p:cNvSpPr>
          <p:nvPr>
            <p:ph type="title"/>
          </p:nvPr>
        </p:nvSpPr>
        <p:spPr>
          <a:xfrm>
            <a:off x="314577" y="581420"/>
            <a:ext cx="5476425" cy="1132258"/>
          </a:xfrm>
        </p:spPr>
        <p:txBody>
          <a:bodyPr>
            <a:normAutofit fontScale="90000"/>
          </a:bodyPr>
          <a:lstStyle/>
          <a:p>
            <a:r>
              <a:rPr lang="en-US"/>
              <a:t>What is related to income</a:t>
            </a:r>
          </a:p>
        </p:txBody>
      </p:sp>
      <p:graphicFrame>
        <p:nvGraphicFramePr>
          <p:cNvPr id="4" name="Content Placeholder 3">
            <a:extLst>
              <a:ext uri="{FF2B5EF4-FFF2-40B4-BE49-F238E27FC236}">
                <a16:creationId xmlns:a16="http://schemas.microsoft.com/office/drawing/2014/main" id="{85B1B835-FAC9-534E-4144-BAFFF95017FA}"/>
              </a:ext>
            </a:extLst>
          </p:cNvPr>
          <p:cNvGraphicFramePr>
            <a:graphicFrameLocks noGrp="1"/>
          </p:cNvGraphicFramePr>
          <p:nvPr>
            <p:extLst>
              <p:ext uri="{D42A27DB-BD31-4B8C-83A1-F6EECF244321}">
                <p14:modId xmlns:p14="http://schemas.microsoft.com/office/powerpoint/2010/main" val="4214129353"/>
              </p:ext>
            </p:extLst>
          </p:nvPr>
        </p:nvGraphicFramePr>
        <p:xfrm>
          <a:off x="731520" y="2926080"/>
          <a:ext cx="4480560" cy="3291840"/>
        </p:xfrm>
        <a:graphic>
          <a:graphicData uri="http://schemas.openxmlformats.org/drawingml/2006/table">
            <a:tbl>
              <a:tblPr firstRow="1" bandRow="1">
                <a:tableStyleId>{5C22544A-7EE6-4342-B048-85BDC9FD1C3A}</a:tableStyleId>
              </a:tblPr>
              <a:tblGrid>
                <a:gridCol w="3566160">
                  <a:extLst>
                    <a:ext uri="{9D8B030D-6E8A-4147-A177-3AD203B41FA5}">
                      <a16:colId xmlns:a16="http://schemas.microsoft.com/office/drawing/2014/main" val="1506690374"/>
                    </a:ext>
                  </a:extLst>
                </a:gridCol>
                <a:gridCol w="914400">
                  <a:extLst>
                    <a:ext uri="{9D8B030D-6E8A-4147-A177-3AD203B41FA5}">
                      <a16:colId xmlns:a16="http://schemas.microsoft.com/office/drawing/2014/main" val="456818130"/>
                    </a:ext>
                  </a:extLst>
                </a:gridCol>
              </a:tblGrid>
              <a:tr h="365760">
                <a:tc>
                  <a:txBody>
                    <a:bodyPr/>
                    <a:lstStyle/>
                    <a:p>
                      <a:pPr algn="ctr"/>
                      <a:r>
                        <a:rPr sz="1600"/>
                        <a:t>Correlation with income (train)</a:t>
                      </a:r>
                    </a:p>
                  </a:txBody>
                  <a:tcPr marT="36576" marB="36576"/>
                </a:tc>
                <a:tc>
                  <a:txBody>
                    <a:bodyPr/>
                    <a:lstStyle/>
                    <a:p>
                      <a:pPr algn="ctr"/>
                      <a:r>
                        <a:rPr sz="1600"/>
                        <a:t>r</a:t>
                      </a:r>
                    </a:p>
                  </a:txBody>
                  <a:tcPr marT="36576" marB="36576"/>
                </a:tc>
                <a:extLst>
                  <a:ext uri="{0D108BD9-81ED-4DB2-BD59-A6C34878D82A}">
                    <a16:rowId xmlns:a16="http://schemas.microsoft.com/office/drawing/2014/main" val="2544599966"/>
                  </a:ext>
                </a:extLst>
              </a:tr>
              <a:tr h="365760">
                <a:tc>
                  <a:txBody>
                    <a:bodyPr/>
                    <a:lstStyle/>
                    <a:p>
                      <a:r>
                        <a:rPr sz="1600"/>
                        <a:t>Married-civ-spouse</a:t>
                      </a:r>
                    </a:p>
                  </a:txBody>
                  <a:tcPr marT="36576" marB="36576">
                    <a:solidFill>
                      <a:srgbClr val="9FA597"/>
                    </a:solidFill>
                  </a:tcPr>
                </a:tc>
                <a:tc>
                  <a:txBody>
                    <a:bodyPr/>
                    <a:lstStyle/>
                    <a:p>
                      <a:pPr algn="ctr"/>
                      <a:r>
                        <a:rPr lang="pl-PL" sz="1600"/>
                        <a:t>0.45</a:t>
                      </a:r>
                      <a:endParaRPr sz="1600"/>
                    </a:p>
                  </a:txBody>
                  <a:tcPr marT="36576" marB="36576">
                    <a:solidFill>
                      <a:srgbClr val="9FA597"/>
                    </a:solidFill>
                  </a:tcPr>
                </a:tc>
                <a:extLst>
                  <a:ext uri="{0D108BD9-81ED-4DB2-BD59-A6C34878D82A}">
                    <a16:rowId xmlns:a16="http://schemas.microsoft.com/office/drawing/2014/main" val="1553255573"/>
                  </a:ext>
                </a:extLst>
              </a:tr>
              <a:tr h="365760">
                <a:tc>
                  <a:txBody>
                    <a:bodyPr/>
                    <a:lstStyle/>
                    <a:p>
                      <a:r>
                        <a:rPr sz="1600"/>
                        <a:t>education-num</a:t>
                      </a:r>
                    </a:p>
                  </a:txBody>
                  <a:tcPr marT="36576" marB="36576">
                    <a:solidFill>
                      <a:srgbClr val="B2B5AE"/>
                    </a:solidFill>
                  </a:tcPr>
                </a:tc>
                <a:tc>
                  <a:txBody>
                    <a:bodyPr/>
                    <a:lstStyle/>
                    <a:p>
                      <a:pPr algn="ctr"/>
                      <a:r>
                        <a:rPr lang="pl-PL" sz="1600"/>
                        <a:t>0.34</a:t>
                      </a:r>
                      <a:endParaRPr sz="1600"/>
                    </a:p>
                  </a:txBody>
                  <a:tcPr marT="36576" marB="36576">
                    <a:solidFill>
                      <a:srgbClr val="B2B5AE"/>
                    </a:solidFill>
                  </a:tcPr>
                </a:tc>
                <a:extLst>
                  <a:ext uri="{0D108BD9-81ED-4DB2-BD59-A6C34878D82A}">
                    <a16:rowId xmlns:a16="http://schemas.microsoft.com/office/drawing/2014/main" val="2328284547"/>
                  </a:ext>
                </a:extLst>
              </a:tr>
              <a:tr h="365760">
                <a:tc>
                  <a:txBody>
                    <a:bodyPr/>
                    <a:lstStyle/>
                    <a:p>
                      <a:r>
                        <a:rPr sz="1600"/>
                        <a:t>has-capital</a:t>
                      </a:r>
                    </a:p>
                  </a:txBody>
                  <a:tcPr marT="36576" marB="36576">
                    <a:solidFill>
                      <a:srgbClr val="C7C9C3"/>
                    </a:solidFill>
                  </a:tcPr>
                </a:tc>
                <a:tc>
                  <a:txBody>
                    <a:bodyPr/>
                    <a:lstStyle/>
                    <a:p>
                      <a:pPr algn="ctr"/>
                      <a:r>
                        <a:rPr lang="pl-PL" sz="1600"/>
                        <a:t>0.31</a:t>
                      </a:r>
                      <a:endParaRPr sz="1600"/>
                    </a:p>
                  </a:txBody>
                  <a:tcPr marT="36576" marB="36576">
                    <a:solidFill>
                      <a:srgbClr val="C7C9C3"/>
                    </a:solidFill>
                  </a:tcPr>
                </a:tc>
                <a:extLst>
                  <a:ext uri="{0D108BD9-81ED-4DB2-BD59-A6C34878D82A}">
                    <a16:rowId xmlns:a16="http://schemas.microsoft.com/office/drawing/2014/main" val="80679274"/>
                  </a:ext>
                </a:extLst>
              </a:tr>
              <a:tr h="365760">
                <a:tc>
                  <a:txBody>
                    <a:bodyPr/>
                    <a:lstStyle/>
                    <a:p>
                      <a:r>
                        <a:rPr sz="1600"/>
                        <a:t>capital-gain-log</a:t>
                      </a:r>
                    </a:p>
                  </a:txBody>
                  <a:tcPr marT="36576" marB="36576">
                    <a:solidFill>
                      <a:srgbClr val="D8D9D6"/>
                    </a:solidFill>
                  </a:tcPr>
                </a:tc>
                <a:tc>
                  <a:txBody>
                    <a:bodyPr/>
                    <a:lstStyle/>
                    <a:p>
                      <a:pPr algn="ctr"/>
                      <a:r>
                        <a:rPr lang="pl-PL" sz="1600"/>
                        <a:t>0.29</a:t>
                      </a:r>
                      <a:endParaRPr sz="1600"/>
                    </a:p>
                  </a:txBody>
                  <a:tcPr marT="36576" marB="36576">
                    <a:solidFill>
                      <a:srgbClr val="D8D9D6"/>
                    </a:solidFill>
                  </a:tcPr>
                </a:tc>
                <a:extLst>
                  <a:ext uri="{0D108BD9-81ED-4DB2-BD59-A6C34878D82A}">
                    <a16:rowId xmlns:a16="http://schemas.microsoft.com/office/drawing/2014/main" val="3352053486"/>
                  </a:ext>
                </a:extLst>
              </a:tr>
              <a:tr h="365760">
                <a:tc>
                  <a:txBody>
                    <a:bodyPr/>
                    <a:lstStyle/>
                    <a:p>
                      <a:r>
                        <a:rPr sz="1600"/>
                        <a:t>age</a:t>
                      </a:r>
                    </a:p>
                  </a:txBody>
                  <a:tcPr marT="36576" marB="36576">
                    <a:solidFill>
                      <a:schemeClr val="bg1">
                        <a:lumMod val="85000"/>
                      </a:schemeClr>
                    </a:solidFill>
                  </a:tcPr>
                </a:tc>
                <a:tc>
                  <a:txBody>
                    <a:bodyPr/>
                    <a:lstStyle/>
                    <a:p>
                      <a:pPr algn="ctr"/>
                      <a:r>
                        <a:rPr lang="pl-PL" sz="1600"/>
                        <a:t>0.24</a:t>
                      </a:r>
                      <a:endParaRPr sz="1600"/>
                    </a:p>
                  </a:txBody>
                  <a:tcPr marT="36576" marB="36576">
                    <a:solidFill>
                      <a:schemeClr val="bg1">
                        <a:lumMod val="85000"/>
                      </a:schemeClr>
                    </a:solidFill>
                  </a:tcPr>
                </a:tc>
                <a:extLst>
                  <a:ext uri="{0D108BD9-81ED-4DB2-BD59-A6C34878D82A}">
                    <a16:rowId xmlns:a16="http://schemas.microsoft.com/office/drawing/2014/main" val="517917130"/>
                  </a:ext>
                </a:extLst>
              </a:tr>
              <a:tr h="365760">
                <a:tc>
                  <a:txBody>
                    <a:bodyPr/>
                    <a:lstStyle/>
                    <a:p>
                      <a:r>
                        <a:rPr sz="1600"/>
                        <a:t>hours-per-week</a:t>
                      </a:r>
                    </a:p>
                  </a:txBody>
                  <a:tcPr marT="36576" marB="36576">
                    <a:solidFill>
                      <a:schemeClr val="bg1">
                        <a:lumMod val="85000"/>
                      </a:schemeClr>
                    </a:solidFill>
                  </a:tcPr>
                </a:tc>
                <a:tc>
                  <a:txBody>
                    <a:bodyPr/>
                    <a:lstStyle/>
                    <a:p>
                      <a:pPr algn="ctr"/>
                      <a:r>
                        <a:rPr lang="pl-PL" sz="1600"/>
                        <a:t>0.23</a:t>
                      </a:r>
                      <a:endParaRPr sz="1600"/>
                    </a:p>
                  </a:txBody>
                  <a:tcPr marT="36576" marB="36576">
                    <a:solidFill>
                      <a:schemeClr val="bg1">
                        <a:lumMod val="85000"/>
                      </a:schemeClr>
                    </a:solidFill>
                  </a:tcPr>
                </a:tc>
                <a:extLst>
                  <a:ext uri="{0D108BD9-81ED-4DB2-BD59-A6C34878D82A}">
                    <a16:rowId xmlns:a16="http://schemas.microsoft.com/office/drawing/2014/main" val="1140501860"/>
                  </a:ext>
                </a:extLst>
              </a:tr>
              <a:tr h="365760">
                <a:tc>
                  <a:txBody>
                    <a:bodyPr/>
                    <a:lstStyle/>
                    <a:p>
                      <a:r>
                        <a:rPr sz="1600"/>
                        <a:t>Own-child</a:t>
                      </a:r>
                    </a:p>
                  </a:txBody>
                  <a:tcPr marT="36576" marB="36576">
                    <a:solidFill>
                      <a:schemeClr val="accent4">
                        <a:lumMod val="20000"/>
                        <a:lumOff val="80000"/>
                      </a:schemeClr>
                    </a:solidFill>
                  </a:tcPr>
                </a:tc>
                <a:tc>
                  <a:txBody>
                    <a:bodyPr/>
                    <a:lstStyle/>
                    <a:p>
                      <a:pPr algn="ctr"/>
                      <a:r>
                        <a:rPr sz="1600"/>
                        <a:t>−</a:t>
                      </a:r>
                      <a:r>
                        <a:rPr lang="pl-PL" sz="1600"/>
                        <a:t>0.23</a:t>
                      </a:r>
                      <a:endParaRPr sz="1600"/>
                    </a:p>
                  </a:txBody>
                  <a:tcPr marT="36576" marB="36576">
                    <a:solidFill>
                      <a:schemeClr val="accent4">
                        <a:lumMod val="20000"/>
                        <a:lumOff val="80000"/>
                      </a:schemeClr>
                    </a:solidFill>
                  </a:tcPr>
                </a:tc>
                <a:extLst>
                  <a:ext uri="{0D108BD9-81ED-4DB2-BD59-A6C34878D82A}">
                    <a16:rowId xmlns:a16="http://schemas.microsoft.com/office/drawing/2014/main" val="2204988433"/>
                  </a:ext>
                </a:extLst>
              </a:tr>
              <a:tr h="365760">
                <a:tc>
                  <a:txBody>
                    <a:bodyPr/>
                    <a:lstStyle/>
                    <a:p>
                      <a:r>
                        <a:rPr sz="1600"/>
                        <a:t>Never-married</a:t>
                      </a:r>
                    </a:p>
                  </a:txBody>
                  <a:tcPr marT="36576" marB="36576">
                    <a:solidFill>
                      <a:srgbClr val="E6D3CA"/>
                    </a:solidFill>
                  </a:tcPr>
                </a:tc>
                <a:tc>
                  <a:txBody>
                    <a:bodyPr/>
                    <a:lstStyle/>
                    <a:p>
                      <a:pPr algn="ctr"/>
                      <a:r>
                        <a:rPr sz="1600"/>
                        <a:t>−</a:t>
                      </a:r>
                      <a:r>
                        <a:rPr lang="pl-PL" sz="1600"/>
                        <a:t>0.32</a:t>
                      </a:r>
                      <a:endParaRPr sz="1600"/>
                    </a:p>
                  </a:txBody>
                  <a:tcPr marT="36576" marB="36576">
                    <a:solidFill>
                      <a:srgbClr val="E6D3CA"/>
                    </a:solidFill>
                  </a:tcPr>
                </a:tc>
                <a:extLst>
                  <a:ext uri="{0D108BD9-81ED-4DB2-BD59-A6C34878D82A}">
                    <a16:rowId xmlns:a16="http://schemas.microsoft.com/office/drawing/2014/main" val="4271446746"/>
                  </a:ext>
                </a:extLst>
              </a:tr>
            </a:tbl>
          </a:graphicData>
        </a:graphic>
      </p:graphicFrame>
      <p:sp>
        <p:nvSpPr>
          <p:cNvPr id="5" name="Married callout"/>
          <p:cNvSpPr txBox="1"/>
          <p:nvPr/>
        </p:nvSpPr>
        <p:spPr>
          <a:xfrm>
            <a:off x="731520" y="2057400"/>
            <a:ext cx="4572000" cy="733534"/>
          </a:xfrm>
          <a:prstGeom prst="rect">
            <a:avLst/>
          </a:prstGeom>
          <a:noFill/>
        </p:spPr>
        <p:txBody>
          <a:bodyPr wrap="square" lIns="91440" tIns="45720" rIns="91440" bIns="45720" anchor="t">
            <a:spAutoFit/>
          </a:bodyPr>
          <a:lstStyle/>
          <a:p>
            <a:pPr marL="0" indent="0">
              <a:spcAft>
                <a:spcPts val="200"/>
              </a:spcAft>
              <a:buNone/>
            </a:pPr>
            <a:r>
              <a:rPr sz="2000" b="1"/>
              <a:t>Married: </a:t>
            </a:r>
            <a:r>
              <a:rPr lang="pl-PL" sz="2000" b="1"/>
              <a:t>45.5</a:t>
            </a:r>
            <a:r>
              <a:rPr sz="2000" b="1"/>
              <a:t>%</a:t>
            </a:r>
            <a:r>
              <a:rPr sz="2000" b="0"/>
              <a:t> earn &gt;50K</a:t>
            </a:r>
          </a:p>
          <a:p>
            <a:pPr marL="0" indent="0">
              <a:spcAft>
                <a:spcPts val="200"/>
              </a:spcAft>
              <a:buNone/>
            </a:pPr>
            <a:r>
              <a:rPr sz="2000" b="1"/>
              <a:t>Others: </a:t>
            </a:r>
            <a:r>
              <a:rPr lang="pl-PL" sz="2000" b="1"/>
              <a:t>6.8</a:t>
            </a:r>
            <a:r>
              <a:rPr sz="2000" b="1"/>
              <a:t>%</a:t>
            </a:r>
          </a:p>
        </p:txBody>
      </p:sp>
      <p:pic>
        <p:nvPicPr>
          <p:cNvPr id="6" name="Income by education" descr="03b_eda_income_by_education.png"/>
          <p:cNvPicPr>
            <a:picLocks noChangeAspect="1"/>
          </p:cNvPicPr>
          <p:nvPr/>
        </p:nvPicPr>
        <p:blipFill>
          <a:blip r:embed="rId2"/>
          <a:stretch>
            <a:fillRect/>
          </a:stretch>
        </p:blipFill>
        <p:spPr>
          <a:xfrm>
            <a:off x="5966029" y="198695"/>
            <a:ext cx="5981556" cy="2732865"/>
          </a:xfrm>
          <a:prstGeom prst="rect">
            <a:avLst/>
          </a:prstGeom>
        </p:spPr>
      </p:pic>
      <p:sp>
        <p:nvSpPr>
          <p:cNvPr id="7" name="Takeaway"/>
          <p:cNvSpPr txBox="1"/>
          <p:nvPr/>
        </p:nvSpPr>
        <p:spPr>
          <a:xfrm>
            <a:off x="5968138" y="3119696"/>
            <a:ext cx="5852160" cy="584775"/>
          </a:xfrm>
          <a:prstGeom prst="rect">
            <a:avLst/>
          </a:prstGeom>
          <a:noFill/>
        </p:spPr>
        <p:txBody>
          <a:bodyPr wrap="square" lIns="91440" tIns="45720" rIns="91440" bIns="45720" anchor="t">
            <a:spAutoFit/>
          </a:bodyPr>
          <a:lstStyle/>
          <a:p>
            <a:pPr marL="0" indent="0">
              <a:spcAft>
                <a:spcPts val="600"/>
              </a:spcAft>
              <a:buNone/>
            </a:pPr>
            <a:r>
              <a:rPr sz="1600" b="1"/>
              <a:t>No correlation above </a:t>
            </a:r>
            <a:r>
              <a:rPr lang="pl-PL" sz="1600" b="1"/>
              <a:t>0.45</a:t>
            </a:r>
            <a:r>
              <a:rPr sz="1600" b="0"/>
              <a:t>: no single variable predicts income, models must combine them</a:t>
            </a:r>
            <a:endParaRPr lang="en-US" sz="1600" b="0"/>
          </a:p>
        </p:txBody>
      </p:sp>
      <p:pic>
        <p:nvPicPr>
          <p:cNvPr id="8" name="03a" descr="03a.png">
            <a:extLst>
              <a:ext uri="{FF2B5EF4-FFF2-40B4-BE49-F238E27FC236}">
                <a16:creationId xmlns:a16="http://schemas.microsoft.com/office/drawing/2014/main" id="{AB92549E-A820-6D2E-FFDC-7EAFD9DB0E2D}"/>
              </a:ext>
            </a:extLst>
          </p:cNvPr>
          <p:cNvPicPr>
            <a:picLocks noChangeAspect="1"/>
          </p:cNvPicPr>
          <p:nvPr/>
        </p:nvPicPr>
        <p:blipFill>
          <a:blip r:embed="rId3"/>
          <a:stretch>
            <a:fillRect/>
          </a:stretch>
        </p:blipFill>
        <p:spPr>
          <a:xfrm>
            <a:off x="5962290" y="3822077"/>
            <a:ext cx="5987883" cy="2668708"/>
          </a:xfrm>
          <a:prstGeom prst="rect">
            <a:avLst/>
          </a:prstGeom>
        </p:spPr>
      </p:pic>
    </p:spTree>
    <p:extLst>
      <p:ext uri="{BB962C8B-B14F-4D97-AF65-F5344CB8AC3E}">
        <p14:creationId xmlns:p14="http://schemas.microsoft.com/office/powerpoint/2010/main" val="22935269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8DABE-81C6-5DC3-34E0-D5B54AC001DC}"/>
              </a:ext>
            </a:extLst>
          </p:cNvPr>
          <p:cNvSpPr>
            <a:spLocks noGrp="1"/>
          </p:cNvSpPr>
          <p:nvPr>
            <p:ph type="title"/>
          </p:nvPr>
        </p:nvSpPr>
        <p:spPr/>
        <p:txBody>
          <a:bodyPr/>
          <a:lstStyle/>
          <a:p>
            <a:r>
              <a:rPr lang="en-US"/>
              <a:t>Hypothesis tests</a:t>
            </a:r>
          </a:p>
        </p:txBody>
      </p:sp>
      <p:graphicFrame>
        <p:nvGraphicFramePr>
          <p:cNvPr id="4" name="Content Placeholder 3">
            <a:extLst>
              <a:ext uri="{FF2B5EF4-FFF2-40B4-BE49-F238E27FC236}">
                <a16:creationId xmlns:a16="http://schemas.microsoft.com/office/drawing/2014/main" id="{C9D140D9-C438-C4B9-C776-78F8070E63FB}"/>
              </a:ext>
            </a:extLst>
          </p:cNvPr>
          <p:cNvGraphicFramePr>
            <a:graphicFrameLocks noGrp="1"/>
          </p:cNvGraphicFramePr>
          <p:nvPr>
            <p:extLst>
              <p:ext uri="{D42A27DB-BD31-4B8C-83A1-F6EECF244321}">
                <p14:modId xmlns:p14="http://schemas.microsoft.com/office/powerpoint/2010/main" val="2468130619"/>
              </p:ext>
            </p:extLst>
          </p:nvPr>
        </p:nvGraphicFramePr>
        <p:xfrm>
          <a:off x="731520" y="2468880"/>
          <a:ext cx="10725912" cy="370332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525338634"/>
                    </a:ext>
                  </a:extLst>
                </a:gridCol>
                <a:gridCol w="3794760">
                  <a:extLst>
                    <a:ext uri="{9D8B030D-6E8A-4147-A177-3AD203B41FA5}">
                      <a16:colId xmlns:a16="http://schemas.microsoft.com/office/drawing/2014/main" val="2323829990"/>
                    </a:ext>
                  </a:extLst>
                </a:gridCol>
                <a:gridCol w="2743200">
                  <a:extLst>
                    <a:ext uri="{9D8B030D-6E8A-4147-A177-3AD203B41FA5}">
                      <a16:colId xmlns:a16="http://schemas.microsoft.com/office/drawing/2014/main" val="839008356"/>
                    </a:ext>
                  </a:extLst>
                </a:gridCol>
                <a:gridCol w="1901952">
                  <a:extLst>
                    <a:ext uri="{9D8B030D-6E8A-4147-A177-3AD203B41FA5}">
                      <a16:colId xmlns:a16="http://schemas.microsoft.com/office/drawing/2014/main" val="3437072196"/>
                    </a:ext>
                  </a:extLst>
                </a:gridCol>
              </a:tblGrid>
              <a:tr h="411480">
                <a:tc>
                  <a:txBody>
                    <a:bodyPr/>
                    <a:lstStyle/>
                    <a:p>
                      <a:pPr algn="ctr"/>
                      <a:r>
                        <a:rPr sz="1500" b="1"/>
                        <a:t>Test</a:t>
                      </a:r>
                    </a:p>
                  </a:txBody>
                  <a:tcPr marT="36576" marB="36576"/>
                </a:tc>
                <a:tc>
                  <a:txBody>
                    <a:bodyPr/>
                    <a:lstStyle/>
                    <a:p>
                      <a:pPr algn="ctr"/>
                      <a:r>
                        <a:rPr sz="1500" b="1"/>
                        <a:t>H0</a:t>
                      </a:r>
                    </a:p>
                  </a:txBody>
                  <a:tcPr marT="36576" marB="36576"/>
                </a:tc>
                <a:tc>
                  <a:txBody>
                    <a:bodyPr/>
                    <a:lstStyle/>
                    <a:p>
                      <a:pPr algn="ctr"/>
                      <a:r>
                        <a:rPr sz="1500" b="1"/>
                        <a:t>Result</a:t>
                      </a:r>
                    </a:p>
                  </a:txBody>
                  <a:tcPr marT="36576" marB="36576"/>
                </a:tc>
                <a:tc>
                  <a:txBody>
                    <a:bodyPr/>
                    <a:lstStyle/>
                    <a:p>
                      <a:pPr algn="ctr"/>
                      <a:r>
                        <a:rPr sz="1500" b="1"/>
                        <a:t>Decision</a:t>
                      </a:r>
                    </a:p>
                  </a:txBody>
                  <a:tcPr marT="36576" marB="36576"/>
                </a:tc>
                <a:extLst>
                  <a:ext uri="{0D108BD9-81ED-4DB2-BD59-A6C34878D82A}">
                    <a16:rowId xmlns:a16="http://schemas.microsoft.com/office/drawing/2014/main" val="718359333"/>
                  </a:ext>
                </a:extLst>
              </a:tr>
              <a:tr h="411480">
                <a:tc>
                  <a:txBody>
                    <a:bodyPr/>
                    <a:lstStyle/>
                    <a:p>
                      <a:r>
                        <a:rPr sz="1500"/>
                        <a:t>One-sample t-test</a:t>
                      </a:r>
                    </a:p>
                  </a:txBody>
                  <a:tcPr marT="36576" marB="36576"/>
                </a:tc>
                <a:tc>
                  <a:txBody>
                    <a:bodyPr/>
                    <a:lstStyle/>
                    <a:p>
                      <a:r>
                        <a:rPr sz="1500"/>
                        <a:t>mean working hours = 40</a:t>
                      </a:r>
                    </a:p>
                  </a:txBody>
                  <a:tcPr marT="36576" marB="36576"/>
                </a:tc>
                <a:tc>
                  <a:txBody>
                    <a:bodyPr/>
                    <a:lstStyle/>
                    <a:p>
                      <a:r>
                        <a:rPr lang="pl-PL" sz="1500"/>
                        <a:t>40.94</a:t>
                      </a:r>
                      <a:r>
                        <a:rPr sz="1500"/>
                        <a:t> h, p &lt; </a:t>
                      </a:r>
                      <a:r>
                        <a:rPr lang="pl-PL" sz="1500"/>
                        <a:t>0.001</a:t>
                      </a:r>
                      <a:endParaRPr sz="1500"/>
                    </a:p>
                  </a:txBody>
                  <a:tcPr marT="36576" marB="36576"/>
                </a:tc>
                <a:tc>
                  <a:txBody>
                    <a:bodyPr/>
                    <a:lstStyle/>
                    <a:p>
                      <a:r>
                        <a:rPr sz="1500"/>
                        <a:t>reject H0</a:t>
                      </a:r>
                    </a:p>
                  </a:txBody>
                  <a:tcPr marT="36576" marB="36576"/>
                </a:tc>
                <a:extLst>
                  <a:ext uri="{0D108BD9-81ED-4DB2-BD59-A6C34878D82A}">
                    <a16:rowId xmlns:a16="http://schemas.microsoft.com/office/drawing/2014/main" val="3596177145"/>
                  </a:ext>
                </a:extLst>
              </a:tr>
              <a:tr h="411480">
                <a:tc>
                  <a:txBody>
                    <a:bodyPr/>
                    <a:lstStyle/>
                    <a:p>
                      <a:r>
                        <a:rPr sz="1500" b="1"/>
                        <a:t>One proportion z-test</a:t>
                      </a:r>
                    </a:p>
                  </a:txBody>
                  <a:tcPr marT="36576" marB="36576"/>
                </a:tc>
                <a:tc>
                  <a:txBody>
                    <a:bodyPr/>
                    <a:lstStyle/>
                    <a:p>
                      <a:r>
                        <a:rPr sz="1500" b="1"/>
                        <a:t>share earning &gt;50K = 25%</a:t>
                      </a:r>
                    </a:p>
                  </a:txBody>
                  <a:tcPr marT="36576" marB="36576"/>
                </a:tc>
                <a:tc>
                  <a:txBody>
                    <a:bodyPr/>
                    <a:lstStyle/>
                    <a:p>
                      <a:r>
                        <a:rPr lang="pl-PL" sz="1500" b="1"/>
                        <a:t>24.80</a:t>
                      </a:r>
                      <a:r>
                        <a:rPr sz="1500" b="1"/>
                        <a:t>%, p = </a:t>
                      </a:r>
                      <a:r>
                        <a:rPr lang="pl-PL" sz="1500" b="1"/>
                        <a:t>0.314</a:t>
                      </a:r>
                      <a:endParaRPr sz="1500" b="1"/>
                    </a:p>
                  </a:txBody>
                  <a:tcPr marT="36576" marB="36576"/>
                </a:tc>
                <a:tc>
                  <a:txBody>
                    <a:bodyPr/>
                    <a:lstStyle/>
                    <a:p>
                      <a:r>
                        <a:rPr sz="1500" b="1"/>
                        <a:t>do not reject</a:t>
                      </a:r>
                    </a:p>
                  </a:txBody>
                  <a:tcPr marT="36576" marB="36576"/>
                </a:tc>
                <a:extLst>
                  <a:ext uri="{0D108BD9-81ED-4DB2-BD59-A6C34878D82A}">
                    <a16:rowId xmlns:a16="http://schemas.microsoft.com/office/drawing/2014/main" val="813796326"/>
                  </a:ext>
                </a:extLst>
              </a:tr>
              <a:tr h="411480">
                <a:tc>
                  <a:txBody>
                    <a:bodyPr/>
                    <a:lstStyle/>
                    <a:p>
                      <a:r>
                        <a:rPr sz="1500"/>
                        <a:t>Pearson correlation</a:t>
                      </a:r>
                    </a:p>
                  </a:txBody>
                  <a:tcPr marT="36576" marB="36576"/>
                </a:tc>
                <a:tc>
                  <a:txBody>
                    <a:bodyPr/>
                    <a:lstStyle/>
                    <a:p>
                      <a:r>
                        <a:rPr sz="1500"/>
                        <a:t>age and hours not correlated</a:t>
                      </a:r>
                    </a:p>
                  </a:txBody>
                  <a:tcPr marT="36576" marB="36576"/>
                </a:tc>
                <a:tc>
                  <a:txBody>
                    <a:bodyPr/>
                    <a:lstStyle/>
                    <a:p>
                      <a:r>
                        <a:rPr sz="1500"/>
                        <a:t>r = </a:t>
                      </a:r>
                      <a:r>
                        <a:rPr lang="pl-PL" sz="1500"/>
                        <a:t>0.10</a:t>
                      </a:r>
                      <a:r>
                        <a:rPr sz="1500"/>
                        <a:t>, p &lt; </a:t>
                      </a:r>
                      <a:r>
                        <a:rPr lang="pl-PL" sz="1500"/>
                        <a:t>0.001</a:t>
                      </a:r>
                      <a:endParaRPr sz="1500"/>
                    </a:p>
                  </a:txBody>
                  <a:tcPr marT="36576" marB="36576"/>
                </a:tc>
                <a:tc>
                  <a:txBody>
                    <a:bodyPr/>
                    <a:lstStyle/>
                    <a:p>
                      <a:r>
                        <a:rPr sz="1500"/>
                        <a:t>reject (very weak)</a:t>
                      </a:r>
                    </a:p>
                  </a:txBody>
                  <a:tcPr marT="36576" marB="36576"/>
                </a:tc>
                <a:extLst>
                  <a:ext uri="{0D108BD9-81ED-4DB2-BD59-A6C34878D82A}">
                    <a16:rowId xmlns:a16="http://schemas.microsoft.com/office/drawing/2014/main" val="2387954906"/>
                  </a:ext>
                </a:extLst>
              </a:tr>
              <a:tr h="411480">
                <a:tc>
                  <a:txBody>
                    <a:bodyPr/>
                    <a:lstStyle/>
                    <a:p>
                      <a:r>
                        <a:rPr sz="1500"/>
                        <a:t>Two-sample t-test</a:t>
                      </a:r>
                    </a:p>
                  </a:txBody>
                  <a:tcPr marT="36576" marB="36576"/>
                </a:tc>
                <a:tc>
                  <a:txBody>
                    <a:bodyPr/>
                    <a:lstStyle/>
                    <a:p>
                      <a:r>
                        <a:rPr sz="1500"/>
                        <a:t>women and men work the same hours</a:t>
                      </a:r>
                    </a:p>
                  </a:txBody>
                  <a:tcPr marT="36576" marB="36576"/>
                </a:tc>
                <a:tc>
                  <a:txBody>
                    <a:bodyPr/>
                    <a:lstStyle/>
                    <a:p>
                      <a:r>
                        <a:rPr lang="pl-PL" sz="1500"/>
                        <a:t>36.9</a:t>
                      </a:r>
                      <a:r>
                        <a:rPr sz="1500"/>
                        <a:t> h vs </a:t>
                      </a:r>
                      <a:r>
                        <a:rPr lang="pl-PL" sz="1500"/>
                        <a:t>42.9</a:t>
                      </a:r>
                      <a:r>
                        <a:rPr sz="1500"/>
                        <a:t> h, p &lt; </a:t>
                      </a:r>
                      <a:r>
                        <a:rPr lang="pl-PL" sz="1500"/>
                        <a:t>0.001</a:t>
                      </a:r>
                      <a:endParaRPr sz="1500"/>
                    </a:p>
                  </a:txBody>
                  <a:tcPr marT="36576" marB="36576"/>
                </a:tc>
                <a:tc>
                  <a:txBody>
                    <a:bodyPr/>
                    <a:lstStyle/>
                    <a:p>
                      <a:r>
                        <a:rPr sz="1500"/>
                        <a:t>reject H0</a:t>
                      </a:r>
                    </a:p>
                  </a:txBody>
                  <a:tcPr marT="36576" marB="36576"/>
                </a:tc>
                <a:extLst>
                  <a:ext uri="{0D108BD9-81ED-4DB2-BD59-A6C34878D82A}">
                    <a16:rowId xmlns:a16="http://schemas.microsoft.com/office/drawing/2014/main" val="2366425238"/>
                  </a:ext>
                </a:extLst>
              </a:tr>
              <a:tr h="411480">
                <a:tc>
                  <a:txBody>
                    <a:bodyPr/>
                    <a:lstStyle/>
                    <a:p>
                      <a:r>
                        <a:rPr sz="1500"/>
                        <a:t>Two proportions z-test</a:t>
                      </a:r>
                    </a:p>
                  </a:txBody>
                  <a:tcPr marT="36576" marB="36576"/>
                </a:tc>
                <a:tc>
                  <a:txBody>
                    <a:bodyPr/>
                    <a:lstStyle/>
                    <a:p>
                      <a:r>
                        <a:rPr sz="1500"/>
                        <a:t>same share of women and men earn &gt;50K</a:t>
                      </a:r>
                    </a:p>
                  </a:txBody>
                  <a:tcPr marT="36576" marB="36576"/>
                </a:tc>
                <a:tc>
                  <a:txBody>
                    <a:bodyPr/>
                    <a:lstStyle/>
                    <a:p>
                      <a:r>
                        <a:rPr lang="pl-PL" sz="1500"/>
                        <a:t>11.4</a:t>
                      </a:r>
                      <a:r>
                        <a:rPr sz="1500"/>
                        <a:t>% vs </a:t>
                      </a:r>
                      <a:r>
                        <a:rPr lang="pl-PL" sz="1500"/>
                        <a:t>31.3</a:t>
                      </a:r>
                      <a:r>
                        <a:rPr sz="1500"/>
                        <a:t>%, p &lt; </a:t>
                      </a:r>
                      <a:r>
                        <a:rPr lang="pl-PL" sz="1500"/>
                        <a:t>0.001</a:t>
                      </a:r>
                      <a:endParaRPr sz="1500"/>
                    </a:p>
                  </a:txBody>
                  <a:tcPr marT="36576" marB="36576"/>
                </a:tc>
                <a:tc>
                  <a:txBody>
                    <a:bodyPr/>
                    <a:lstStyle/>
                    <a:p>
                      <a:r>
                        <a:rPr sz="1500"/>
                        <a:t>reject H0</a:t>
                      </a:r>
                    </a:p>
                  </a:txBody>
                  <a:tcPr marT="36576" marB="36576"/>
                </a:tc>
                <a:extLst>
                  <a:ext uri="{0D108BD9-81ED-4DB2-BD59-A6C34878D82A}">
                    <a16:rowId xmlns:a16="http://schemas.microsoft.com/office/drawing/2014/main" val="1660286720"/>
                  </a:ext>
                </a:extLst>
              </a:tr>
              <a:tr h="411480">
                <a:tc>
                  <a:txBody>
                    <a:bodyPr/>
                    <a:lstStyle/>
                    <a:p>
                      <a:r>
                        <a:rPr sz="1500"/>
                        <a:t>χ² goodness of fit</a:t>
                      </a:r>
                    </a:p>
                  </a:txBody>
                  <a:tcPr marT="36576" marB="36576"/>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sz="1500"/>
                        <a:t>sex split 50/50</a:t>
                      </a:r>
                    </a:p>
                  </a:txBody>
                  <a:tcPr marT="36576" marB="36576"/>
                </a:tc>
                <a:tc>
                  <a:txBody>
                    <a:bodyPr/>
                    <a:lstStyle/>
                    <a:p>
                      <a:r>
                        <a:rPr lang="pl-PL" sz="1500"/>
                        <a:t>32.5</a:t>
                      </a:r>
                      <a:r>
                        <a:rPr sz="1500"/>
                        <a:t>% women, </a:t>
                      </a:r>
                      <a:r>
                        <a:rPr lang="pl-PL" sz="1500"/>
                        <a:t>67.5</a:t>
                      </a:r>
                      <a:r>
                        <a:rPr sz="1500"/>
                        <a:t>% men</a:t>
                      </a:r>
                    </a:p>
                  </a:txBody>
                  <a:tcPr marT="36576" marB="36576"/>
                </a:tc>
                <a:tc>
                  <a:txBody>
                    <a:bodyPr/>
                    <a:lstStyle/>
                    <a:p>
                      <a:r>
                        <a:rPr sz="1500"/>
                        <a:t>reject H0</a:t>
                      </a:r>
                    </a:p>
                  </a:txBody>
                  <a:tcPr marT="36576" marB="36576"/>
                </a:tc>
                <a:extLst>
                  <a:ext uri="{0D108BD9-81ED-4DB2-BD59-A6C34878D82A}">
                    <a16:rowId xmlns:a16="http://schemas.microsoft.com/office/drawing/2014/main" val="1605179228"/>
                  </a:ext>
                </a:extLst>
              </a:tr>
              <a:tr h="4114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sz="1500"/>
                        <a:t>χ² independence</a:t>
                      </a:r>
                    </a:p>
                  </a:txBody>
                  <a:tcPr marT="36576" marB="36576"/>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sz="1500"/>
                        <a:t>income does not depend on education</a:t>
                      </a:r>
                    </a:p>
                  </a:txBody>
                  <a:tcPr marT="36576" marB="36576"/>
                </a:tc>
                <a:tc>
                  <a:txBody>
                    <a:bodyPr/>
                    <a:lstStyle/>
                    <a:p>
                      <a:r>
                        <a:rPr sz="1500"/>
                        <a:t>χ² = 5 996, p &lt; </a:t>
                      </a:r>
                      <a:r>
                        <a:rPr lang="pl-PL" sz="1500"/>
                        <a:t>0.001</a:t>
                      </a:r>
                      <a:endParaRPr sz="1500"/>
                    </a:p>
                  </a:txBody>
                  <a:tcPr marT="36576" marB="36576"/>
                </a:tc>
                <a:tc>
                  <a:txBody>
                    <a:bodyPr/>
                    <a:lstStyle/>
                    <a:p>
                      <a:r>
                        <a:rPr sz="1500"/>
                        <a:t>reject H0</a:t>
                      </a:r>
                    </a:p>
                  </a:txBody>
                  <a:tcPr marT="36576" marB="36576"/>
                </a:tc>
                <a:extLst>
                  <a:ext uri="{0D108BD9-81ED-4DB2-BD59-A6C34878D82A}">
                    <a16:rowId xmlns:a16="http://schemas.microsoft.com/office/drawing/2014/main" val="3185729100"/>
                  </a:ext>
                </a:extLst>
              </a:tr>
              <a:tr h="4114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sz="1500"/>
                        <a:t>χ² homogeneity</a:t>
                      </a:r>
                    </a:p>
                  </a:txBody>
                  <a:tcPr marT="36576" marB="36576"/>
                </a:tc>
                <a:tc>
                  <a:txBody>
                    <a:bodyPr/>
                    <a:lstStyle/>
                    <a:p>
                      <a:r>
                        <a:rPr sz="1500"/>
                        <a:t>same income split in all race groups</a:t>
                      </a:r>
                    </a:p>
                  </a:txBody>
                  <a:tcPr marT="36576" marB="36576"/>
                </a:tc>
                <a:tc>
                  <a:txBody>
                    <a:bodyPr/>
                    <a:lstStyle/>
                    <a:p>
                      <a:r>
                        <a:rPr sz="1500"/>
                        <a:t>χ² = 453, p &lt; </a:t>
                      </a:r>
                      <a:r>
                        <a:rPr lang="pl-PL" sz="1500"/>
                        <a:t>0.001</a:t>
                      </a:r>
                      <a:endParaRPr sz="1500"/>
                    </a:p>
                  </a:txBody>
                  <a:tcPr marT="36576" marB="36576"/>
                </a:tc>
                <a:tc>
                  <a:txBody>
                    <a:bodyPr/>
                    <a:lstStyle/>
                    <a:p>
                      <a:r>
                        <a:rPr sz="1500"/>
                        <a:t>reject H0</a:t>
                      </a:r>
                    </a:p>
                  </a:txBody>
                  <a:tcPr marT="36576" marB="36576"/>
                </a:tc>
                <a:extLst>
                  <a:ext uri="{0D108BD9-81ED-4DB2-BD59-A6C34878D82A}">
                    <a16:rowId xmlns:a16="http://schemas.microsoft.com/office/drawing/2014/main" val="3890059114"/>
                  </a:ext>
                </a:extLst>
              </a:tr>
            </a:tbl>
          </a:graphicData>
        </a:graphic>
      </p:graphicFrame>
      <p:sp>
        <p:nvSpPr>
          <p:cNvPr id="5" name="Test info"/>
          <p:cNvSpPr txBox="1"/>
          <p:nvPr/>
        </p:nvSpPr>
        <p:spPr>
          <a:xfrm>
            <a:off x="731520" y="2029968"/>
            <a:ext cx="10698480" cy="338554"/>
          </a:xfrm>
          <a:prstGeom prst="rect">
            <a:avLst/>
          </a:prstGeom>
          <a:noFill/>
        </p:spPr>
        <p:txBody>
          <a:bodyPr wrap="square" lIns="91440" tIns="45720" rIns="91440" bIns="45720" anchor="t">
            <a:spAutoFit/>
          </a:bodyPr>
          <a:lstStyle/>
          <a:p>
            <a:pPr marL="0" indent="0">
              <a:spcAft>
                <a:spcPts val="600"/>
              </a:spcAft>
              <a:buNone/>
            </a:pPr>
            <a:r>
              <a:rPr sz="1600" b="0"/>
              <a:t>45 194 people (train + test), α = </a:t>
            </a:r>
            <a:r>
              <a:rPr lang="pl-PL" sz="1600"/>
              <a:t>0.05</a:t>
            </a:r>
            <a:endParaRPr sz="1600" b="0"/>
          </a:p>
        </p:txBody>
      </p:sp>
    </p:spTree>
    <p:extLst>
      <p:ext uri="{BB962C8B-B14F-4D97-AF65-F5344CB8AC3E}">
        <p14:creationId xmlns:p14="http://schemas.microsoft.com/office/powerpoint/2010/main" val="18408958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800EFB-44BC-27F7-C702-5C67FD799433}"/>
              </a:ext>
            </a:extLst>
          </p:cNvPr>
          <p:cNvSpPr>
            <a:spLocks noGrp="1"/>
          </p:cNvSpPr>
          <p:nvPr>
            <p:ph type="title"/>
          </p:nvPr>
        </p:nvSpPr>
        <p:spPr/>
        <p:txBody>
          <a:bodyPr/>
          <a:lstStyle/>
          <a:p>
            <a:r>
              <a:rPr lang="en-US"/>
              <a:t>Multiple linear regression</a:t>
            </a:r>
          </a:p>
        </p:txBody>
      </p:sp>
      <p:sp>
        <p:nvSpPr>
          <p:cNvPr id="3" name="Content Placeholder 2">
            <a:extLst>
              <a:ext uri="{FF2B5EF4-FFF2-40B4-BE49-F238E27FC236}">
                <a16:creationId xmlns:a16="http://schemas.microsoft.com/office/drawing/2014/main" id="{AC12C78C-1C92-B9D4-9789-7D1B1517EAC5}"/>
              </a:ext>
            </a:extLst>
          </p:cNvPr>
          <p:cNvSpPr>
            <a:spLocks noGrp="1"/>
          </p:cNvSpPr>
          <p:nvPr>
            <p:ph sz="quarter" idx="15"/>
          </p:nvPr>
        </p:nvSpPr>
        <p:spPr>
          <a:xfrm>
            <a:off x="731520" y="1948543"/>
            <a:ext cx="5378088" cy="1441267"/>
          </a:xfrm>
        </p:spPr>
        <p:txBody>
          <a:bodyPr vert="horz" lIns="91440" tIns="45720" rIns="91440" bIns="45720" rtlCol="0" anchor="t">
            <a:normAutofit lnSpcReduction="10000"/>
          </a:bodyPr>
          <a:lstStyle/>
          <a:p>
            <a:pPr marL="0" indent="0">
              <a:spcAft>
                <a:spcPts val="600"/>
              </a:spcAft>
              <a:buNone/>
            </a:pPr>
            <a:r>
              <a:rPr sz="1800" b="0"/>
              <a:t>Predicts hours-per-week; fitted on train, evaluated on test</a:t>
            </a:r>
          </a:p>
          <a:p>
            <a:pPr>
              <a:spcAft>
                <a:spcPts val="600"/>
              </a:spcAft>
            </a:pPr>
            <a:r>
              <a:rPr sz="1800" b="1"/>
              <a:t>hours = </a:t>
            </a:r>
            <a:r>
              <a:rPr lang="pl-PL" b="1"/>
              <a:t>27.33</a:t>
            </a:r>
            <a:r>
              <a:rPr sz="1800" b="1"/>
              <a:t> + </a:t>
            </a:r>
            <a:r>
              <a:rPr lang="pl-PL" b="1"/>
              <a:t>0.070</a:t>
            </a:r>
            <a:r>
              <a:rPr sz="1800" b="1"/>
              <a:t> × age </a:t>
            </a:r>
            <a:br>
              <a:rPr lang="en-US" b="1"/>
            </a:br>
            <a:r>
              <a:rPr lang="en-US" b="1"/>
              <a:t>    </a:t>
            </a:r>
            <a:r>
              <a:rPr sz="1800" b="1"/>
              <a:t>+ </a:t>
            </a:r>
            <a:r>
              <a:rPr lang="pl-PL" b="1"/>
              <a:t>0.696</a:t>
            </a:r>
            <a:r>
              <a:rPr sz="1800" b="1"/>
              <a:t> × education-num </a:t>
            </a:r>
            <a:br>
              <a:rPr lang="en-US" b="1"/>
            </a:br>
            <a:r>
              <a:rPr lang="en-US" b="1"/>
              <a:t>    </a:t>
            </a:r>
            <a:r>
              <a:rPr sz="1800" b="1"/>
              <a:t>+ </a:t>
            </a:r>
            <a:r>
              <a:rPr lang="pl-PL" b="1"/>
              <a:t>5.73</a:t>
            </a:r>
            <a:r>
              <a:rPr sz="1800" b="1"/>
              <a:t> × male</a:t>
            </a:r>
          </a:p>
        </p:txBody>
      </p:sp>
      <p:graphicFrame>
        <p:nvGraphicFramePr>
          <p:cNvPr id="4" name="Linear metrics"/>
          <p:cNvGraphicFramePr>
            <a:graphicFrameLocks noGrp="1"/>
          </p:cNvGraphicFramePr>
          <p:nvPr>
            <p:extLst>
              <p:ext uri="{D42A27DB-BD31-4B8C-83A1-F6EECF244321}">
                <p14:modId xmlns:p14="http://schemas.microsoft.com/office/powerpoint/2010/main" val="1257093961"/>
              </p:ext>
            </p:extLst>
          </p:nvPr>
        </p:nvGraphicFramePr>
        <p:xfrm>
          <a:off x="731520" y="3395799"/>
          <a:ext cx="4023360" cy="2304288"/>
        </p:xfrm>
        <a:graphic>
          <a:graphicData uri="http://schemas.openxmlformats.org/drawingml/2006/table">
            <a:tbl>
              <a:tblPr firstRow="1" bandRow="1">
                <a:tableStyleId>{5C22544A-7EE6-4342-B048-85BDC9FD1C3A}</a:tableStyleId>
              </a:tblPr>
              <a:tblGrid>
                <a:gridCol w="237744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tblGrid>
              <a:tr h="384048">
                <a:tc>
                  <a:txBody>
                    <a:bodyPr/>
                    <a:lstStyle/>
                    <a:p>
                      <a:r>
                        <a:rPr sz="1600" b="1"/>
                        <a:t>Metric (test)</a:t>
                      </a:r>
                    </a:p>
                  </a:txBody>
                  <a:tcPr marT="36576" marB="36576"/>
                </a:tc>
                <a:tc>
                  <a:txBody>
                    <a:bodyPr/>
                    <a:lstStyle/>
                    <a:p>
                      <a:r>
                        <a:rPr sz="1600" b="1"/>
                        <a:t>Value</a:t>
                      </a:r>
                    </a:p>
                  </a:txBody>
                  <a:tcPr marT="36576" marB="36576"/>
                </a:tc>
                <a:extLst>
                  <a:ext uri="{0D108BD9-81ED-4DB2-BD59-A6C34878D82A}">
                    <a16:rowId xmlns:a16="http://schemas.microsoft.com/office/drawing/2014/main" val="10000"/>
                  </a:ext>
                </a:extLst>
              </a:tr>
              <a:tr h="384048">
                <a:tc>
                  <a:txBody>
                    <a:bodyPr/>
                    <a:lstStyle/>
                    <a:p>
                      <a:r>
                        <a:rPr sz="1600"/>
                        <a:t>MAE</a:t>
                      </a:r>
                    </a:p>
                  </a:txBody>
                  <a:tcPr marT="36576" marB="36576"/>
                </a:tc>
                <a:tc>
                  <a:txBody>
                    <a:bodyPr/>
                    <a:lstStyle/>
                    <a:p>
                      <a:r>
                        <a:rPr lang="pl-PL" sz="1600"/>
                        <a:t>7.74</a:t>
                      </a:r>
                      <a:r>
                        <a:rPr sz="1600"/>
                        <a:t> h</a:t>
                      </a:r>
                    </a:p>
                  </a:txBody>
                  <a:tcPr marT="36576" marB="36576"/>
                </a:tc>
                <a:extLst>
                  <a:ext uri="{0D108BD9-81ED-4DB2-BD59-A6C34878D82A}">
                    <a16:rowId xmlns:a16="http://schemas.microsoft.com/office/drawing/2014/main" val="10001"/>
                  </a:ext>
                </a:extLst>
              </a:tr>
              <a:tr h="384048">
                <a:tc>
                  <a:txBody>
                    <a:bodyPr/>
                    <a:lstStyle/>
                    <a:p>
                      <a:r>
                        <a:rPr sz="1600"/>
                        <a:t>MSE</a:t>
                      </a:r>
                    </a:p>
                  </a:txBody>
                  <a:tcPr marT="36576" marB="36576"/>
                </a:tc>
                <a:tc>
                  <a:txBody>
                    <a:bodyPr/>
                    <a:lstStyle/>
                    <a:p>
                      <a:r>
                        <a:rPr lang="pl-PL" sz="1600"/>
                        <a:t>134.14</a:t>
                      </a:r>
                      <a:endParaRPr sz="1600"/>
                    </a:p>
                  </a:txBody>
                  <a:tcPr marT="36576" marB="36576"/>
                </a:tc>
                <a:extLst>
                  <a:ext uri="{0D108BD9-81ED-4DB2-BD59-A6C34878D82A}">
                    <a16:rowId xmlns:a16="http://schemas.microsoft.com/office/drawing/2014/main" val="10002"/>
                  </a:ext>
                </a:extLst>
              </a:tr>
              <a:tr h="384048">
                <a:tc>
                  <a:txBody>
                    <a:bodyPr/>
                    <a:lstStyle/>
                    <a:p>
                      <a:r>
                        <a:rPr sz="1600"/>
                        <a:t>RMSE</a:t>
                      </a:r>
                    </a:p>
                  </a:txBody>
                  <a:tcPr marT="36576" marB="36576"/>
                </a:tc>
                <a:tc>
                  <a:txBody>
                    <a:bodyPr/>
                    <a:lstStyle/>
                    <a:p>
                      <a:r>
                        <a:rPr lang="pl-PL" sz="1600"/>
                        <a:t>11.58</a:t>
                      </a:r>
                      <a:r>
                        <a:rPr sz="1600"/>
                        <a:t> h</a:t>
                      </a:r>
                    </a:p>
                  </a:txBody>
                  <a:tcPr marT="36576" marB="36576"/>
                </a:tc>
                <a:extLst>
                  <a:ext uri="{0D108BD9-81ED-4DB2-BD59-A6C34878D82A}">
                    <a16:rowId xmlns:a16="http://schemas.microsoft.com/office/drawing/2014/main" val="10003"/>
                  </a:ext>
                </a:extLst>
              </a:tr>
              <a:tr h="384048">
                <a:tc>
                  <a:txBody>
                    <a:bodyPr/>
                    <a:lstStyle/>
                    <a:p>
                      <a:r>
                        <a:rPr sz="1600"/>
                        <a:t>MAPE</a:t>
                      </a:r>
                    </a:p>
                  </a:txBody>
                  <a:tcPr marT="36576" marB="36576"/>
                </a:tc>
                <a:tc>
                  <a:txBody>
                    <a:bodyPr/>
                    <a:lstStyle/>
                    <a:p>
                      <a:r>
                        <a:rPr lang="pl-PL" sz="1600"/>
                        <a:t>30.9</a:t>
                      </a:r>
                      <a:r>
                        <a:rPr sz="1600"/>
                        <a:t>%</a:t>
                      </a:r>
                    </a:p>
                  </a:txBody>
                  <a:tcPr marT="36576" marB="36576"/>
                </a:tc>
                <a:extLst>
                  <a:ext uri="{0D108BD9-81ED-4DB2-BD59-A6C34878D82A}">
                    <a16:rowId xmlns:a16="http://schemas.microsoft.com/office/drawing/2014/main" val="10004"/>
                  </a:ext>
                </a:extLst>
              </a:tr>
              <a:tr h="384048">
                <a:tc>
                  <a:txBody>
                    <a:bodyPr/>
                    <a:lstStyle/>
                    <a:p>
                      <a:r>
                        <a:rPr sz="1600" b="1"/>
                        <a:t>R²</a:t>
                      </a:r>
                    </a:p>
                  </a:txBody>
                  <a:tcPr marT="36576" marB="36576"/>
                </a:tc>
                <a:tc>
                  <a:txBody>
                    <a:bodyPr/>
                    <a:lstStyle/>
                    <a:p>
                      <a:r>
                        <a:rPr lang="pl-PL" sz="1600" b="1"/>
                        <a:t>0.078</a:t>
                      </a:r>
                      <a:endParaRPr sz="1600" b="1"/>
                    </a:p>
                  </a:txBody>
                  <a:tcPr marT="36576" marB="36576"/>
                </a:tc>
                <a:extLst>
                  <a:ext uri="{0D108BD9-81ED-4DB2-BD59-A6C34878D82A}">
                    <a16:rowId xmlns:a16="http://schemas.microsoft.com/office/drawing/2014/main" val="10005"/>
                  </a:ext>
                </a:extLst>
              </a:tr>
            </a:tbl>
          </a:graphicData>
        </a:graphic>
      </p:graphicFrame>
      <p:sp>
        <p:nvSpPr>
          <p:cNvPr id="5" name="Linear takeaway"/>
          <p:cNvSpPr txBox="1"/>
          <p:nvPr/>
        </p:nvSpPr>
        <p:spPr>
          <a:xfrm>
            <a:off x="731520" y="5818959"/>
            <a:ext cx="5120640" cy="822960"/>
          </a:xfrm>
          <a:prstGeom prst="rect">
            <a:avLst/>
          </a:prstGeom>
          <a:noFill/>
        </p:spPr>
        <p:txBody>
          <a:bodyPr wrap="square">
            <a:spAutoFit/>
          </a:bodyPr>
          <a:lstStyle/>
          <a:p>
            <a:pPr marL="0" indent="0">
              <a:spcAft>
                <a:spcPts val="600"/>
              </a:spcAft>
              <a:buNone/>
            </a:pPr>
            <a:r>
              <a:rPr sz="1600" b="1"/>
              <a:t>Significant (F = 899), but weak: </a:t>
            </a:r>
            <a:r>
              <a:rPr sz="1600" b="0"/>
              <a:t>explains only 8% of the differences</a:t>
            </a:r>
          </a:p>
        </p:txBody>
      </p:sp>
      <p:pic>
        <p:nvPicPr>
          <p:cNvPr id="6" name="Actual vs predicted" descr="05a_linear_actual_vs_predicted.png"/>
          <p:cNvPicPr>
            <a:picLocks noChangeAspect="1"/>
          </p:cNvPicPr>
          <p:nvPr/>
        </p:nvPicPr>
        <p:blipFill>
          <a:blip r:embed="rId2"/>
          <a:stretch>
            <a:fillRect/>
          </a:stretch>
        </p:blipFill>
        <p:spPr>
          <a:xfrm>
            <a:off x="6377939" y="1943645"/>
            <a:ext cx="5598389" cy="4444636"/>
          </a:xfrm>
          <a:prstGeom prst="rect">
            <a:avLst/>
          </a:prstGeom>
        </p:spPr>
      </p:pic>
    </p:spTree>
    <p:extLst>
      <p:ext uri="{BB962C8B-B14F-4D97-AF65-F5344CB8AC3E}">
        <p14:creationId xmlns:p14="http://schemas.microsoft.com/office/powerpoint/2010/main" val="10105651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63E899-BA5D-FA44-3432-25096EE80E87}"/>
              </a:ext>
            </a:extLst>
          </p:cNvPr>
          <p:cNvSpPr>
            <a:spLocks noGrp="1"/>
          </p:cNvSpPr>
          <p:nvPr>
            <p:ph type="title"/>
          </p:nvPr>
        </p:nvSpPr>
        <p:spPr/>
        <p:txBody>
          <a:bodyPr/>
          <a:lstStyle/>
          <a:p>
            <a:r>
              <a:rPr lang="en-US"/>
              <a:t>Binary logistic regression</a:t>
            </a:r>
          </a:p>
        </p:txBody>
      </p:sp>
      <p:graphicFrame>
        <p:nvGraphicFramePr>
          <p:cNvPr id="7" name="Content Placeholder 6">
            <a:extLst>
              <a:ext uri="{FF2B5EF4-FFF2-40B4-BE49-F238E27FC236}">
                <a16:creationId xmlns:a16="http://schemas.microsoft.com/office/drawing/2014/main" id="{527DEA38-2E63-02A6-2016-93B3EF419F4F}"/>
              </a:ext>
            </a:extLst>
          </p:cNvPr>
          <p:cNvGraphicFramePr>
            <a:graphicFrameLocks noGrp="1"/>
          </p:cNvGraphicFramePr>
          <p:nvPr>
            <p:ph sz="quarter" idx="15"/>
            <p:extLst>
              <p:ext uri="{D42A27DB-BD31-4B8C-83A1-F6EECF244321}">
                <p14:modId xmlns:p14="http://schemas.microsoft.com/office/powerpoint/2010/main" val="1660645703"/>
              </p:ext>
            </p:extLst>
          </p:nvPr>
        </p:nvGraphicFramePr>
        <p:xfrm>
          <a:off x="731520" y="2103120"/>
          <a:ext cx="5303520" cy="2560320"/>
        </p:xfrm>
        <a:graphic>
          <a:graphicData uri="http://schemas.openxmlformats.org/drawingml/2006/table">
            <a:tbl>
              <a:tblPr firstRow="1" bandRow="1">
                <a:tableStyleId>{5C22544A-7EE6-4342-B048-85BDC9FD1C3A}</a:tableStyleId>
              </a:tblPr>
              <a:tblGrid>
                <a:gridCol w="3840480">
                  <a:extLst>
                    <a:ext uri="{9D8B030D-6E8A-4147-A177-3AD203B41FA5}">
                      <a16:colId xmlns:a16="http://schemas.microsoft.com/office/drawing/2014/main" val="4133148810"/>
                    </a:ext>
                  </a:extLst>
                </a:gridCol>
                <a:gridCol w="1463040">
                  <a:extLst>
                    <a:ext uri="{9D8B030D-6E8A-4147-A177-3AD203B41FA5}">
                      <a16:colId xmlns:a16="http://schemas.microsoft.com/office/drawing/2014/main" val="3817541103"/>
                    </a:ext>
                  </a:extLst>
                </a:gridCol>
              </a:tblGrid>
              <a:tr h="365760">
                <a:tc>
                  <a:txBody>
                    <a:bodyPr/>
                    <a:lstStyle/>
                    <a:p>
                      <a:pPr algn="ctr"/>
                      <a:r>
                        <a:rPr sz="1600" b="1"/>
                        <a:t>Variable</a:t>
                      </a:r>
                    </a:p>
                  </a:txBody>
                  <a:tcPr marT="36576" marB="36576"/>
                </a:tc>
                <a:tc>
                  <a:txBody>
                    <a:bodyPr/>
                    <a:lstStyle/>
                    <a:p>
                      <a:pPr algn="ctr"/>
                      <a:r>
                        <a:rPr sz="1600" b="1"/>
                        <a:t>Odds ratio</a:t>
                      </a:r>
                    </a:p>
                  </a:txBody>
                  <a:tcPr marT="36576" marB="36576"/>
                </a:tc>
                <a:extLst>
                  <a:ext uri="{0D108BD9-81ED-4DB2-BD59-A6C34878D82A}">
                    <a16:rowId xmlns:a16="http://schemas.microsoft.com/office/drawing/2014/main" val="2607932428"/>
                  </a:ext>
                </a:extLst>
              </a:tr>
              <a:tr h="365760">
                <a:tc>
                  <a:txBody>
                    <a:bodyPr/>
                    <a:lstStyle/>
                    <a:p>
                      <a:r>
                        <a:rPr sz="1600"/>
                        <a:t>Married-civ-spouse</a:t>
                      </a:r>
                    </a:p>
                  </a:txBody>
                  <a:tcPr marT="36576" marB="36576"/>
                </a:tc>
                <a:tc>
                  <a:txBody>
                    <a:bodyPr/>
                    <a:lstStyle/>
                    <a:p>
                      <a:pPr algn="ctr"/>
                      <a:r>
                        <a:rPr sz="1600"/>
                        <a:t>×</a:t>
                      </a:r>
                      <a:r>
                        <a:rPr lang="pl-PL" sz="1600"/>
                        <a:t>9.1</a:t>
                      </a:r>
                      <a:endParaRPr sz="1600"/>
                    </a:p>
                  </a:txBody>
                  <a:tcPr marT="36576" marB="36576"/>
                </a:tc>
                <a:extLst>
                  <a:ext uri="{0D108BD9-81ED-4DB2-BD59-A6C34878D82A}">
                    <a16:rowId xmlns:a16="http://schemas.microsoft.com/office/drawing/2014/main" val="3366276711"/>
                  </a:ext>
                </a:extLst>
              </a:tr>
              <a:tr h="365760">
                <a:tc>
                  <a:txBody>
                    <a:bodyPr/>
                    <a:lstStyle/>
                    <a:p>
                      <a:r>
                        <a:rPr sz="1600"/>
                        <a:t>relationship: Wife</a:t>
                      </a:r>
                    </a:p>
                  </a:txBody>
                  <a:tcPr marT="36576" marB="36576"/>
                </a:tc>
                <a:tc>
                  <a:txBody>
                    <a:bodyPr/>
                    <a:lstStyle/>
                    <a:p>
                      <a:pPr algn="ctr"/>
                      <a:r>
                        <a:rPr sz="1600"/>
                        <a:t>×</a:t>
                      </a:r>
                      <a:r>
                        <a:rPr lang="pl-PL" sz="1600"/>
                        <a:t>3.7</a:t>
                      </a:r>
                      <a:endParaRPr sz="1600"/>
                    </a:p>
                  </a:txBody>
                  <a:tcPr marT="36576" marB="36576"/>
                </a:tc>
                <a:extLst>
                  <a:ext uri="{0D108BD9-81ED-4DB2-BD59-A6C34878D82A}">
                    <a16:rowId xmlns:a16="http://schemas.microsoft.com/office/drawing/2014/main" val="2172757737"/>
                  </a:ext>
                </a:extLst>
              </a:tr>
              <a:tr h="365760">
                <a:tc>
                  <a:txBody>
                    <a:bodyPr/>
                    <a:lstStyle/>
                    <a:p>
                      <a:r>
                        <a:rPr sz="1600"/>
                        <a:t>male</a:t>
                      </a:r>
                    </a:p>
                  </a:txBody>
                  <a:tcPr marT="36576" marB="36576"/>
                </a:tc>
                <a:tc>
                  <a:txBody>
                    <a:bodyPr/>
                    <a:lstStyle/>
                    <a:p>
                      <a:pPr algn="ctr"/>
                      <a:r>
                        <a:rPr sz="1600"/>
                        <a:t>×</a:t>
                      </a:r>
                      <a:r>
                        <a:rPr lang="pl-PL" sz="1600"/>
                        <a:t>2.4</a:t>
                      </a:r>
                      <a:endParaRPr sz="1600"/>
                    </a:p>
                  </a:txBody>
                  <a:tcPr marT="36576" marB="36576"/>
                </a:tc>
                <a:extLst>
                  <a:ext uri="{0D108BD9-81ED-4DB2-BD59-A6C34878D82A}">
                    <a16:rowId xmlns:a16="http://schemas.microsoft.com/office/drawing/2014/main" val="3474149228"/>
                  </a:ext>
                </a:extLst>
              </a:tr>
              <a:tr h="365760">
                <a:tc>
                  <a:txBody>
                    <a:bodyPr/>
                    <a:lstStyle/>
                    <a:p>
                      <a:r>
                        <a:rPr sz="1600"/>
                        <a:t>occupation: Exec-managerial</a:t>
                      </a:r>
                    </a:p>
                  </a:txBody>
                  <a:tcPr marT="36576" marB="36576"/>
                </a:tc>
                <a:tc>
                  <a:txBody>
                    <a:bodyPr/>
                    <a:lstStyle/>
                    <a:p>
                      <a:pPr algn="ctr"/>
                      <a:r>
                        <a:rPr sz="1600"/>
                        <a:t>×</a:t>
                      </a:r>
                      <a:r>
                        <a:rPr lang="pl-PL" sz="1600"/>
                        <a:t>2.2</a:t>
                      </a:r>
                      <a:endParaRPr sz="1600"/>
                    </a:p>
                  </a:txBody>
                  <a:tcPr marT="36576" marB="36576"/>
                </a:tc>
                <a:extLst>
                  <a:ext uri="{0D108BD9-81ED-4DB2-BD59-A6C34878D82A}">
                    <a16:rowId xmlns:a16="http://schemas.microsoft.com/office/drawing/2014/main" val="1103672920"/>
                  </a:ext>
                </a:extLst>
              </a:tr>
              <a:tr h="365760">
                <a:tc>
                  <a:txBody>
                    <a:bodyPr/>
                    <a:lstStyle/>
                    <a:p>
                      <a:r>
                        <a:rPr sz="1600"/>
                        <a:t>each step of education-num</a:t>
                      </a:r>
                    </a:p>
                  </a:txBody>
                  <a:tcPr marT="36576" marB="36576"/>
                </a:tc>
                <a:tc>
                  <a:txBody>
                    <a:bodyPr/>
                    <a:lstStyle/>
                    <a:p>
                      <a:pPr algn="ctr"/>
                      <a:r>
                        <a:rPr sz="1600"/>
                        <a:t>×</a:t>
                      </a:r>
                      <a:r>
                        <a:rPr lang="pl-PL" sz="1600"/>
                        <a:t>1.32</a:t>
                      </a:r>
                      <a:endParaRPr sz="1600"/>
                    </a:p>
                  </a:txBody>
                  <a:tcPr marT="36576" marB="36576"/>
                </a:tc>
                <a:extLst>
                  <a:ext uri="{0D108BD9-81ED-4DB2-BD59-A6C34878D82A}">
                    <a16:rowId xmlns:a16="http://schemas.microsoft.com/office/drawing/2014/main" val="2082542874"/>
                  </a:ext>
                </a:extLst>
              </a:tr>
              <a:tr h="365760">
                <a:tc>
                  <a:txBody>
                    <a:bodyPr/>
                    <a:lstStyle/>
                    <a:p>
                      <a:r>
                        <a:rPr sz="1600"/>
                        <a:t>relationship: Own-child</a:t>
                      </a:r>
                    </a:p>
                  </a:txBody>
                  <a:tcPr marT="36576" marB="36576"/>
                </a:tc>
                <a:tc>
                  <a:txBody>
                    <a:bodyPr/>
                    <a:lstStyle/>
                    <a:p>
                      <a:pPr algn="ctr"/>
                      <a:r>
                        <a:rPr sz="1600"/>
                        <a:t>×</a:t>
                      </a:r>
                      <a:r>
                        <a:rPr lang="pl-PL" sz="1600"/>
                        <a:t>0.54</a:t>
                      </a:r>
                      <a:endParaRPr sz="1600"/>
                    </a:p>
                  </a:txBody>
                  <a:tcPr marT="36576" marB="36576"/>
                </a:tc>
                <a:extLst>
                  <a:ext uri="{0D108BD9-81ED-4DB2-BD59-A6C34878D82A}">
                    <a16:rowId xmlns:a16="http://schemas.microsoft.com/office/drawing/2014/main" val="2231321069"/>
                  </a:ext>
                </a:extLst>
              </a:tr>
            </a:tbl>
          </a:graphicData>
        </a:graphic>
      </p:graphicFrame>
      <p:sp>
        <p:nvSpPr>
          <p:cNvPr id="8" name="Metrics label"/>
          <p:cNvSpPr txBox="1"/>
          <p:nvPr/>
        </p:nvSpPr>
        <p:spPr>
          <a:xfrm>
            <a:off x="731520" y="4846320"/>
            <a:ext cx="5486400" cy="411480"/>
          </a:xfrm>
          <a:prstGeom prst="rect">
            <a:avLst/>
          </a:prstGeom>
          <a:noFill/>
        </p:spPr>
        <p:txBody>
          <a:bodyPr wrap="square">
            <a:spAutoFit/>
          </a:bodyPr>
          <a:lstStyle/>
          <a:p>
            <a:pPr marL="0" indent="0">
              <a:spcAft>
                <a:spcPts val="600"/>
              </a:spcAft>
              <a:buNone/>
            </a:pPr>
            <a:r>
              <a:rPr sz="1600" b="1"/>
              <a:t>Test set</a:t>
            </a:r>
            <a:r>
              <a:rPr sz="1600" b="0"/>
              <a:t> (baseline: always “&lt;=50K”)</a:t>
            </a:r>
          </a:p>
        </p:txBody>
      </p:sp>
      <p:graphicFrame>
        <p:nvGraphicFramePr>
          <p:cNvPr id="9" name="Logistic metrics"/>
          <p:cNvGraphicFramePr>
            <a:graphicFrameLocks noGrp="1"/>
          </p:cNvGraphicFramePr>
          <p:nvPr>
            <p:extLst>
              <p:ext uri="{D42A27DB-BD31-4B8C-83A1-F6EECF244321}">
                <p14:modId xmlns:p14="http://schemas.microsoft.com/office/powerpoint/2010/main" val="1583951544"/>
              </p:ext>
            </p:extLst>
          </p:nvPr>
        </p:nvGraphicFramePr>
        <p:xfrm>
          <a:off x="731520" y="5303520"/>
          <a:ext cx="5669280" cy="768096"/>
        </p:xfrm>
        <a:graphic>
          <a:graphicData uri="http://schemas.openxmlformats.org/drawingml/2006/table">
            <a:tbl>
              <a:tblPr firstRow="1" bandRow="1">
                <a:tableStyleId>{5C22544A-7EE6-4342-B048-85BDC9FD1C3A}</a:tableStyleId>
              </a:tblPr>
              <a:tblGrid>
                <a:gridCol w="105156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051560">
                  <a:extLst>
                    <a:ext uri="{9D8B030D-6E8A-4147-A177-3AD203B41FA5}">
                      <a16:colId xmlns:a16="http://schemas.microsoft.com/office/drawing/2014/main" val="20002"/>
                    </a:ext>
                  </a:extLst>
                </a:gridCol>
                <a:gridCol w="822960">
                  <a:extLst>
                    <a:ext uri="{9D8B030D-6E8A-4147-A177-3AD203B41FA5}">
                      <a16:colId xmlns:a16="http://schemas.microsoft.com/office/drawing/2014/main" val="20003"/>
                    </a:ext>
                  </a:extLst>
                </a:gridCol>
                <a:gridCol w="685800">
                  <a:extLst>
                    <a:ext uri="{9D8B030D-6E8A-4147-A177-3AD203B41FA5}">
                      <a16:colId xmlns:a16="http://schemas.microsoft.com/office/drawing/2014/main" val="20004"/>
                    </a:ext>
                  </a:extLst>
                </a:gridCol>
                <a:gridCol w="1051560">
                  <a:extLst>
                    <a:ext uri="{9D8B030D-6E8A-4147-A177-3AD203B41FA5}">
                      <a16:colId xmlns:a16="http://schemas.microsoft.com/office/drawing/2014/main" val="20005"/>
                    </a:ext>
                  </a:extLst>
                </a:gridCol>
              </a:tblGrid>
              <a:tr h="384048">
                <a:tc>
                  <a:txBody>
                    <a:bodyPr/>
                    <a:lstStyle/>
                    <a:p>
                      <a:pPr algn="ctr"/>
                      <a:r>
                        <a:rPr sz="1400" b="1"/>
                        <a:t>Accuracy</a:t>
                      </a:r>
                    </a:p>
                  </a:txBody>
                  <a:tcPr marT="36576" marB="36576"/>
                </a:tc>
                <a:tc>
                  <a:txBody>
                    <a:bodyPr/>
                    <a:lstStyle/>
                    <a:p>
                      <a:pPr algn="ctr"/>
                      <a:r>
                        <a:rPr sz="1400" b="1"/>
                        <a:t>Baseline</a:t>
                      </a:r>
                    </a:p>
                  </a:txBody>
                  <a:tcPr marT="36576" marB="36576"/>
                </a:tc>
                <a:tc>
                  <a:txBody>
                    <a:bodyPr/>
                    <a:lstStyle/>
                    <a:p>
                      <a:pPr algn="ctr"/>
                      <a:r>
                        <a:rPr sz="1400" b="1"/>
                        <a:t>Precision</a:t>
                      </a:r>
                    </a:p>
                  </a:txBody>
                  <a:tcPr marT="36576" marB="36576"/>
                </a:tc>
                <a:tc>
                  <a:txBody>
                    <a:bodyPr/>
                    <a:lstStyle/>
                    <a:p>
                      <a:pPr algn="ctr"/>
                      <a:r>
                        <a:rPr sz="1400" b="1"/>
                        <a:t>Recall</a:t>
                      </a:r>
                    </a:p>
                  </a:txBody>
                  <a:tcPr marT="36576" marB="36576"/>
                </a:tc>
                <a:tc>
                  <a:txBody>
                    <a:bodyPr/>
                    <a:lstStyle/>
                    <a:p>
                      <a:pPr algn="ctr"/>
                      <a:r>
                        <a:rPr sz="1400" b="1"/>
                        <a:t>F1</a:t>
                      </a:r>
                    </a:p>
                  </a:txBody>
                  <a:tcPr marT="36576" marB="36576"/>
                </a:tc>
                <a:tc>
                  <a:txBody>
                    <a:bodyPr/>
                    <a:lstStyle/>
                    <a:p>
                      <a:pPr algn="ctr"/>
                      <a:r>
                        <a:rPr sz="1400" b="1"/>
                        <a:t>ROC-AUC</a:t>
                      </a:r>
                    </a:p>
                  </a:txBody>
                  <a:tcPr marT="36576" marB="36576"/>
                </a:tc>
                <a:extLst>
                  <a:ext uri="{0D108BD9-81ED-4DB2-BD59-A6C34878D82A}">
                    <a16:rowId xmlns:a16="http://schemas.microsoft.com/office/drawing/2014/main" val="10000"/>
                  </a:ext>
                </a:extLst>
              </a:tr>
              <a:tr h="384048">
                <a:tc>
                  <a:txBody>
                    <a:bodyPr/>
                    <a:lstStyle/>
                    <a:p>
                      <a:pPr algn="ctr"/>
                      <a:r>
                        <a:rPr lang="pl-PL" sz="1400"/>
                        <a:t>0.849</a:t>
                      </a:r>
                      <a:endParaRPr sz="1400"/>
                    </a:p>
                  </a:txBody>
                  <a:tcPr marT="36576" marB="36576"/>
                </a:tc>
                <a:tc>
                  <a:txBody>
                    <a:bodyPr/>
                    <a:lstStyle/>
                    <a:p>
                      <a:pPr algn="ctr"/>
                      <a:r>
                        <a:rPr lang="pl-PL" sz="1400"/>
                        <a:t>0.754</a:t>
                      </a:r>
                      <a:endParaRPr sz="1400"/>
                    </a:p>
                  </a:txBody>
                  <a:tcPr marT="36576" marB="36576"/>
                </a:tc>
                <a:tc>
                  <a:txBody>
                    <a:bodyPr/>
                    <a:lstStyle/>
                    <a:p>
                      <a:pPr algn="ctr"/>
                      <a:r>
                        <a:rPr lang="pl-PL" sz="1400"/>
                        <a:t>0.734</a:t>
                      </a:r>
                      <a:endParaRPr sz="1400"/>
                    </a:p>
                  </a:txBody>
                  <a:tcPr marT="36576" marB="36576"/>
                </a:tc>
                <a:tc>
                  <a:txBody>
                    <a:bodyPr/>
                    <a:lstStyle/>
                    <a:p>
                      <a:pPr algn="ctr"/>
                      <a:r>
                        <a:rPr lang="pl-PL" sz="1400"/>
                        <a:t>0.606</a:t>
                      </a:r>
                      <a:endParaRPr sz="1400"/>
                    </a:p>
                  </a:txBody>
                  <a:tcPr marT="36576" marB="36576"/>
                </a:tc>
                <a:tc>
                  <a:txBody>
                    <a:bodyPr/>
                    <a:lstStyle/>
                    <a:p>
                      <a:pPr algn="ctr"/>
                      <a:r>
                        <a:rPr lang="pl-PL" sz="1400"/>
                        <a:t>0.664</a:t>
                      </a:r>
                      <a:endParaRPr sz="1400"/>
                    </a:p>
                  </a:txBody>
                  <a:tcPr marT="36576" marB="36576"/>
                </a:tc>
                <a:tc>
                  <a:txBody>
                    <a:bodyPr/>
                    <a:lstStyle/>
                    <a:p>
                      <a:pPr algn="ctr"/>
                      <a:r>
                        <a:rPr lang="pl-PL" sz="1400"/>
                        <a:t>0.905</a:t>
                      </a:r>
                      <a:endParaRPr sz="1400"/>
                    </a:p>
                  </a:txBody>
                  <a:tcPr marT="36576" marB="36576"/>
                </a:tc>
                <a:extLst>
                  <a:ext uri="{0D108BD9-81ED-4DB2-BD59-A6C34878D82A}">
                    <a16:rowId xmlns:a16="http://schemas.microsoft.com/office/drawing/2014/main" val="10001"/>
                  </a:ext>
                </a:extLst>
              </a:tr>
            </a:tbl>
          </a:graphicData>
        </a:graphic>
      </p:graphicFrame>
      <p:pic>
        <p:nvPicPr>
          <p:cNvPr id="10" name="Confusion matrix" descr="05b_logistic_confusion_matrix.png"/>
          <p:cNvPicPr>
            <a:picLocks noChangeAspect="1"/>
          </p:cNvPicPr>
          <p:nvPr/>
        </p:nvPicPr>
        <p:blipFill>
          <a:blip r:embed="rId2"/>
          <a:stretch>
            <a:fillRect/>
          </a:stretch>
        </p:blipFill>
        <p:spPr>
          <a:xfrm>
            <a:off x="6583680" y="2103120"/>
            <a:ext cx="4846320" cy="3808113"/>
          </a:xfrm>
          <a:prstGeom prst="rect">
            <a:avLst/>
          </a:prstGeom>
        </p:spPr>
      </p:pic>
    </p:spTree>
    <p:extLst>
      <p:ext uri="{BB962C8B-B14F-4D97-AF65-F5344CB8AC3E}">
        <p14:creationId xmlns:p14="http://schemas.microsoft.com/office/powerpoint/2010/main" val="25446408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Top Corners Snipped 2">
            <a:extLst>
              <a:ext uri="{FF2B5EF4-FFF2-40B4-BE49-F238E27FC236}">
                <a16:creationId xmlns:a16="http://schemas.microsoft.com/office/drawing/2014/main" id="{01579C38-824D-1592-1407-C212431A37BE}"/>
              </a:ext>
            </a:extLst>
          </p:cNvPr>
          <p:cNvSpPr/>
          <p:nvPr/>
        </p:nvSpPr>
        <p:spPr>
          <a:xfrm>
            <a:off x="6752641" y="-1797"/>
            <a:ext cx="5566230" cy="6858000"/>
          </a:xfrm>
          <a:prstGeom prst="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2D33BD5-9F61-9090-4298-F81FE00388A8}"/>
              </a:ext>
            </a:extLst>
          </p:cNvPr>
          <p:cNvSpPr>
            <a:spLocks noGrp="1"/>
          </p:cNvSpPr>
          <p:nvPr>
            <p:ph type="title"/>
          </p:nvPr>
        </p:nvSpPr>
        <p:spPr>
          <a:xfrm>
            <a:off x="268878" y="148046"/>
            <a:ext cx="6141938" cy="1567686"/>
          </a:xfrm>
        </p:spPr>
        <p:txBody>
          <a:bodyPr/>
          <a:lstStyle/>
          <a:p>
            <a:r>
              <a:rPr lang="en-US"/>
              <a:t>Decision tree classification</a:t>
            </a:r>
          </a:p>
        </p:txBody>
      </p:sp>
      <p:graphicFrame>
        <p:nvGraphicFramePr>
          <p:cNvPr id="3" name="Tree tuning"/>
          <p:cNvGraphicFramePr>
            <a:graphicFrameLocks noGrp="1"/>
          </p:cNvGraphicFramePr>
          <p:nvPr>
            <p:extLst>
              <p:ext uri="{D42A27DB-BD31-4B8C-83A1-F6EECF244321}">
                <p14:modId xmlns:p14="http://schemas.microsoft.com/office/powerpoint/2010/main" val="3028101407"/>
              </p:ext>
            </p:extLst>
          </p:nvPr>
        </p:nvGraphicFramePr>
        <p:xfrm>
          <a:off x="377734" y="2103120"/>
          <a:ext cx="6035040" cy="1463040"/>
        </p:xfrm>
        <a:graphic>
          <a:graphicData uri="http://schemas.openxmlformats.org/drawingml/2006/table">
            <a:tbl>
              <a:tblPr firstRow="1" bandRow="1">
                <a:tableStyleId>{5C22544A-7EE6-4342-B048-85BDC9FD1C3A}</a:tableStyleId>
              </a:tblPr>
              <a:tblGrid>
                <a:gridCol w="292608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tblGrid>
              <a:tr h="365760">
                <a:tc>
                  <a:txBody>
                    <a:bodyPr/>
                    <a:lstStyle/>
                    <a:p>
                      <a:r>
                        <a:rPr sz="1600"/>
                        <a:t>Tree</a:t>
                      </a:r>
                    </a:p>
                  </a:txBody>
                  <a:tcPr marT="27432" marB="27432"/>
                </a:tc>
                <a:tc>
                  <a:txBody>
                    <a:bodyPr/>
                    <a:lstStyle/>
                    <a:p>
                      <a:r>
                        <a:rPr sz="1600"/>
                        <a:t>Train accuracy</a:t>
                      </a:r>
                    </a:p>
                  </a:txBody>
                  <a:tcPr marT="27432" marB="27432"/>
                </a:tc>
                <a:tc>
                  <a:txBody>
                    <a:bodyPr/>
                    <a:lstStyle/>
                    <a:p>
                      <a:r>
                        <a:rPr sz="1600"/>
                        <a:t>CV F1</a:t>
                      </a:r>
                    </a:p>
                  </a:txBody>
                  <a:tcPr marT="27432" marB="27432"/>
                </a:tc>
                <a:extLst>
                  <a:ext uri="{0D108BD9-81ED-4DB2-BD59-A6C34878D82A}">
                    <a16:rowId xmlns:a16="http://schemas.microsoft.com/office/drawing/2014/main" val="10000"/>
                  </a:ext>
                </a:extLst>
              </a:tr>
              <a:tr h="365760">
                <a:tc>
                  <a:txBody>
                    <a:bodyPr/>
                    <a:lstStyle/>
                    <a:p>
                      <a:r>
                        <a:rPr sz="1600"/>
                        <a:t>No limits</a:t>
                      </a:r>
                    </a:p>
                  </a:txBody>
                  <a:tcPr marT="27432" marB="27432"/>
                </a:tc>
                <a:tc>
                  <a:txBody>
                    <a:bodyPr/>
                    <a:lstStyle/>
                    <a:p>
                      <a:r>
                        <a:rPr sz="1600"/>
                        <a:t>97.7%</a:t>
                      </a:r>
                    </a:p>
                  </a:txBody>
                  <a:tcPr marT="27432" marB="27432"/>
                </a:tc>
                <a:tc>
                  <a:txBody>
                    <a:bodyPr/>
                    <a:lstStyle/>
                    <a:p>
                      <a:r>
                        <a:rPr sz="1600"/>
                        <a:t>0.624</a:t>
                      </a:r>
                    </a:p>
                  </a:txBody>
                  <a:tcPr marT="27432" marB="27432"/>
                </a:tc>
                <a:extLst>
                  <a:ext uri="{0D108BD9-81ED-4DB2-BD59-A6C34878D82A}">
                    <a16:rowId xmlns:a16="http://schemas.microsoft.com/office/drawing/2014/main" val="10001"/>
                  </a:ext>
                </a:extLst>
              </a:tr>
              <a:tr h="365760">
                <a:tc>
                  <a:txBody>
                    <a:bodyPr/>
                    <a:lstStyle/>
                    <a:p>
                      <a:r>
                        <a:rPr sz="1600"/>
                        <a:t>max_depth = 9</a:t>
                      </a:r>
                    </a:p>
                  </a:txBody>
                  <a:tcPr marT="27432" marB="27432"/>
                </a:tc>
                <a:tc>
                  <a:txBody>
                    <a:bodyPr/>
                    <a:lstStyle/>
                    <a:p>
                      <a:r>
                        <a:rPr sz="1600"/>
                        <a:t>86.4%</a:t>
                      </a:r>
                    </a:p>
                  </a:txBody>
                  <a:tcPr marT="27432" marB="27432"/>
                </a:tc>
                <a:tc>
                  <a:txBody>
                    <a:bodyPr/>
                    <a:lstStyle/>
                    <a:p>
                      <a:r>
                        <a:rPr sz="1600"/>
                        <a:t>0.667</a:t>
                      </a:r>
                    </a:p>
                  </a:txBody>
                  <a:tcPr marT="27432" marB="27432"/>
                </a:tc>
                <a:extLst>
                  <a:ext uri="{0D108BD9-81ED-4DB2-BD59-A6C34878D82A}">
                    <a16:rowId xmlns:a16="http://schemas.microsoft.com/office/drawing/2014/main" val="10002"/>
                  </a:ext>
                </a:extLst>
              </a:tr>
              <a:tr h="365760">
                <a:tc>
                  <a:txBody>
                    <a:bodyPr/>
                    <a:lstStyle/>
                    <a:p>
                      <a:r>
                        <a:rPr sz="1600" b="1"/>
                        <a:t>min_samples_leaf = 20 (final)</a:t>
                      </a:r>
                    </a:p>
                  </a:txBody>
                  <a:tcPr marT="27432" marB="27432"/>
                </a:tc>
                <a:tc>
                  <a:txBody>
                    <a:bodyPr/>
                    <a:lstStyle/>
                    <a:p>
                      <a:r>
                        <a:rPr sz="1600" b="1"/>
                        <a:t>87.2%</a:t>
                      </a:r>
                    </a:p>
                  </a:txBody>
                  <a:tcPr marT="27432" marB="27432"/>
                </a:tc>
                <a:tc>
                  <a:txBody>
                    <a:bodyPr/>
                    <a:lstStyle/>
                    <a:p>
                      <a:r>
                        <a:rPr sz="1600" b="1"/>
                        <a:t>0.678</a:t>
                      </a:r>
                    </a:p>
                  </a:txBody>
                  <a:tcPr marT="27432" marB="27432"/>
                </a:tc>
                <a:extLst>
                  <a:ext uri="{0D108BD9-81ED-4DB2-BD59-A6C34878D82A}">
                    <a16:rowId xmlns:a16="http://schemas.microsoft.com/office/drawing/2014/main" val="10003"/>
                  </a:ext>
                </a:extLst>
              </a:tr>
            </a:tbl>
          </a:graphicData>
        </a:graphic>
      </p:graphicFrame>
      <p:sp>
        <p:nvSpPr>
          <p:cNvPr id="4" name="Tree CV note"/>
          <p:cNvSpPr txBox="1"/>
          <p:nvPr/>
        </p:nvSpPr>
        <p:spPr>
          <a:xfrm>
            <a:off x="377734" y="3931920"/>
            <a:ext cx="6035040" cy="584775"/>
          </a:xfrm>
          <a:prstGeom prst="rect">
            <a:avLst/>
          </a:prstGeom>
          <a:noFill/>
        </p:spPr>
        <p:txBody>
          <a:bodyPr wrap="square" lIns="91440" tIns="45720" rIns="91440" bIns="45720" anchor="t">
            <a:spAutoFit/>
          </a:bodyPr>
          <a:lstStyle/>
          <a:p>
            <a:pPr>
              <a:spcAft>
                <a:spcPts val="600"/>
              </a:spcAft>
            </a:pPr>
            <a:r>
              <a:rPr sz="1600" b="0" dirty="0"/>
              <a:t>Settings chosen with 5-fold cross-validation on train. The test set is used </a:t>
            </a:r>
            <a:r>
              <a:rPr sz="1600" b="0"/>
              <a:t>only once</a:t>
            </a:r>
            <a:r>
              <a:rPr lang="pl-PL" sz="1600"/>
              <a:t> and</a:t>
            </a:r>
            <a:r>
              <a:rPr sz="1600" b="0"/>
              <a:t> for the final tree.</a:t>
            </a:r>
          </a:p>
        </p:txBody>
      </p:sp>
      <p:sp>
        <p:nvSpPr>
          <p:cNvPr id="5" name="Tree test header"/>
          <p:cNvSpPr txBox="1"/>
          <p:nvPr/>
        </p:nvSpPr>
        <p:spPr>
          <a:xfrm>
            <a:off x="377734" y="4800600"/>
            <a:ext cx="6035040" cy="411480"/>
          </a:xfrm>
          <a:prstGeom prst="rect">
            <a:avLst/>
          </a:prstGeom>
          <a:noFill/>
        </p:spPr>
        <p:txBody>
          <a:bodyPr wrap="square">
            <a:spAutoFit/>
          </a:bodyPr>
          <a:lstStyle/>
          <a:p>
            <a:pPr>
              <a:spcAft>
                <a:spcPts val="600"/>
              </a:spcAft>
            </a:pPr>
            <a:r>
              <a:rPr sz="1600" b="1"/>
              <a:t>Final tree, test set</a:t>
            </a:r>
          </a:p>
        </p:txBody>
      </p:sp>
      <p:graphicFrame>
        <p:nvGraphicFramePr>
          <p:cNvPr id="6" name="Tree metrics"/>
          <p:cNvGraphicFramePr>
            <a:graphicFrameLocks noGrp="1"/>
          </p:cNvGraphicFramePr>
          <p:nvPr>
            <p:extLst>
              <p:ext uri="{D42A27DB-BD31-4B8C-83A1-F6EECF244321}">
                <p14:modId xmlns:p14="http://schemas.microsoft.com/office/powerpoint/2010/main" val="3913326146"/>
              </p:ext>
            </p:extLst>
          </p:nvPr>
        </p:nvGraphicFramePr>
        <p:xfrm>
          <a:off x="377734" y="5257800"/>
          <a:ext cx="6035040" cy="731520"/>
        </p:xfrm>
        <a:graphic>
          <a:graphicData uri="http://schemas.openxmlformats.org/drawingml/2006/table">
            <a:tbl>
              <a:tblPr firstRow="1" bandRow="1">
                <a:tableStyleId>{5C22544A-7EE6-4342-B048-85BDC9FD1C3A}</a:tableStyleId>
              </a:tblPr>
              <a:tblGrid>
                <a:gridCol w="1207008">
                  <a:extLst>
                    <a:ext uri="{9D8B030D-6E8A-4147-A177-3AD203B41FA5}">
                      <a16:colId xmlns:a16="http://schemas.microsoft.com/office/drawing/2014/main" val="20000"/>
                    </a:ext>
                  </a:extLst>
                </a:gridCol>
                <a:gridCol w="1207008">
                  <a:extLst>
                    <a:ext uri="{9D8B030D-6E8A-4147-A177-3AD203B41FA5}">
                      <a16:colId xmlns:a16="http://schemas.microsoft.com/office/drawing/2014/main" val="20001"/>
                    </a:ext>
                  </a:extLst>
                </a:gridCol>
                <a:gridCol w="1207008">
                  <a:extLst>
                    <a:ext uri="{9D8B030D-6E8A-4147-A177-3AD203B41FA5}">
                      <a16:colId xmlns:a16="http://schemas.microsoft.com/office/drawing/2014/main" val="20002"/>
                    </a:ext>
                  </a:extLst>
                </a:gridCol>
                <a:gridCol w="1207008">
                  <a:extLst>
                    <a:ext uri="{9D8B030D-6E8A-4147-A177-3AD203B41FA5}">
                      <a16:colId xmlns:a16="http://schemas.microsoft.com/office/drawing/2014/main" val="20003"/>
                    </a:ext>
                  </a:extLst>
                </a:gridCol>
                <a:gridCol w="1207008">
                  <a:extLst>
                    <a:ext uri="{9D8B030D-6E8A-4147-A177-3AD203B41FA5}">
                      <a16:colId xmlns:a16="http://schemas.microsoft.com/office/drawing/2014/main" val="20004"/>
                    </a:ext>
                  </a:extLst>
                </a:gridCol>
              </a:tblGrid>
              <a:tr h="365760">
                <a:tc>
                  <a:txBody>
                    <a:bodyPr/>
                    <a:lstStyle/>
                    <a:p>
                      <a:r>
                        <a:rPr sz="1600"/>
                        <a:t>Accuracy</a:t>
                      </a:r>
                    </a:p>
                  </a:txBody>
                  <a:tcPr marT="27432" marB="27432"/>
                </a:tc>
                <a:tc>
                  <a:txBody>
                    <a:bodyPr/>
                    <a:lstStyle/>
                    <a:p>
                      <a:r>
                        <a:rPr sz="1600"/>
                        <a:t>Precision</a:t>
                      </a:r>
                    </a:p>
                  </a:txBody>
                  <a:tcPr marT="27432" marB="27432"/>
                </a:tc>
                <a:tc>
                  <a:txBody>
                    <a:bodyPr/>
                    <a:lstStyle/>
                    <a:p>
                      <a:r>
                        <a:rPr sz="1600"/>
                        <a:t>Recall</a:t>
                      </a:r>
                    </a:p>
                  </a:txBody>
                  <a:tcPr marT="27432" marB="27432"/>
                </a:tc>
                <a:tc>
                  <a:txBody>
                    <a:bodyPr/>
                    <a:lstStyle/>
                    <a:p>
                      <a:r>
                        <a:rPr sz="1600"/>
                        <a:t>F1</a:t>
                      </a:r>
                    </a:p>
                  </a:txBody>
                  <a:tcPr marT="27432" marB="27432"/>
                </a:tc>
                <a:tc>
                  <a:txBody>
                    <a:bodyPr/>
                    <a:lstStyle/>
                    <a:p>
                      <a:r>
                        <a:rPr sz="1600"/>
                        <a:t>ROC-AUC</a:t>
                      </a:r>
                    </a:p>
                  </a:txBody>
                  <a:tcPr marT="27432" marB="27432"/>
                </a:tc>
                <a:extLst>
                  <a:ext uri="{0D108BD9-81ED-4DB2-BD59-A6C34878D82A}">
                    <a16:rowId xmlns:a16="http://schemas.microsoft.com/office/drawing/2014/main" val="10000"/>
                  </a:ext>
                </a:extLst>
              </a:tr>
              <a:tr h="365760">
                <a:tc>
                  <a:txBody>
                    <a:bodyPr/>
                    <a:lstStyle/>
                    <a:p>
                      <a:r>
                        <a:rPr sz="1600"/>
                        <a:t>0.850</a:t>
                      </a:r>
                    </a:p>
                  </a:txBody>
                  <a:tcPr marT="27432" marB="27432"/>
                </a:tc>
                <a:tc>
                  <a:txBody>
                    <a:bodyPr/>
                    <a:lstStyle/>
                    <a:p>
                      <a:r>
                        <a:rPr sz="1600"/>
                        <a:t>0.742</a:t>
                      </a:r>
                    </a:p>
                  </a:txBody>
                  <a:tcPr marT="27432" marB="27432"/>
                </a:tc>
                <a:tc>
                  <a:txBody>
                    <a:bodyPr/>
                    <a:lstStyle/>
                    <a:p>
                      <a:r>
                        <a:rPr sz="1600"/>
                        <a:t>0.600</a:t>
                      </a:r>
                    </a:p>
                  </a:txBody>
                  <a:tcPr marT="27432" marB="27432"/>
                </a:tc>
                <a:tc>
                  <a:txBody>
                    <a:bodyPr/>
                    <a:lstStyle/>
                    <a:p>
                      <a:r>
                        <a:rPr sz="1600"/>
                        <a:t>0.663</a:t>
                      </a:r>
                    </a:p>
                  </a:txBody>
                  <a:tcPr marT="27432" marB="27432"/>
                </a:tc>
                <a:tc>
                  <a:txBody>
                    <a:bodyPr/>
                    <a:lstStyle/>
                    <a:p>
                      <a:r>
                        <a:rPr sz="1600"/>
                        <a:t>0.896</a:t>
                      </a:r>
                    </a:p>
                  </a:txBody>
                  <a:tcPr marT="27432" marB="27432"/>
                </a:tc>
                <a:extLst>
                  <a:ext uri="{0D108BD9-81ED-4DB2-BD59-A6C34878D82A}">
                    <a16:rowId xmlns:a16="http://schemas.microsoft.com/office/drawing/2014/main" val="10001"/>
                  </a:ext>
                </a:extLst>
              </a:tr>
            </a:tbl>
          </a:graphicData>
        </a:graphic>
      </p:graphicFrame>
      <p:pic>
        <p:nvPicPr>
          <p:cNvPr id="10" name="Content Placeholder 5" descr="Obraz zawierający tekst, Wykres, diagram, linia&#10;&#10;Zawartość wygenerowana przez AI może być niepoprawna.">
            <a:extLst>
              <a:ext uri="{FF2B5EF4-FFF2-40B4-BE49-F238E27FC236}">
                <a16:creationId xmlns:a16="http://schemas.microsoft.com/office/drawing/2014/main" id="{C191FE47-C0B8-4BA5-F864-972E5C5C79AC}"/>
              </a:ext>
            </a:extLst>
          </p:cNvPr>
          <p:cNvPicPr>
            <a:picLocks noChangeAspect="1"/>
          </p:cNvPicPr>
          <p:nvPr/>
        </p:nvPicPr>
        <p:blipFill>
          <a:blip r:embed="rId3"/>
          <a:srcRect r="50057" b="-620"/>
          <a:stretch>
            <a:fillRect/>
          </a:stretch>
        </p:blipFill>
        <p:spPr>
          <a:xfrm>
            <a:off x="6907108" y="31202"/>
            <a:ext cx="5331222" cy="3375224"/>
          </a:xfrm>
          <a:prstGeom prst="rect">
            <a:avLst/>
          </a:prstGeom>
        </p:spPr>
      </p:pic>
      <p:pic>
        <p:nvPicPr>
          <p:cNvPr id="15" name="Content Placeholder 5">
            <a:extLst>
              <a:ext uri="{FF2B5EF4-FFF2-40B4-BE49-F238E27FC236}">
                <a16:creationId xmlns:a16="http://schemas.microsoft.com/office/drawing/2014/main" id="{A593494B-43D3-AD21-6962-9D1F36022BD4}"/>
              </a:ext>
            </a:extLst>
          </p:cNvPr>
          <p:cNvPicPr>
            <a:picLocks noChangeAspect="1"/>
          </p:cNvPicPr>
          <p:nvPr/>
        </p:nvPicPr>
        <p:blipFill>
          <a:blip r:embed="rId3"/>
          <a:srcRect l="50000" t="-348" b="-2091"/>
          <a:stretch>
            <a:fillRect/>
          </a:stretch>
        </p:blipFill>
        <p:spPr>
          <a:xfrm>
            <a:off x="6907108" y="3333246"/>
            <a:ext cx="5324361" cy="3541639"/>
          </a:xfrm>
          <a:prstGeom prst="rect">
            <a:avLst/>
          </a:prstGeom>
        </p:spPr>
      </p:pic>
    </p:spTree>
    <p:extLst>
      <p:ext uri="{BB962C8B-B14F-4D97-AF65-F5344CB8AC3E}">
        <p14:creationId xmlns:p14="http://schemas.microsoft.com/office/powerpoint/2010/main" val="13223007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E3A0EB-7DD7-3525-FCFB-A30ABA308B44}"/>
              </a:ext>
            </a:extLst>
          </p:cNvPr>
          <p:cNvSpPr>
            <a:spLocks noGrp="1"/>
          </p:cNvSpPr>
          <p:nvPr>
            <p:ph type="title"/>
          </p:nvPr>
        </p:nvSpPr>
        <p:spPr>
          <a:xfrm>
            <a:off x="1030877" y="216081"/>
            <a:ext cx="10741152" cy="1132258"/>
          </a:xfrm>
        </p:spPr>
        <p:txBody>
          <a:bodyPr anchor="b">
            <a:normAutofit/>
          </a:bodyPr>
          <a:lstStyle/>
          <a:p>
            <a:r>
              <a:rPr lang="en-US"/>
              <a:t>Decision tree classification</a:t>
            </a:r>
          </a:p>
        </p:txBody>
      </p:sp>
      <p:pic>
        <p:nvPicPr>
          <p:cNvPr id="5" name="Symbol zastępczy zawartości 4">
            <a:extLst>
              <a:ext uri="{FF2B5EF4-FFF2-40B4-BE49-F238E27FC236}">
                <a16:creationId xmlns:a16="http://schemas.microsoft.com/office/drawing/2014/main" id="{030B27AA-C48B-3831-C357-50B09DA1F0CC}"/>
              </a:ext>
            </a:extLst>
          </p:cNvPr>
          <p:cNvPicPr>
            <a:picLocks noGrp="1" noChangeAspect="1"/>
          </p:cNvPicPr>
          <p:nvPr>
            <p:ph idx="1"/>
          </p:nvPr>
        </p:nvPicPr>
        <p:blipFill>
          <a:blip r:embed="rId2"/>
          <a:stretch>
            <a:fillRect/>
          </a:stretch>
        </p:blipFill>
        <p:spPr>
          <a:xfrm>
            <a:off x="-5516" y="1713107"/>
            <a:ext cx="5764241" cy="4557608"/>
          </a:xfrm>
          <a:prstGeom prst="rect">
            <a:avLst/>
          </a:prstGeom>
        </p:spPr>
      </p:pic>
      <p:pic>
        <p:nvPicPr>
          <p:cNvPr id="7" name="Obraz 6">
            <a:extLst>
              <a:ext uri="{FF2B5EF4-FFF2-40B4-BE49-F238E27FC236}">
                <a16:creationId xmlns:a16="http://schemas.microsoft.com/office/drawing/2014/main" id="{582D85FF-0EEE-46DF-076E-5832F7280262}"/>
              </a:ext>
            </a:extLst>
          </p:cNvPr>
          <p:cNvPicPr>
            <a:picLocks noChangeAspect="1"/>
          </p:cNvPicPr>
          <p:nvPr/>
        </p:nvPicPr>
        <p:blipFill>
          <a:blip r:embed="rId3"/>
          <a:stretch>
            <a:fillRect/>
          </a:stretch>
        </p:blipFill>
        <p:spPr>
          <a:xfrm>
            <a:off x="5748812" y="1714500"/>
            <a:ext cx="6436593" cy="4558394"/>
          </a:xfrm>
          <a:prstGeom prst="rect">
            <a:avLst/>
          </a:prstGeom>
        </p:spPr>
      </p:pic>
    </p:spTree>
    <p:extLst>
      <p:ext uri="{BB962C8B-B14F-4D97-AF65-F5344CB8AC3E}">
        <p14:creationId xmlns:p14="http://schemas.microsoft.com/office/powerpoint/2010/main" val="7431388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Model comparison</a:t>
            </a:r>
          </a:p>
        </p:txBody>
      </p:sp>
      <p:sp>
        <p:nvSpPr>
          <p:cNvPr id="3" name="Comparison info"/>
          <p:cNvSpPr txBox="1"/>
          <p:nvPr/>
        </p:nvSpPr>
        <p:spPr>
          <a:xfrm>
            <a:off x="731520" y="2057400"/>
            <a:ext cx="5943600" cy="411480"/>
          </a:xfrm>
          <a:prstGeom prst="rect">
            <a:avLst/>
          </a:prstGeom>
          <a:noFill/>
        </p:spPr>
        <p:txBody>
          <a:bodyPr wrap="square">
            <a:spAutoFit/>
          </a:bodyPr>
          <a:lstStyle/>
          <a:p>
            <a:pPr marL="0" indent="0">
              <a:spcAft>
                <a:spcPts val="600"/>
              </a:spcAft>
              <a:buNone/>
            </a:pPr>
            <a:r>
              <a:rPr sz="1600" b="0"/>
              <a:t>Test accuracy, same train/test split</a:t>
            </a:r>
          </a:p>
        </p:txBody>
      </p:sp>
      <p:graphicFrame>
        <p:nvGraphicFramePr>
          <p:cNvPr id="4" name="Comparison table"/>
          <p:cNvGraphicFramePr>
            <a:graphicFrameLocks noGrp="1"/>
          </p:cNvGraphicFramePr>
          <p:nvPr>
            <p:extLst>
              <p:ext uri="{D42A27DB-BD31-4B8C-83A1-F6EECF244321}">
                <p14:modId xmlns:p14="http://schemas.microsoft.com/office/powerpoint/2010/main" val="3501833439"/>
              </p:ext>
            </p:extLst>
          </p:nvPr>
        </p:nvGraphicFramePr>
        <p:xfrm>
          <a:off x="731520" y="2560320"/>
          <a:ext cx="6035040" cy="3200400"/>
        </p:xfrm>
        <a:graphic>
          <a:graphicData uri="http://schemas.openxmlformats.org/drawingml/2006/table">
            <a:tbl>
              <a:tblPr firstRow="1" bandRow="1">
                <a:tableStyleId>{5C22544A-7EE6-4342-B048-85BDC9FD1C3A}</a:tableStyleId>
              </a:tblPr>
              <a:tblGrid>
                <a:gridCol w="457200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tblGrid>
              <a:tr h="457200">
                <a:tc>
                  <a:txBody>
                    <a:bodyPr/>
                    <a:lstStyle/>
                    <a:p>
                      <a:r>
                        <a:rPr sz="1600" b="1"/>
                        <a:t>Model</a:t>
                      </a:r>
                    </a:p>
                  </a:txBody>
                  <a:tcPr marT="36576" marB="36576"/>
                </a:tc>
                <a:tc>
                  <a:txBody>
                    <a:bodyPr/>
                    <a:lstStyle/>
                    <a:p>
                      <a:pPr algn="ctr"/>
                      <a:r>
                        <a:rPr sz="1600" b="1"/>
                        <a:t>Accuracy</a:t>
                      </a:r>
                    </a:p>
                  </a:txBody>
                  <a:tcPr marT="36576" marB="36576"/>
                </a:tc>
                <a:extLst>
                  <a:ext uri="{0D108BD9-81ED-4DB2-BD59-A6C34878D82A}">
                    <a16:rowId xmlns:a16="http://schemas.microsoft.com/office/drawing/2014/main" val="10000"/>
                  </a:ext>
                </a:extLst>
              </a:tr>
              <a:tr h="457200">
                <a:tc>
                  <a:txBody>
                    <a:bodyPr/>
                    <a:lstStyle/>
                    <a:p>
                      <a:r>
                        <a:rPr sz="1600"/>
                        <a:t>Always predicting &lt;=50K (baseline)</a:t>
                      </a:r>
                    </a:p>
                  </a:txBody>
                  <a:tcPr marT="36576" marB="36576"/>
                </a:tc>
                <a:tc>
                  <a:txBody>
                    <a:bodyPr/>
                    <a:lstStyle/>
                    <a:p>
                      <a:pPr algn="ctr"/>
                      <a:r>
                        <a:rPr lang="pl-PL" sz="1600"/>
                        <a:t>75.4</a:t>
                      </a:r>
                      <a:r>
                        <a:rPr sz="1600"/>
                        <a:t>%</a:t>
                      </a:r>
                    </a:p>
                  </a:txBody>
                  <a:tcPr marT="36576" marB="36576"/>
                </a:tc>
                <a:extLst>
                  <a:ext uri="{0D108BD9-81ED-4DB2-BD59-A6C34878D82A}">
                    <a16:rowId xmlns:a16="http://schemas.microsoft.com/office/drawing/2014/main" val="10001"/>
                  </a:ext>
                </a:extLst>
              </a:tr>
              <a:tr h="457200">
                <a:tc>
                  <a:txBody>
                    <a:bodyPr/>
                    <a:lstStyle/>
                    <a:p>
                      <a:r>
                        <a:rPr sz="1600"/>
                        <a:t>Naive Bayes (published)</a:t>
                      </a:r>
                    </a:p>
                  </a:txBody>
                  <a:tcPr marT="36576" marB="36576"/>
                </a:tc>
                <a:tc>
                  <a:txBody>
                    <a:bodyPr/>
                    <a:lstStyle/>
                    <a:p>
                      <a:pPr algn="ctr"/>
                      <a:r>
                        <a:rPr lang="pl-PL" sz="1600"/>
                        <a:t>83.9</a:t>
                      </a:r>
                      <a:r>
                        <a:rPr sz="1600"/>
                        <a:t>%</a:t>
                      </a:r>
                    </a:p>
                  </a:txBody>
                  <a:tcPr marT="36576" marB="36576"/>
                </a:tc>
                <a:extLst>
                  <a:ext uri="{0D108BD9-81ED-4DB2-BD59-A6C34878D82A}">
                    <a16:rowId xmlns:a16="http://schemas.microsoft.com/office/drawing/2014/main" val="10002"/>
                  </a:ext>
                </a:extLst>
              </a:tr>
              <a:tr h="457200">
                <a:tc>
                  <a:txBody>
                    <a:bodyPr/>
                    <a:lstStyle/>
                    <a:p>
                      <a:r>
                        <a:rPr sz="1600"/>
                        <a:t>C4.5 decision tree (published)</a:t>
                      </a:r>
                    </a:p>
                  </a:txBody>
                  <a:tcPr marT="36576" marB="36576"/>
                </a:tc>
                <a:tc>
                  <a:txBody>
                    <a:bodyPr/>
                    <a:lstStyle/>
                    <a:p>
                      <a:pPr algn="ctr"/>
                      <a:r>
                        <a:rPr lang="pl-PL" sz="1600"/>
                        <a:t>84.5</a:t>
                      </a:r>
                      <a:r>
                        <a:rPr sz="1600"/>
                        <a:t>%</a:t>
                      </a:r>
                    </a:p>
                  </a:txBody>
                  <a:tcPr marT="36576" marB="36576"/>
                </a:tc>
                <a:extLst>
                  <a:ext uri="{0D108BD9-81ED-4DB2-BD59-A6C34878D82A}">
                    <a16:rowId xmlns:a16="http://schemas.microsoft.com/office/drawing/2014/main" val="10003"/>
                  </a:ext>
                </a:extLst>
              </a:tr>
              <a:tr h="457200">
                <a:tc>
                  <a:txBody>
                    <a:bodyPr/>
                    <a:lstStyle/>
                    <a:p>
                      <a:r>
                        <a:rPr sz="1600" b="1"/>
                        <a:t>Our logistic regression</a:t>
                      </a:r>
                    </a:p>
                  </a:txBody>
                  <a:tcPr marT="36576" marB="36576"/>
                </a:tc>
                <a:tc>
                  <a:txBody>
                    <a:bodyPr/>
                    <a:lstStyle/>
                    <a:p>
                      <a:pPr algn="ctr"/>
                      <a:r>
                        <a:rPr lang="pl-PL" sz="1600" b="1"/>
                        <a:t>84.9</a:t>
                      </a:r>
                      <a:r>
                        <a:rPr sz="1600" b="1"/>
                        <a:t>%</a:t>
                      </a:r>
                    </a:p>
                  </a:txBody>
                  <a:tcPr marT="36576" marB="36576"/>
                </a:tc>
                <a:extLst>
                  <a:ext uri="{0D108BD9-81ED-4DB2-BD59-A6C34878D82A}">
                    <a16:rowId xmlns:a16="http://schemas.microsoft.com/office/drawing/2014/main" val="10004"/>
                  </a:ext>
                </a:extLst>
              </a:tr>
              <a:tr h="457200">
                <a:tc>
                  <a:txBody>
                    <a:bodyPr/>
                    <a:lstStyle/>
                    <a:p>
                      <a:r>
                        <a:rPr sz="1600" b="1"/>
                        <a:t>Our decision tree</a:t>
                      </a:r>
                    </a:p>
                  </a:txBody>
                  <a:tcPr marT="36576" marB="36576"/>
                </a:tc>
                <a:tc>
                  <a:txBody>
                    <a:bodyPr/>
                    <a:lstStyle/>
                    <a:p>
                      <a:pPr algn="ctr"/>
                      <a:r>
                        <a:rPr lang="pl-PL" sz="1600" b="1"/>
                        <a:t>85.0</a:t>
                      </a:r>
                      <a:r>
                        <a:rPr sz="1600" b="1"/>
                        <a:t>%</a:t>
                      </a:r>
                    </a:p>
                  </a:txBody>
                  <a:tcPr marT="36576" marB="36576"/>
                </a:tc>
                <a:extLst>
                  <a:ext uri="{0D108BD9-81ED-4DB2-BD59-A6C34878D82A}">
                    <a16:rowId xmlns:a16="http://schemas.microsoft.com/office/drawing/2014/main" val="10005"/>
                  </a:ext>
                </a:extLst>
              </a:tr>
              <a:tr h="457200">
                <a:tc>
                  <a:txBody>
                    <a:bodyPr/>
                    <a:lstStyle/>
                    <a:p>
                      <a:r>
                        <a:rPr sz="1600" err="1"/>
                        <a:t>NBTree</a:t>
                      </a:r>
                      <a:r>
                        <a:rPr sz="1600"/>
                        <a:t> (best published)</a:t>
                      </a:r>
                    </a:p>
                  </a:txBody>
                  <a:tcPr marT="36576" marB="36576"/>
                </a:tc>
                <a:tc>
                  <a:txBody>
                    <a:bodyPr/>
                    <a:lstStyle/>
                    <a:p>
                      <a:pPr algn="ctr"/>
                      <a:r>
                        <a:rPr lang="pl-PL" sz="1600"/>
                        <a:t>85.9</a:t>
                      </a:r>
                      <a:r>
                        <a:rPr sz="1600"/>
                        <a:t>%</a:t>
                      </a:r>
                    </a:p>
                  </a:txBody>
                  <a:tcPr marT="36576" marB="36576"/>
                </a:tc>
                <a:extLst>
                  <a:ext uri="{0D108BD9-81ED-4DB2-BD59-A6C34878D82A}">
                    <a16:rowId xmlns:a16="http://schemas.microsoft.com/office/drawing/2014/main" val="10006"/>
                  </a:ext>
                </a:extLst>
              </a:tr>
            </a:tbl>
          </a:graphicData>
        </a:graphic>
      </p:graphicFrame>
      <p:sp>
        <p:nvSpPr>
          <p:cNvPr id="5" name="Comparison points"/>
          <p:cNvSpPr txBox="1"/>
          <p:nvPr/>
        </p:nvSpPr>
        <p:spPr>
          <a:xfrm>
            <a:off x="7223760" y="2560320"/>
            <a:ext cx="4206240" cy="3291840"/>
          </a:xfrm>
          <a:prstGeom prst="rect">
            <a:avLst/>
          </a:prstGeom>
          <a:noFill/>
        </p:spPr>
        <p:txBody>
          <a:bodyPr wrap="square">
            <a:spAutoFit/>
          </a:bodyPr>
          <a:lstStyle/>
          <a:p>
            <a:pPr marL="285750" indent="-285750">
              <a:spcAft>
                <a:spcPts val="1400"/>
              </a:spcAft>
              <a:buFont typeface="Arial"/>
              <a:buChar char="•"/>
            </a:pPr>
            <a:r>
              <a:rPr sz="1800" b="0"/>
              <a:t>Both models ≈ 85%, in the published range (84–86%)</a:t>
            </a:r>
          </a:p>
          <a:p>
            <a:pPr marL="285750" indent="-285750">
              <a:spcAft>
                <a:spcPts val="1400"/>
              </a:spcAft>
              <a:buFont typeface="Arial"/>
              <a:buChar char="•"/>
            </a:pPr>
            <a:r>
              <a:rPr sz="1800" b="0"/>
              <a:t>Two very different models, same result: the limit is in the data</a:t>
            </a:r>
          </a:p>
          <a:p>
            <a:pPr marL="285750" indent="-285750">
              <a:spcAft>
                <a:spcPts val="1400"/>
              </a:spcAft>
              <a:buFont typeface="Arial"/>
              <a:buChar char="•"/>
            </a:pPr>
            <a:r>
              <a:rPr sz="1800" b="0"/>
              <a:t>About 40% of high earners look like low earners in these variables</a:t>
            </a:r>
          </a:p>
        </p:txBody>
      </p:sp>
    </p:spTree>
    <p:extLst>
      <p:ext uri="{BB962C8B-B14F-4D97-AF65-F5344CB8AC3E}">
        <p14:creationId xmlns:p14="http://schemas.microsoft.com/office/powerpoint/2010/main" val="16576435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Top Corners Snipped 2">
            <a:extLst>
              <a:ext uri="{FF2B5EF4-FFF2-40B4-BE49-F238E27FC236}">
                <a16:creationId xmlns:a16="http://schemas.microsoft.com/office/drawing/2014/main" id="{77C1ECBE-6B0C-E19D-9AC7-A601D59C934C}"/>
              </a:ext>
            </a:extLst>
          </p:cNvPr>
          <p:cNvSpPr/>
          <p:nvPr/>
        </p:nvSpPr>
        <p:spPr>
          <a:xfrm>
            <a:off x="5977351" y="25830"/>
            <a:ext cx="6306089" cy="6832170"/>
          </a:xfrm>
          <a:prstGeom prst="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16560" y="20320"/>
            <a:ext cx="5031232" cy="1701218"/>
          </a:xfrm>
        </p:spPr>
        <p:txBody>
          <a:bodyPr/>
          <a:lstStyle/>
          <a:p>
            <a:r>
              <a:t>Clustering </a:t>
            </a:r>
            <a:br>
              <a:rPr lang="pl-PL"/>
            </a:br>
            <a:r>
              <a:t>(k-means)</a:t>
            </a:r>
          </a:p>
        </p:txBody>
      </p:sp>
      <p:sp>
        <p:nvSpPr>
          <p:cNvPr id="3" name="Clustering text"/>
          <p:cNvSpPr txBox="1"/>
          <p:nvPr/>
        </p:nvSpPr>
        <p:spPr>
          <a:xfrm>
            <a:off x="396240" y="1981200"/>
            <a:ext cx="5219008" cy="1041311"/>
          </a:xfrm>
          <a:prstGeom prst="rect">
            <a:avLst/>
          </a:prstGeom>
          <a:noFill/>
        </p:spPr>
        <p:txBody>
          <a:bodyPr wrap="square">
            <a:spAutoFit/>
          </a:bodyPr>
          <a:lstStyle/>
          <a:p>
            <a:pPr>
              <a:spcAft>
                <a:spcPts val="200"/>
              </a:spcAft>
            </a:pPr>
            <a:r>
              <a:rPr sz="1500" b="0"/>
              <a:t>k-means on train, 7 standardized features (age, education-num, hours-per-week, capital-gain-log, capital-loss-log, sex, is-married). Income is not used.</a:t>
            </a:r>
          </a:p>
          <a:p>
            <a:pPr>
              <a:spcAft>
                <a:spcPts val="200"/>
              </a:spcAft>
            </a:pPr>
            <a:r>
              <a:rPr sz="1500" b="0"/>
              <a:t>Elbow method and silhouette (0.317) both choose k = 5.</a:t>
            </a:r>
          </a:p>
        </p:txBody>
      </p:sp>
      <p:graphicFrame>
        <p:nvGraphicFramePr>
          <p:cNvPr id="4" name="Clusters"/>
          <p:cNvGraphicFramePr>
            <a:graphicFrameLocks noGrp="1"/>
          </p:cNvGraphicFramePr>
          <p:nvPr>
            <p:extLst>
              <p:ext uri="{D42A27DB-BD31-4B8C-83A1-F6EECF244321}">
                <p14:modId xmlns:p14="http://schemas.microsoft.com/office/powerpoint/2010/main" val="541278898"/>
              </p:ext>
            </p:extLst>
          </p:nvPr>
        </p:nvGraphicFramePr>
        <p:xfrm>
          <a:off x="467360" y="2987040"/>
          <a:ext cx="5084529" cy="3475158"/>
        </p:xfrm>
        <a:graphic>
          <a:graphicData uri="http://schemas.openxmlformats.org/drawingml/2006/table">
            <a:tbl>
              <a:tblPr firstRow="1" bandRow="1">
                <a:tableStyleId>{5C22544A-7EE6-4342-B048-85BDC9FD1C3A}</a:tableStyleId>
              </a:tblPr>
              <a:tblGrid>
                <a:gridCol w="782234">
                  <a:extLst>
                    <a:ext uri="{9D8B030D-6E8A-4147-A177-3AD203B41FA5}">
                      <a16:colId xmlns:a16="http://schemas.microsoft.com/office/drawing/2014/main" val="20000"/>
                    </a:ext>
                  </a:extLst>
                </a:gridCol>
                <a:gridCol w="2503155">
                  <a:extLst>
                    <a:ext uri="{9D8B030D-6E8A-4147-A177-3AD203B41FA5}">
                      <a16:colId xmlns:a16="http://schemas.microsoft.com/office/drawing/2014/main" val="20001"/>
                    </a:ext>
                  </a:extLst>
                </a:gridCol>
                <a:gridCol w="782234">
                  <a:extLst>
                    <a:ext uri="{9D8B030D-6E8A-4147-A177-3AD203B41FA5}">
                      <a16:colId xmlns:a16="http://schemas.microsoft.com/office/drawing/2014/main" val="20002"/>
                    </a:ext>
                  </a:extLst>
                </a:gridCol>
                <a:gridCol w="1016906">
                  <a:extLst>
                    <a:ext uri="{9D8B030D-6E8A-4147-A177-3AD203B41FA5}">
                      <a16:colId xmlns:a16="http://schemas.microsoft.com/office/drawing/2014/main" val="20003"/>
                    </a:ext>
                  </a:extLst>
                </a:gridCol>
              </a:tblGrid>
              <a:tr h="579193">
                <a:tc>
                  <a:txBody>
                    <a:bodyPr/>
                    <a:lstStyle/>
                    <a:p>
                      <a:r>
                        <a:rPr sz="1500"/>
                        <a:t>Cluster</a:t>
                      </a:r>
                    </a:p>
                  </a:txBody>
                  <a:tcPr marT="27432" marB="27432"/>
                </a:tc>
                <a:tc>
                  <a:txBody>
                    <a:bodyPr/>
                    <a:lstStyle/>
                    <a:p>
                      <a:r>
                        <a:rPr sz="1500"/>
                        <a:t>Who</a:t>
                      </a:r>
                    </a:p>
                  </a:txBody>
                  <a:tcPr marT="27432" marB="27432"/>
                </a:tc>
                <a:tc>
                  <a:txBody>
                    <a:bodyPr/>
                    <a:lstStyle/>
                    <a:p>
                      <a:r>
                        <a:rPr sz="1500"/>
                        <a:t>Share</a:t>
                      </a:r>
                    </a:p>
                  </a:txBody>
                  <a:tcPr marT="27432" marB="27432"/>
                </a:tc>
                <a:tc>
                  <a:txBody>
                    <a:bodyPr/>
                    <a:lstStyle/>
                    <a:p>
                      <a:r>
                        <a:rPr sz="1500"/>
                        <a:t>Earn &gt;50K</a:t>
                      </a:r>
                    </a:p>
                  </a:txBody>
                  <a:tcPr marT="27432" marB="27432"/>
                </a:tc>
                <a:extLst>
                  <a:ext uri="{0D108BD9-81ED-4DB2-BD59-A6C34878D82A}">
                    <a16:rowId xmlns:a16="http://schemas.microsoft.com/office/drawing/2014/main" val="10000"/>
                  </a:ext>
                </a:extLst>
              </a:tr>
              <a:tr h="579193">
                <a:tc>
                  <a:txBody>
                    <a:bodyPr/>
                    <a:lstStyle/>
                    <a:p>
                      <a:r>
                        <a:rPr sz="1500"/>
                        <a:t>0</a:t>
                      </a:r>
                    </a:p>
                  </a:txBody>
                  <a:tcPr marT="27432" marB="27432"/>
                </a:tc>
                <a:tc>
                  <a:txBody>
                    <a:bodyPr/>
                    <a:lstStyle/>
                    <a:p>
                      <a:r>
                        <a:rPr sz="1500"/>
                        <a:t>Young single men (~32)</a:t>
                      </a:r>
                    </a:p>
                  </a:txBody>
                  <a:tcPr marT="27432" marB="27432"/>
                </a:tc>
                <a:tc>
                  <a:txBody>
                    <a:bodyPr/>
                    <a:lstStyle/>
                    <a:p>
                      <a:r>
                        <a:rPr sz="1500"/>
                        <a:t>23%</a:t>
                      </a:r>
                    </a:p>
                  </a:txBody>
                  <a:tcPr marT="27432" marB="27432"/>
                </a:tc>
                <a:tc>
                  <a:txBody>
                    <a:bodyPr/>
                    <a:lstStyle/>
                    <a:p>
                      <a:r>
                        <a:rPr sz="1500"/>
                        <a:t>6.1%</a:t>
                      </a:r>
                    </a:p>
                  </a:txBody>
                  <a:tcPr marT="27432" marB="27432"/>
                </a:tc>
                <a:extLst>
                  <a:ext uri="{0D108BD9-81ED-4DB2-BD59-A6C34878D82A}">
                    <a16:rowId xmlns:a16="http://schemas.microsoft.com/office/drawing/2014/main" val="10001"/>
                  </a:ext>
                </a:extLst>
              </a:tr>
              <a:tr h="579193">
                <a:tc>
                  <a:txBody>
                    <a:bodyPr/>
                    <a:lstStyle/>
                    <a:p>
                      <a:r>
                        <a:rPr sz="1500"/>
                        <a:t>1</a:t>
                      </a:r>
                    </a:p>
                  </a:txBody>
                  <a:tcPr marT="27432" marB="27432"/>
                </a:tc>
                <a:tc>
                  <a:txBody>
                    <a:bodyPr/>
                    <a:lstStyle/>
                    <a:p>
                      <a:r>
                        <a:rPr sz="1500"/>
                        <a:t>Capital loss (~42)</a:t>
                      </a:r>
                    </a:p>
                  </a:txBody>
                  <a:tcPr marT="27432" marB="27432"/>
                </a:tc>
                <a:tc>
                  <a:txBody>
                    <a:bodyPr/>
                    <a:lstStyle/>
                    <a:p>
                      <a:r>
                        <a:rPr sz="1500"/>
                        <a:t>5%</a:t>
                      </a:r>
                    </a:p>
                  </a:txBody>
                  <a:tcPr marT="27432" marB="27432"/>
                </a:tc>
                <a:tc>
                  <a:txBody>
                    <a:bodyPr/>
                    <a:lstStyle/>
                    <a:p>
                      <a:r>
                        <a:rPr sz="1500"/>
                        <a:t>51.6%</a:t>
                      </a:r>
                    </a:p>
                  </a:txBody>
                  <a:tcPr marT="27432" marB="27432"/>
                </a:tc>
                <a:extLst>
                  <a:ext uri="{0D108BD9-81ED-4DB2-BD59-A6C34878D82A}">
                    <a16:rowId xmlns:a16="http://schemas.microsoft.com/office/drawing/2014/main" val="10002"/>
                  </a:ext>
                </a:extLst>
              </a:tr>
              <a:tr h="579193">
                <a:tc>
                  <a:txBody>
                    <a:bodyPr/>
                    <a:lstStyle/>
                    <a:p>
                      <a:r>
                        <a:rPr sz="1500"/>
                        <a:t>2</a:t>
                      </a:r>
                    </a:p>
                  </a:txBody>
                  <a:tcPr marT="27432" marB="27432"/>
                </a:tc>
                <a:tc>
                  <a:txBody>
                    <a:bodyPr/>
                    <a:lstStyle/>
                    <a:p>
                      <a:r>
                        <a:rPr sz="1500"/>
                        <a:t>Capital gain (~44)</a:t>
                      </a:r>
                    </a:p>
                  </a:txBody>
                  <a:tcPr marT="27432" marB="27432"/>
                </a:tc>
                <a:tc>
                  <a:txBody>
                    <a:bodyPr/>
                    <a:lstStyle/>
                    <a:p>
                      <a:r>
                        <a:rPr sz="1500"/>
                        <a:t>8%</a:t>
                      </a:r>
                    </a:p>
                  </a:txBody>
                  <a:tcPr marT="27432" marB="27432"/>
                </a:tc>
                <a:tc>
                  <a:txBody>
                    <a:bodyPr/>
                    <a:lstStyle/>
                    <a:p>
                      <a:r>
                        <a:rPr sz="1500"/>
                        <a:t>63.8%</a:t>
                      </a:r>
                    </a:p>
                  </a:txBody>
                  <a:tcPr marT="27432" marB="27432"/>
                </a:tc>
                <a:extLst>
                  <a:ext uri="{0D108BD9-81ED-4DB2-BD59-A6C34878D82A}">
                    <a16:rowId xmlns:a16="http://schemas.microsoft.com/office/drawing/2014/main" val="10003"/>
                  </a:ext>
                </a:extLst>
              </a:tr>
              <a:tr h="579193">
                <a:tc>
                  <a:txBody>
                    <a:bodyPr/>
                    <a:lstStyle/>
                    <a:p>
                      <a:r>
                        <a:rPr sz="1500"/>
                        <a:t>3</a:t>
                      </a:r>
                    </a:p>
                  </a:txBody>
                  <a:tcPr marT="27432" marB="27432"/>
                </a:tc>
                <a:tc>
                  <a:txBody>
                    <a:bodyPr/>
                    <a:lstStyle/>
                    <a:p>
                      <a:r>
                        <a:rPr sz="1500"/>
                        <a:t>Women, mostly not married</a:t>
                      </a:r>
                    </a:p>
                  </a:txBody>
                  <a:tcPr marT="27432" marB="27432"/>
                </a:tc>
                <a:tc>
                  <a:txBody>
                    <a:bodyPr/>
                    <a:lstStyle/>
                    <a:p>
                      <a:r>
                        <a:rPr sz="1500"/>
                        <a:t>29%</a:t>
                      </a:r>
                    </a:p>
                  </a:txBody>
                  <a:tcPr marT="27432" marB="27432"/>
                </a:tc>
                <a:tc>
                  <a:txBody>
                    <a:bodyPr/>
                    <a:lstStyle/>
                    <a:p>
                      <a:r>
                        <a:rPr sz="1500"/>
                        <a:t>8.2%</a:t>
                      </a:r>
                    </a:p>
                  </a:txBody>
                  <a:tcPr marT="27432" marB="27432"/>
                </a:tc>
                <a:extLst>
                  <a:ext uri="{0D108BD9-81ED-4DB2-BD59-A6C34878D82A}">
                    <a16:rowId xmlns:a16="http://schemas.microsoft.com/office/drawing/2014/main" val="10004"/>
                  </a:ext>
                </a:extLst>
              </a:tr>
              <a:tr h="579193">
                <a:tc>
                  <a:txBody>
                    <a:bodyPr/>
                    <a:lstStyle/>
                    <a:p>
                      <a:r>
                        <a:rPr sz="1500"/>
                        <a:t>4</a:t>
                      </a:r>
                    </a:p>
                  </a:txBody>
                  <a:tcPr marT="27432" marB="27432"/>
                </a:tc>
                <a:tc>
                  <a:txBody>
                    <a:bodyPr/>
                    <a:lstStyle/>
                    <a:p>
                      <a:r>
                        <a:rPr sz="1500"/>
                        <a:t>Married men (~43)</a:t>
                      </a:r>
                    </a:p>
                  </a:txBody>
                  <a:tcPr marT="27432" marB="27432"/>
                </a:tc>
                <a:tc>
                  <a:txBody>
                    <a:bodyPr/>
                    <a:lstStyle/>
                    <a:p>
                      <a:r>
                        <a:rPr sz="1500"/>
                        <a:t>35%</a:t>
                      </a:r>
                    </a:p>
                  </a:txBody>
                  <a:tcPr marT="27432" marB="27432"/>
                </a:tc>
                <a:tc>
                  <a:txBody>
                    <a:bodyPr/>
                    <a:lstStyle/>
                    <a:p>
                      <a:r>
                        <a:rPr sz="1500"/>
                        <a:t>38.6%</a:t>
                      </a:r>
                    </a:p>
                  </a:txBody>
                  <a:tcPr marT="27432" marB="27432"/>
                </a:tc>
                <a:extLst>
                  <a:ext uri="{0D108BD9-81ED-4DB2-BD59-A6C34878D82A}">
                    <a16:rowId xmlns:a16="http://schemas.microsoft.com/office/drawing/2014/main" val="10005"/>
                  </a:ext>
                </a:extLst>
              </a:tr>
            </a:tbl>
          </a:graphicData>
        </a:graphic>
      </p:graphicFrame>
      <p:pic>
        <p:nvPicPr>
          <p:cNvPr id="6" name="Picture 5">
            <a:extLst>
              <a:ext uri="{FF2B5EF4-FFF2-40B4-BE49-F238E27FC236}">
                <a16:creationId xmlns:a16="http://schemas.microsoft.com/office/drawing/2014/main" id="{7685B507-1F90-2A26-9846-9A880996178F}"/>
              </a:ext>
            </a:extLst>
          </p:cNvPr>
          <p:cNvPicPr>
            <a:picLocks noChangeAspect="1"/>
          </p:cNvPicPr>
          <p:nvPr/>
        </p:nvPicPr>
        <p:blipFill>
          <a:blip r:embed="rId3"/>
          <a:srcRect r="49000" b="254"/>
          <a:stretch>
            <a:fillRect/>
          </a:stretch>
        </p:blipFill>
        <p:spPr>
          <a:xfrm>
            <a:off x="6315731" y="103930"/>
            <a:ext cx="5624851" cy="3448379"/>
          </a:xfrm>
          <a:prstGeom prst="rect">
            <a:avLst/>
          </a:prstGeom>
        </p:spPr>
      </p:pic>
      <p:pic>
        <p:nvPicPr>
          <p:cNvPr id="7" name="Picture 6">
            <a:extLst>
              <a:ext uri="{FF2B5EF4-FFF2-40B4-BE49-F238E27FC236}">
                <a16:creationId xmlns:a16="http://schemas.microsoft.com/office/drawing/2014/main" id="{5A9DCA46-41F9-86D9-2C1A-B91E1EB6D861}"/>
              </a:ext>
            </a:extLst>
          </p:cNvPr>
          <p:cNvPicPr>
            <a:picLocks noChangeAspect="1"/>
          </p:cNvPicPr>
          <p:nvPr/>
        </p:nvPicPr>
        <p:blipFill>
          <a:blip r:embed="rId3"/>
          <a:srcRect l="50911" b="440"/>
          <a:stretch>
            <a:fillRect/>
          </a:stretch>
        </p:blipFill>
        <p:spPr>
          <a:xfrm>
            <a:off x="6312299" y="3367184"/>
            <a:ext cx="5628285" cy="335053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EFA320-C11E-BB75-A300-9268B15DB421}"/>
              </a:ext>
            </a:extLst>
          </p:cNvPr>
          <p:cNvSpPr>
            <a:spLocks noGrp="1"/>
          </p:cNvSpPr>
          <p:nvPr>
            <p:ph type="title"/>
          </p:nvPr>
        </p:nvSpPr>
        <p:spPr>
          <a:xfrm>
            <a:off x="2500910" y="-357494"/>
            <a:ext cx="10741152" cy="1132258"/>
          </a:xfrm>
        </p:spPr>
        <p:txBody>
          <a:bodyPr anchor="b">
            <a:normAutofit/>
          </a:bodyPr>
          <a:lstStyle/>
          <a:p>
            <a:r>
              <a:rPr lang="en-US"/>
              <a:t>Clustering (k-means)</a:t>
            </a:r>
          </a:p>
        </p:txBody>
      </p:sp>
      <p:pic>
        <p:nvPicPr>
          <p:cNvPr id="6" name="Content Placeholder 5">
            <a:extLst>
              <a:ext uri="{FF2B5EF4-FFF2-40B4-BE49-F238E27FC236}">
                <a16:creationId xmlns:a16="http://schemas.microsoft.com/office/drawing/2014/main" id="{41703591-10B2-AD36-2E7D-EE4222EC4119}"/>
              </a:ext>
            </a:extLst>
          </p:cNvPr>
          <p:cNvPicPr>
            <a:picLocks noGrp="1" noChangeAspect="1"/>
          </p:cNvPicPr>
          <p:nvPr>
            <p:ph idx="1"/>
          </p:nvPr>
        </p:nvPicPr>
        <p:blipFill>
          <a:blip r:embed="rId2"/>
          <a:stretch>
            <a:fillRect/>
          </a:stretch>
        </p:blipFill>
        <p:spPr>
          <a:xfrm>
            <a:off x="1461296" y="780442"/>
            <a:ext cx="9256647" cy="5971135"/>
          </a:xfrm>
          <a:prstGeom prst="rect">
            <a:avLst/>
          </a:prstGeom>
        </p:spPr>
      </p:pic>
    </p:spTree>
    <p:extLst>
      <p:ext uri="{BB962C8B-B14F-4D97-AF65-F5344CB8AC3E}">
        <p14:creationId xmlns:p14="http://schemas.microsoft.com/office/powerpoint/2010/main" val="9833191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Conclusions</a:t>
            </a:r>
          </a:p>
        </p:txBody>
      </p:sp>
      <p:sp>
        <p:nvSpPr>
          <p:cNvPr id="3" name="Content Placeholder 2"/>
          <p:cNvSpPr>
            <a:spLocks noGrp="1"/>
          </p:cNvSpPr>
          <p:nvPr>
            <p:ph sz="quarter" idx="13"/>
          </p:nvPr>
        </p:nvSpPr>
        <p:spPr/>
        <p:txBody>
          <a:bodyPr vert="horz" lIns="91440" tIns="45720" rIns="91440" bIns="45720" rtlCol="0" anchor="t">
            <a:normAutofit/>
          </a:bodyPr>
          <a:lstStyle/>
          <a:p>
            <a:pPr>
              <a:spcAft>
                <a:spcPts val="800"/>
              </a:spcAft>
            </a:pPr>
            <a:r>
              <a:rPr sz="1800"/>
              <a:t>Being married, education, capital gains and age are the factors most related to income in every part of the analysis.</a:t>
            </a:r>
          </a:p>
          <a:p>
            <a:pPr>
              <a:spcAft>
                <a:spcPts val="800"/>
              </a:spcAft>
            </a:pPr>
            <a:r>
              <a:rPr sz="1800"/>
              <a:t>Men work about 6 hours more per week and earn more than $50K almost three times as often as women (31.3% vs 11.4%).</a:t>
            </a:r>
          </a:p>
          <a:p>
            <a:pPr>
              <a:spcAft>
                <a:spcPts val="800"/>
              </a:spcAft>
            </a:pPr>
            <a:r>
              <a:rPr sz="1800"/>
              <a:t>Our logistic regression (84.9%) and decision tree (85.0%) predict income almost as well as the best published model (85.9%), while working hours cannot be predicted well (R² = 0.078).</a:t>
            </a:r>
          </a:p>
          <a:p>
            <a:pPr>
              <a:spcAft>
                <a:spcPts val="800"/>
              </a:spcAft>
            </a:pPr>
            <a:r>
              <a:rPr sz="1800"/>
              <a:t>k-means, without using income, found 5 groups whose share of high earners ranges from 6% to 64%.</a:t>
            </a:r>
          </a:p>
          <a:p>
            <a:r>
              <a:rPr lang="en-US">
                <a:ea typeface="+mn-lt"/>
                <a:cs typeface="+mn-lt"/>
              </a:rPr>
              <a:t>Original train/test split kept, settings chosen on train only: the test results are honest.</a:t>
            </a:r>
          </a:p>
          <a:p>
            <a:r>
              <a:rPr lang="en-US">
                <a:ea typeface="+mn-lt"/>
                <a:cs typeface="+mn-lt"/>
              </a:rPr>
              <a:t>About 40% of high earners are still missed: a limit of the census data.</a:t>
            </a:r>
            <a:endParaRPr lang="pl-PL">
              <a:ea typeface="+mn-lt"/>
              <a:cs typeface="+mn-lt"/>
            </a:endParaRPr>
          </a:p>
          <a:p>
            <a:pPr>
              <a:spcAft>
                <a:spcPts val="800"/>
              </a:spcAft>
            </a:pPr>
            <a:endParaRPr lang="pl-PL"/>
          </a:p>
        </p:txBody>
      </p:sp>
    </p:spTree>
  </p:cSld>
  <p:clrMapOvr>
    <a:masterClrMapping/>
  </p:clrMapOvr>
</p:sld>
</file>

<file path=ppt/theme/theme1.xml><?xml version="1.0" encoding="utf-8"?>
<a:theme xmlns:a="http://schemas.openxmlformats.org/drawingml/2006/main" name="Archway">
  <a:themeElements>
    <a:clrScheme name="Archway">
      <a:dk1>
        <a:sysClr val="windowText" lastClr="000000"/>
      </a:dk1>
      <a:lt1>
        <a:sysClr val="window" lastClr="FFFFFF"/>
      </a:lt1>
      <a:dk2>
        <a:srgbClr val="424C4E"/>
      </a:dk2>
      <a:lt2>
        <a:srgbClr val="EDE9E7"/>
      </a:lt2>
      <a:accent1>
        <a:srgbClr val="9FA597"/>
      </a:accent1>
      <a:accent2>
        <a:srgbClr val="AEA67E"/>
      </a:accent2>
      <a:accent3>
        <a:srgbClr val="957D71"/>
      </a:accent3>
      <a:accent4>
        <a:srgbClr val="C88769"/>
      </a:accent4>
      <a:accent5>
        <a:srgbClr val="97A4AA"/>
      </a:accent5>
      <a:accent6>
        <a:srgbClr val="9FA4A5"/>
      </a:accent6>
      <a:hlink>
        <a:srgbClr val="8C9484"/>
      </a:hlink>
      <a:folHlink>
        <a:srgbClr val="C17957"/>
      </a:folHlink>
    </a:clrScheme>
    <a:fontScheme name="Archway">
      <a:majorFont>
        <a:latin typeface="Felix Titling"/>
        <a:ea typeface=""/>
        <a:cs typeface=""/>
      </a:majorFont>
      <a:minorFont>
        <a:latin typeface="Goudy Old Styl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rchway" id="{CCBE687C-D9F1-4254-B066-5079611C2397}" vid="{9D57D580-D4A7-454F-BF49-8DDDB4A8185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Archway</Template>
  <Application>Microsoft Office PowerPoint</Application>
  <PresentationFormat>Panoramiczny</PresentationFormat>
  <Slides>15</Slides>
  <Notes>5</Notes>
  <HiddenSlides>0</HiddenSlides>
  <ScaleCrop>false</ScaleCrop>
  <HeadingPairs>
    <vt:vector size="4" baseType="variant">
      <vt:variant>
        <vt:lpstr>Motyw</vt:lpstr>
      </vt:variant>
      <vt:variant>
        <vt:i4>1</vt:i4>
      </vt:variant>
      <vt:variant>
        <vt:lpstr>Tytuły slajdów</vt:lpstr>
      </vt:variant>
      <vt:variant>
        <vt:i4>15</vt:i4>
      </vt:variant>
    </vt:vector>
  </HeadingPairs>
  <TitlesOfParts>
    <vt:vector size="16" baseType="lpstr">
      <vt:lpstr>Archway</vt:lpstr>
      <vt:lpstr>Statistical analysis and classification of the adult income dataset</vt:lpstr>
      <vt:lpstr>Adult income: 1994 US census data</vt:lpstr>
      <vt:lpstr>Data preprocessing</vt:lpstr>
      <vt:lpstr>Outliers</vt:lpstr>
      <vt:lpstr>Outliers</vt:lpstr>
      <vt:lpstr>What is related to income</vt:lpstr>
      <vt:lpstr>Hypothesis tests</vt:lpstr>
      <vt:lpstr>Multiple linear regression</vt:lpstr>
      <vt:lpstr>Binary logistic regression</vt:lpstr>
      <vt:lpstr>Decision tree classification</vt:lpstr>
      <vt:lpstr>Decision tree classification</vt:lpstr>
      <vt:lpstr>Model comparison</vt:lpstr>
      <vt:lpstr>Clustering  (k-means)</vt:lpstr>
      <vt:lpstr>Clustering (k-means)</vt:lpstr>
      <vt:lpstr>Conclusions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Gabija Benetaitė</dc:creator>
  <cp:revision>26</cp:revision>
  <dcterms:created xsi:type="dcterms:W3CDTF">2026-10-07T11:33:25Z</dcterms:created>
  <dcterms:modified xsi:type="dcterms:W3CDTF">2026-10-08T23:20:25Z</dcterms:modified>
</cp:coreProperties>
</file>